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26450e6ceb490a" /><Relationship Type="http://schemas.openxmlformats.org/officeDocument/2006/relationships/extended-properties" Target="/docProps/app.xml" Id="Rc03a6b27a7e04094" /><Relationship Type="http://schemas.openxmlformats.org/officeDocument/2006/relationships/officeDocument" Target="/ppt/presentation.xml" Id="Rd8e31e5c9f0c4e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4c1ab183d240ce"/>
  </p:sldMasterIdLst>
  <p:notesMasterIdLst>
    <p:notesMasterId xmlns:r="http://schemas.openxmlformats.org/officeDocument/2006/relationships" r:id="R038dfe456497472f"/>
  </p:notesMasterIdLst>
  <p:sldIdLst>
    <p:sldId xmlns:r="http://schemas.openxmlformats.org/officeDocument/2006/relationships" id="256" r:id="R4bbdd14f830f493a"/>
    <p:sldId xmlns:r="http://schemas.openxmlformats.org/officeDocument/2006/relationships" id="257" r:id="R825765a4e7fa47a8"/>
    <p:sldId xmlns:r="http://schemas.openxmlformats.org/officeDocument/2006/relationships" id="258" r:id="R227580fd29924333"/>
    <p:sldId xmlns:r="http://schemas.openxmlformats.org/officeDocument/2006/relationships" id="259" r:id="R897a49876c954257"/>
    <p:sldId xmlns:r="http://schemas.openxmlformats.org/officeDocument/2006/relationships" id="260" r:id="R5546e836e00f48fa"/>
    <p:sldId xmlns:r="http://schemas.openxmlformats.org/officeDocument/2006/relationships" id="261" r:id="Rfbd192d6b13945b1"/>
    <p:sldId xmlns:r="http://schemas.openxmlformats.org/officeDocument/2006/relationships" id="262" r:id="Rfa3e57fa88cf40e1"/>
    <p:sldId xmlns:r="http://schemas.openxmlformats.org/officeDocument/2006/relationships" id="263" r:id="R33993ce2502f4823"/>
    <p:sldId xmlns:r="http://schemas.openxmlformats.org/officeDocument/2006/relationships" id="264" r:id="Rb6cba3cb6357462c"/>
    <p:sldId xmlns:r="http://schemas.openxmlformats.org/officeDocument/2006/relationships" id="265" r:id="Rf241d9436c7948c7"/>
    <p:sldId xmlns:r="http://schemas.openxmlformats.org/officeDocument/2006/relationships" id="266" r:id="R1c1c2dd748d34f75"/>
    <p:sldId xmlns:r="http://schemas.openxmlformats.org/officeDocument/2006/relationships" id="267" r:id="R338c81621d684558"/>
    <p:sldId xmlns:r="http://schemas.openxmlformats.org/officeDocument/2006/relationships" id="268" r:id="R1e8d20412abf49a3"/>
    <p:sldId xmlns:r="http://schemas.openxmlformats.org/officeDocument/2006/relationships" id="269" r:id="R0345776023f043c2"/>
    <p:sldId xmlns:r="http://schemas.openxmlformats.org/officeDocument/2006/relationships" id="270" r:id="R26e3d3ad41614843"/>
    <p:sldId xmlns:r="http://schemas.openxmlformats.org/officeDocument/2006/relationships" id="271" r:id="R55171d60a23e4ccc"/>
    <p:sldId xmlns:r="http://schemas.openxmlformats.org/officeDocument/2006/relationships" id="272" r:id="R2d444e00f2fa4895"/>
    <p:sldId xmlns:r="http://schemas.openxmlformats.org/officeDocument/2006/relationships" id="273" r:id="Rad7ee4e266844a91"/>
    <p:sldId xmlns:r="http://schemas.openxmlformats.org/officeDocument/2006/relationships" id="274" r:id="Re70e73ecda564cd0"/>
    <p:sldId xmlns:r="http://schemas.openxmlformats.org/officeDocument/2006/relationships" id="275" r:id="R21d283413a0b4790"/>
    <p:sldId xmlns:r="http://schemas.openxmlformats.org/officeDocument/2006/relationships" id="276" r:id="Re20a2e7ecefb4fa4"/>
    <p:sldId xmlns:r="http://schemas.openxmlformats.org/officeDocument/2006/relationships" id="277" r:id="Rb74e05094dab472a"/>
    <p:sldId xmlns:r="http://schemas.openxmlformats.org/officeDocument/2006/relationships" id="278" r:id="Rb610bdca12dc431e"/>
    <p:sldId xmlns:r="http://schemas.openxmlformats.org/officeDocument/2006/relationships" id="279" r:id="R8276316942c34e20"/>
    <p:sldId xmlns:r="http://schemas.openxmlformats.org/officeDocument/2006/relationships" id="280" r:id="R05d75c8dd085420a"/>
    <p:sldId xmlns:r="http://schemas.openxmlformats.org/officeDocument/2006/relationships" id="281" r:id="Rc1868c3d57ed414a"/>
    <p:sldId xmlns:r="http://schemas.openxmlformats.org/officeDocument/2006/relationships" id="282" r:id="R67e804710b2949d1"/>
    <p:sldId xmlns:r="http://schemas.openxmlformats.org/officeDocument/2006/relationships" id="283" r:id="Re1d3739bc0a346fa"/>
    <p:sldId xmlns:r="http://schemas.openxmlformats.org/officeDocument/2006/relationships" id="284" r:id="R6fe13414549042f5"/>
    <p:sldId xmlns:r="http://schemas.openxmlformats.org/officeDocument/2006/relationships" id="285" r:id="Ree77c4b72cef4cf2"/>
    <p:sldId xmlns:r="http://schemas.openxmlformats.org/officeDocument/2006/relationships" id="286" r:id="R313f472a173f4b16"/>
    <p:sldId xmlns:r="http://schemas.openxmlformats.org/officeDocument/2006/relationships" id="287" r:id="R77f4c7ff605b49e7"/>
    <p:sldId xmlns:r="http://schemas.openxmlformats.org/officeDocument/2006/relationships" id="288" r:id="R7c1e4edaadf74f5b"/>
    <p:sldId xmlns:r="http://schemas.openxmlformats.org/officeDocument/2006/relationships" id="289" r:id="R6b798f67dc1646f4"/>
    <p:sldId xmlns:r="http://schemas.openxmlformats.org/officeDocument/2006/relationships" id="290" r:id="Ra959640ff72e421e"/>
    <p:sldId xmlns:r="http://schemas.openxmlformats.org/officeDocument/2006/relationships" id="291" r:id="R07df2366bdf74edf"/>
    <p:sldId xmlns:r="http://schemas.openxmlformats.org/officeDocument/2006/relationships" id="292" r:id="Rf929947e7fad40a1"/>
    <p:sldId xmlns:r="http://schemas.openxmlformats.org/officeDocument/2006/relationships" id="293" r:id="R7c40b43816914f9d"/>
    <p:sldId xmlns:r="http://schemas.openxmlformats.org/officeDocument/2006/relationships" id="294" r:id="R0b817e3b3c974275"/>
    <p:sldId xmlns:r="http://schemas.openxmlformats.org/officeDocument/2006/relationships" id="295" r:id="R793e911a0fad4f6a"/>
    <p:sldId xmlns:r="http://schemas.openxmlformats.org/officeDocument/2006/relationships" id="296" r:id="Ra2e1c85101174ce7"/>
    <p:sldId xmlns:r="http://schemas.openxmlformats.org/officeDocument/2006/relationships" id="297" r:id="R0d63690640cb452b"/>
    <p:sldId xmlns:r="http://schemas.openxmlformats.org/officeDocument/2006/relationships" id="298" r:id="R9ae13541a03c4503"/>
    <p:sldId xmlns:r="http://schemas.openxmlformats.org/officeDocument/2006/relationships" id="299" r:id="R6b5341cae3e64872"/>
    <p:sldId xmlns:r="http://schemas.openxmlformats.org/officeDocument/2006/relationships" id="300" r:id="R0e4221d7c73345fb"/>
    <p:sldId xmlns:r="http://schemas.openxmlformats.org/officeDocument/2006/relationships" id="301" r:id="Re9a4725ff5d543c0"/>
    <p:sldId xmlns:r="http://schemas.openxmlformats.org/officeDocument/2006/relationships" id="302" r:id="R5572f835d176424d"/>
    <p:sldId xmlns:r="http://schemas.openxmlformats.org/officeDocument/2006/relationships" id="303" r:id="Rf33a7ae1d11f4a83"/>
    <p:sldId xmlns:r="http://schemas.openxmlformats.org/officeDocument/2006/relationships" id="304" r:id="R3e282394aab143b3"/>
    <p:sldId xmlns:r="http://schemas.openxmlformats.org/officeDocument/2006/relationships" id="305" r:id="Rdc8755acafa9439c"/>
    <p:sldId xmlns:r="http://schemas.openxmlformats.org/officeDocument/2006/relationships" id="306" r:id="Rec2bf19146584a7c"/>
    <p:sldId xmlns:r="http://schemas.openxmlformats.org/officeDocument/2006/relationships" id="307" r:id="R39874f0ce9184fcf"/>
    <p:sldId xmlns:r="http://schemas.openxmlformats.org/officeDocument/2006/relationships" id="308" r:id="Rd192a4b5d7d0482d"/>
    <p:sldId xmlns:r="http://schemas.openxmlformats.org/officeDocument/2006/relationships" id="309" r:id="R2875a85647d14f33"/>
    <p:sldId xmlns:r="http://schemas.openxmlformats.org/officeDocument/2006/relationships" id="310" r:id="R7e31024960b84fa2"/>
    <p:sldId xmlns:r="http://schemas.openxmlformats.org/officeDocument/2006/relationships" id="311" r:id="R6e7d6655ebfb450b"/>
    <p:sldId xmlns:r="http://schemas.openxmlformats.org/officeDocument/2006/relationships" id="312" r:id="R9c56505df1954d2b"/>
    <p:sldId xmlns:r="http://schemas.openxmlformats.org/officeDocument/2006/relationships" id="313" r:id="R71c31c026fde4e98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3860ea01b04b74" /><Relationship Type="http://schemas.openxmlformats.org/officeDocument/2006/relationships/slideMaster" Target="/ppt/slideMasters/slideMaster1.xml" Id="R8e4c1ab183d240ce" /><Relationship Type="http://schemas.openxmlformats.org/officeDocument/2006/relationships/notesMaster" Target="/ppt/notesMasters/notesMaster1.xml" Id="R038dfe456497472f" /><Relationship Type="http://schemas.openxmlformats.org/officeDocument/2006/relationships/presProps" Target="/ppt/presProps.xml" Id="Rd19445028c974c9f" /><Relationship Type="http://schemas.openxmlformats.org/officeDocument/2006/relationships/tableStyles" Target="/ppt/tableStyles.xml" Id="Rd631574a88de4d88" /><Relationship Type="http://schemas.openxmlformats.org/officeDocument/2006/relationships/slide" Target="/ppt/slides/slide1.xml" Id="R4bbdd14f830f493a" /><Relationship Type="http://schemas.openxmlformats.org/officeDocument/2006/relationships/slide" Target="/ppt/slides/slide2.xml" Id="R825765a4e7fa47a8" /><Relationship Type="http://schemas.openxmlformats.org/officeDocument/2006/relationships/slide" Target="/ppt/slides/slide3.xml" Id="R227580fd29924333" /><Relationship Type="http://schemas.openxmlformats.org/officeDocument/2006/relationships/slide" Target="/ppt/slides/slide4.xml" Id="R897a49876c954257" /><Relationship Type="http://schemas.openxmlformats.org/officeDocument/2006/relationships/slide" Target="/ppt/slides/slide5.xml" Id="R5546e836e00f48fa" /><Relationship Type="http://schemas.openxmlformats.org/officeDocument/2006/relationships/slide" Target="/ppt/slides/slide6.xml" Id="Rfbd192d6b13945b1" /><Relationship Type="http://schemas.openxmlformats.org/officeDocument/2006/relationships/slide" Target="/ppt/slides/slide7.xml" Id="Rfa3e57fa88cf40e1" /><Relationship Type="http://schemas.openxmlformats.org/officeDocument/2006/relationships/slide" Target="/ppt/slides/slide8.xml" Id="R33993ce2502f4823" /><Relationship Type="http://schemas.openxmlformats.org/officeDocument/2006/relationships/slide" Target="/ppt/slides/slide9.xml" Id="Rb6cba3cb6357462c" /><Relationship Type="http://schemas.openxmlformats.org/officeDocument/2006/relationships/slide" Target="/ppt/slides/slide10.xml" Id="Rf241d9436c7948c7" /><Relationship Type="http://schemas.openxmlformats.org/officeDocument/2006/relationships/slide" Target="/ppt/slides/slide11.xml" Id="R1c1c2dd748d34f75" /><Relationship Type="http://schemas.openxmlformats.org/officeDocument/2006/relationships/slide" Target="/ppt/slides/slide12.xml" Id="R338c81621d684558" /><Relationship Type="http://schemas.openxmlformats.org/officeDocument/2006/relationships/slide" Target="/ppt/slides/slide13.xml" Id="R1e8d20412abf49a3" /><Relationship Type="http://schemas.openxmlformats.org/officeDocument/2006/relationships/slide" Target="/ppt/slides/slide14.xml" Id="R0345776023f043c2" /><Relationship Type="http://schemas.openxmlformats.org/officeDocument/2006/relationships/slide" Target="/ppt/slides/slide15.xml" Id="R26e3d3ad41614843" /><Relationship Type="http://schemas.openxmlformats.org/officeDocument/2006/relationships/slide" Target="/ppt/slides/slide16.xml" Id="R55171d60a23e4ccc" /><Relationship Type="http://schemas.openxmlformats.org/officeDocument/2006/relationships/slide" Target="/ppt/slides/slide17.xml" Id="R2d444e00f2fa4895" /><Relationship Type="http://schemas.openxmlformats.org/officeDocument/2006/relationships/slide" Target="/ppt/slides/slide18.xml" Id="Rad7ee4e266844a91" /><Relationship Type="http://schemas.openxmlformats.org/officeDocument/2006/relationships/slide" Target="/ppt/slides/slide19.xml" Id="Re70e73ecda564cd0" /><Relationship Type="http://schemas.openxmlformats.org/officeDocument/2006/relationships/slide" Target="/ppt/slides/slide20.xml" Id="R21d283413a0b4790" /><Relationship Type="http://schemas.openxmlformats.org/officeDocument/2006/relationships/slide" Target="/ppt/slides/slide21.xml" Id="Re20a2e7ecefb4fa4" /><Relationship Type="http://schemas.openxmlformats.org/officeDocument/2006/relationships/slide" Target="/ppt/slides/slide22.xml" Id="Rb74e05094dab472a" /><Relationship Type="http://schemas.openxmlformats.org/officeDocument/2006/relationships/slide" Target="/ppt/slides/slide23.xml" Id="Rb610bdca12dc431e" /><Relationship Type="http://schemas.openxmlformats.org/officeDocument/2006/relationships/slide" Target="/ppt/slides/slide24.xml" Id="R8276316942c34e20" /><Relationship Type="http://schemas.openxmlformats.org/officeDocument/2006/relationships/slide" Target="/ppt/slides/slide25.xml" Id="R05d75c8dd085420a" /><Relationship Type="http://schemas.openxmlformats.org/officeDocument/2006/relationships/slide" Target="/ppt/slides/slide26.xml" Id="Rc1868c3d57ed414a" /><Relationship Type="http://schemas.openxmlformats.org/officeDocument/2006/relationships/slide" Target="/ppt/slides/slide27.xml" Id="R67e804710b2949d1" /><Relationship Type="http://schemas.openxmlformats.org/officeDocument/2006/relationships/slide" Target="/ppt/slides/slide28.xml" Id="Re1d3739bc0a346fa" /><Relationship Type="http://schemas.openxmlformats.org/officeDocument/2006/relationships/slide" Target="/ppt/slides/slide29.xml" Id="R6fe13414549042f5" /><Relationship Type="http://schemas.openxmlformats.org/officeDocument/2006/relationships/slide" Target="/ppt/slides/slide30.xml" Id="Ree77c4b72cef4cf2" /><Relationship Type="http://schemas.openxmlformats.org/officeDocument/2006/relationships/slide" Target="/ppt/slides/slide31.xml" Id="R313f472a173f4b16" /><Relationship Type="http://schemas.openxmlformats.org/officeDocument/2006/relationships/slide" Target="/ppt/slides/slide32.xml" Id="R77f4c7ff605b49e7" /><Relationship Type="http://schemas.openxmlformats.org/officeDocument/2006/relationships/slide" Target="/ppt/slides/slide33.xml" Id="R7c1e4edaadf74f5b" /><Relationship Type="http://schemas.openxmlformats.org/officeDocument/2006/relationships/slide" Target="/ppt/slides/slide34.xml" Id="R6b798f67dc1646f4" /><Relationship Type="http://schemas.openxmlformats.org/officeDocument/2006/relationships/slide" Target="/ppt/slides/slide35.xml" Id="Ra959640ff72e421e" /><Relationship Type="http://schemas.openxmlformats.org/officeDocument/2006/relationships/slide" Target="/ppt/slides/slide36.xml" Id="R07df2366bdf74edf" /><Relationship Type="http://schemas.openxmlformats.org/officeDocument/2006/relationships/slide" Target="/ppt/slides/slide37.xml" Id="Rf929947e7fad40a1" /><Relationship Type="http://schemas.openxmlformats.org/officeDocument/2006/relationships/slide" Target="/ppt/slides/slide38.xml" Id="R7c40b43816914f9d" /><Relationship Type="http://schemas.openxmlformats.org/officeDocument/2006/relationships/slide" Target="/ppt/slides/slide39.xml" Id="R0b817e3b3c974275" /><Relationship Type="http://schemas.openxmlformats.org/officeDocument/2006/relationships/slide" Target="/ppt/slides/slide40.xml" Id="R793e911a0fad4f6a" /><Relationship Type="http://schemas.openxmlformats.org/officeDocument/2006/relationships/slide" Target="/ppt/slides/slide41.xml" Id="Ra2e1c85101174ce7" /><Relationship Type="http://schemas.openxmlformats.org/officeDocument/2006/relationships/slide" Target="/ppt/slides/slide42.xml" Id="R0d63690640cb452b" /><Relationship Type="http://schemas.openxmlformats.org/officeDocument/2006/relationships/slide" Target="/ppt/slides/slide43.xml" Id="R9ae13541a03c4503" /><Relationship Type="http://schemas.openxmlformats.org/officeDocument/2006/relationships/slide" Target="/ppt/slides/slide44.xml" Id="R6b5341cae3e64872" /><Relationship Type="http://schemas.openxmlformats.org/officeDocument/2006/relationships/slide" Target="/ppt/slides/slide45.xml" Id="R0e4221d7c73345fb" /><Relationship Type="http://schemas.openxmlformats.org/officeDocument/2006/relationships/slide" Target="/ppt/slides/slide46.xml" Id="Re9a4725ff5d543c0" /><Relationship Type="http://schemas.openxmlformats.org/officeDocument/2006/relationships/slide" Target="/ppt/slides/slide47.xml" Id="R5572f835d176424d" /><Relationship Type="http://schemas.openxmlformats.org/officeDocument/2006/relationships/slide" Target="/ppt/slides/slide48.xml" Id="Rf33a7ae1d11f4a83" /><Relationship Type="http://schemas.openxmlformats.org/officeDocument/2006/relationships/slide" Target="/ppt/slides/slide49.xml" Id="R3e282394aab143b3" /><Relationship Type="http://schemas.openxmlformats.org/officeDocument/2006/relationships/slide" Target="/ppt/slides/slide50.xml" Id="Rdc8755acafa9439c" /><Relationship Type="http://schemas.openxmlformats.org/officeDocument/2006/relationships/slide" Target="/ppt/slides/slide51.xml" Id="Rec2bf19146584a7c" /><Relationship Type="http://schemas.openxmlformats.org/officeDocument/2006/relationships/slide" Target="/ppt/slides/slide52.xml" Id="R39874f0ce9184fcf" /><Relationship Type="http://schemas.openxmlformats.org/officeDocument/2006/relationships/slide" Target="/ppt/slides/slide53.xml" Id="Rd192a4b5d7d0482d" /><Relationship Type="http://schemas.openxmlformats.org/officeDocument/2006/relationships/slide" Target="/ppt/slides/slide54.xml" Id="R2875a85647d14f33" /><Relationship Type="http://schemas.openxmlformats.org/officeDocument/2006/relationships/slide" Target="/ppt/slides/slide55.xml" Id="R7e31024960b84fa2" /><Relationship Type="http://schemas.openxmlformats.org/officeDocument/2006/relationships/slide" Target="/ppt/slides/slide56.xml" Id="R6e7d6655ebfb450b" /><Relationship Type="http://schemas.openxmlformats.org/officeDocument/2006/relationships/slide" Target="/ppt/slides/slide57.xml" Id="R9c56505df1954d2b" /><Relationship Type="http://schemas.openxmlformats.org/officeDocument/2006/relationships/slide" Target="/ppt/slides/slide58.xml" Id="R71c31c026fde4e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7efb3c898e43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c2d6ca93e446b8" /><Relationship Type="http://schemas.openxmlformats.org/officeDocument/2006/relationships/notesMaster" Target="/ppt/notesMasters/notesMaster1.xml" Id="R24a07111316548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a1fb8201a14586" /><Relationship Type="http://schemas.openxmlformats.org/officeDocument/2006/relationships/notesMaster" Target="/ppt/notesMasters/notesMaster1.xml" Id="Rc9538fcdac3940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7ca3b93d0c4a43" /><Relationship Type="http://schemas.openxmlformats.org/officeDocument/2006/relationships/notesMaster" Target="/ppt/notesMasters/notesMaster1.xml" Id="R51c41342fc0140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a7e3af2f514ce4" /><Relationship Type="http://schemas.openxmlformats.org/officeDocument/2006/relationships/notesMaster" Target="/ppt/notesMasters/notesMaster1.xml" Id="R63f1cd580e6b4c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2e9a861d1a48fb" /><Relationship Type="http://schemas.openxmlformats.org/officeDocument/2006/relationships/notesMaster" Target="/ppt/notesMasters/notesMaster1.xml" Id="R8d9af199042e4e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aaea5236c64038" /><Relationship Type="http://schemas.openxmlformats.org/officeDocument/2006/relationships/notesMaster" Target="/ppt/notesMasters/notesMaster1.xml" Id="R827645e521a046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5dd77a7cfd4ef5" /><Relationship Type="http://schemas.openxmlformats.org/officeDocument/2006/relationships/notesMaster" Target="/ppt/notesMasters/notesMaster1.xml" Id="Re0913bde75484d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d78da401a7457f" /><Relationship Type="http://schemas.openxmlformats.org/officeDocument/2006/relationships/notesMaster" Target="/ppt/notesMasters/notesMaster1.xml" Id="Rd965d13d322749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e8e015928c44c6" /><Relationship Type="http://schemas.openxmlformats.org/officeDocument/2006/relationships/notesMaster" Target="/ppt/notesMasters/notesMaster1.xml" Id="Rd09b18f8bca244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c7aba8690346c4" /><Relationship Type="http://schemas.openxmlformats.org/officeDocument/2006/relationships/notesMaster" Target="/ppt/notesMasters/notesMaster1.xml" Id="R11c081a32e5442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10d6ce0946434d" /><Relationship Type="http://schemas.openxmlformats.org/officeDocument/2006/relationships/notesMaster" Target="/ppt/notesMasters/notesMaster1.xml" Id="R6668fd2523aa44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f7271f17a64105" /><Relationship Type="http://schemas.openxmlformats.org/officeDocument/2006/relationships/notesMaster" Target="/ppt/notesMasters/notesMaster1.xml" Id="R9b5cb80a60934b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263b8bba09d4270" /><Relationship Type="http://schemas.openxmlformats.org/officeDocument/2006/relationships/notesMaster" Target="/ppt/notesMasters/notesMaster1.xml" Id="Rcdb6106d93bc48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30de6881b046f1" /><Relationship Type="http://schemas.openxmlformats.org/officeDocument/2006/relationships/notesMaster" Target="/ppt/notesMasters/notesMaster1.xml" Id="Rfa5bed23d72844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5f69fb916384908" /><Relationship Type="http://schemas.openxmlformats.org/officeDocument/2006/relationships/notesMaster" Target="/ppt/notesMasters/notesMaster1.xml" Id="Ra2de9f0f911649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f39ce3d45eb4fdd" /><Relationship Type="http://schemas.openxmlformats.org/officeDocument/2006/relationships/notesMaster" Target="/ppt/notesMasters/notesMaster1.xml" Id="Rc558b0ecd6964d3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73731714afa4c7c" /><Relationship Type="http://schemas.openxmlformats.org/officeDocument/2006/relationships/notesMaster" Target="/ppt/notesMasters/notesMaster1.xml" Id="R90b7e6c3c51b4aa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52a1c2120c54615" /><Relationship Type="http://schemas.openxmlformats.org/officeDocument/2006/relationships/notesMaster" Target="/ppt/notesMasters/notesMaster1.xml" Id="R9b36e4c318034d0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eeeaac47c5847a1" /><Relationship Type="http://schemas.openxmlformats.org/officeDocument/2006/relationships/notesMaster" Target="/ppt/notesMasters/notesMaster1.xml" Id="R73cdeb5495e747e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540b5b8fc464c61" /><Relationship Type="http://schemas.openxmlformats.org/officeDocument/2006/relationships/notesMaster" Target="/ppt/notesMasters/notesMaster1.xml" Id="Rf214c8a4a4f9477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72b0ed4d85a48c4" /><Relationship Type="http://schemas.openxmlformats.org/officeDocument/2006/relationships/notesMaster" Target="/ppt/notesMasters/notesMaster1.xml" Id="R43be5de577bb469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571172e60d247a8" /><Relationship Type="http://schemas.openxmlformats.org/officeDocument/2006/relationships/notesMaster" Target="/ppt/notesMasters/notesMaster1.xml" Id="R99f2d2d951dc44a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11a5daf3bc946ea" /><Relationship Type="http://schemas.openxmlformats.org/officeDocument/2006/relationships/notesMaster" Target="/ppt/notesMasters/notesMaster1.xml" Id="R0aa98b3bb77e402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6ea01fa19664c81" /><Relationship Type="http://schemas.openxmlformats.org/officeDocument/2006/relationships/notesMaster" Target="/ppt/notesMasters/notesMaster1.xml" Id="R3ab4c9fc8cf0436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91f7c6735d14cb9" /><Relationship Type="http://schemas.openxmlformats.org/officeDocument/2006/relationships/notesMaster" Target="/ppt/notesMasters/notesMaster1.xml" Id="R0df7022c60e541b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844e818c2674dff" /><Relationship Type="http://schemas.openxmlformats.org/officeDocument/2006/relationships/notesMaster" Target="/ppt/notesMasters/notesMaster1.xml" Id="R31f53193fd01438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6c69d895daa43e8" /><Relationship Type="http://schemas.openxmlformats.org/officeDocument/2006/relationships/notesMaster" Target="/ppt/notesMasters/notesMaster1.xml" Id="R4323fdb6bc5a4ec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c8ee4be36ea41b6" /><Relationship Type="http://schemas.openxmlformats.org/officeDocument/2006/relationships/notesMaster" Target="/ppt/notesMasters/notesMaster1.xml" Id="Re7495dc2f3b348e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c6c8dcb0a524e84" /><Relationship Type="http://schemas.openxmlformats.org/officeDocument/2006/relationships/notesMaster" Target="/ppt/notesMasters/notesMaster1.xml" Id="R1ceec29def8b425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6cebcc004a04dca" /><Relationship Type="http://schemas.openxmlformats.org/officeDocument/2006/relationships/notesMaster" Target="/ppt/notesMasters/notesMaster1.xml" Id="R1b136207c387463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53598c098584555" /><Relationship Type="http://schemas.openxmlformats.org/officeDocument/2006/relationships/notesMaster" Target="/ppt/notesMasters/notesMaster1.xml" Id="R39736b3010b0439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7d193a1ca644867" /><Relationship Type="http://schemas.openxmlformats.org/officeDocument/2006/relationships/notesMaster" Target="/ppt/notesMasters/notesMaster1.xml" Id="R6e66781cb3b54db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54ddc325d4242c8" /><Relationship Type="http://schemas.openxmlformats.org/officeDocument/2006/relationships/notesMaster" Target="/ppt/notesMasters/notesMaster1.xml" Id="R3433a4a2f475495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6c7408dae004f98" /><Relationship Type="http://schemas.openxmlformats.org/officeDocument/2006/relationships/notesMaster" Target="/ppt/notesMasters/notesMaster1.xml" Id="R99bebf2d5c88407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db2cc7701344523" /><Relationship Type="http://schemas.openxmlformats.org/officeDocument/2006/relationships/notesMaster" Target="/ppt/notesMasters/notesMaster1.xml" Id="R2ad5449a860c459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291e5d052ba4f0d" /><Relationship Type="http://schemas.openxmlformats.org/officeDocument/2006/relationships/notesMaster" Target="/ppt/notesMasters/notesMaster1.xml" Id="R73b12e1b2947471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b80b759fa13468e" /><Relationship Type="http://schemas.openxmlformats.org/officeDocument/2006/relationships/notesMaster" Target="/ppt/notesMasters/notesMaster1.xml" Id="R9a3dcc6b34f241a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93df674e66541d7" /><Relationship Type="http://schemas.openxmlformats.org/officeDocument/2006/relationships/notesMaster" Target="/ppt/notesMasters/notesMaster1.xml" Id="Rdde44ca1680140e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a975f4b61fd4e68" /><Relationship Type="http://schemas.openxmlformats.org/officeDocument/2006/relationships/notesMaster" Target="/ppt/notesMasters/notesMaster1.xml" Id="R6cb35477ee024ea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2465dfeed444db7" /><Relationship Type="http://schemas.openxmlformats.org/officeDocument/2006/relationships/notesMaster" Target="/ppt/notesMasters/notesMaster1.xml" Id="R5d94bfb8f1f8444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8b10494b6a84986" /><Relationship Type="http://schemas.openxmlformats.org/officeDocument/2006/relationships/notesMaster" Target="/ppt/notesMasters/notesMaster1.xml" Id="Rddf76e2b020e4e9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a5e8241a79e42c1" /><Relationship Type="http://schemas.openxmlformats.org/officeDocument/2006/relationships/notesMaster" Target="/ppt/notesMasters/notesMaster1.xml" Id="R58a5af6228924e4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bd7179ba3484b38" /><Relationship Type="http://schemas.openxmlformats.org/officeDocument/2006/relationships/notesMaster" Target="/ppt/notesMasters/notesMaster1.xml" Id="Rd589ef7a744a4b9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5cba421d72e4dc4" /><Relationship Type="http://schemas.openxmlformats.org/officeDocument/2006/relationships/notesMaster" Target="/ppt/notesMasters/notesMaster1.xml" Id="R2e606603afa1441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059379e74784fac" /><Relationship Type="http://schemas.openxmlformats.org/officeDocument/2006/relationships/notesMaster" Target="/ppt/notesMasters/notesMaster1.xml" Id="R1c47f2edc76b408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e5c07c239434eec" /><Relationship Type="http://schemas.openxmlformats.org/officeDocument/2006/relationships/notesMaster" Target="/ppt/notesMasters/notesMaster1.xml" Id="R8ef9a938ca654eb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060af25be1447d7" /><Relationship Type="http://schemas.openxmlformats.org/officeDocument/2006/relationships/notesMaster" Target="/ppt/notesMasters/notesMaster1.xml" Id="R238f42d6e92949d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983c0191c194154" /><Relationship Type="http://schemas.openxmlformats.org/officeDocument/2006/relationships/notesMaster" Target="/ppt/notesMasters/notesMaster1.xml" Id="R43a42720a3e6423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d5822d3835e4e3e" /><Relationship Type="http://schemas.openxmlformats.org/officeDocument/2006/relationships/notesMaster" Target="/ppt/notesMasters/notesMaster1.xml" Id="R15b188ec159947e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4d6927d18b074f55" /><Relationship Type="http://schemas.openxmlformats.org/officeDocument/2006/relationships/notesMaster" Target="/ppt/notesMasters/notesMaster1.xml" Id="Rdfcdf4c009f5440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afd90fb8a2e4915" /><Relationship Type="http://schemas.openxmlformats.org/officeDocument/2006/relationships/notesMaster" Target="/ppt/notesMasters/notesMaster1.xml" Id="R7d03c06a3141496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59dc6f73443b498c" /><Relationship Type="http://schemas.openxmlformats.org/officeDocument/2006/relationships/notesMaster" Target="/ppt/notesMasters/notesMaster1.xml" Id="R534eafd8c9934d7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ce51a18e7714319" /><Relationship Type="http://schemas.openxmlformats.org/officeDocument/2006/relationships/notesMaster" Target="/ppt/notesMasters/notesMaster1.xml" Id="R96029c0d441f4c4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ac82cd13c0c4089" /><Relationship Type="http://schemas.openxmlformats.org/officeDocument/2006/relationships/notesMaster" Target="/ppt/notesMasters/notesMaster1.xml" Id="R1d64a3d3c052467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3f0af447d2af4a63" /><Relationship Type="http://schemas.openxmlformats.org/officeDocument/2006/relationships/notesMaster" Target="/ppt/notesMasters/notesMaster1.xml" Id="R9352798be0674c36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f81d046da95140dd" /><Relationship Type="http://schemas.openxmlformats.org/officeDocument/2006/relationships/notesMaster" Target="/ppt/notesMasters/notesMaster1.xml" Id="R23d9684c30ff4fb1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296fd8ed23bf4822" /><Relationship Type="http://schemas.openxmlformats.org/officeDocument/2006/relationships/notesMaster" Target="/ppt/notesMasters/notesMaster1.xml" Id="R8e2cc9cc57b04402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a5c1cde5318349cc" /><Relationship Type="http://schemas.openxmlformats.org/officeDocument/2006/relationships/notesMaster" Target="/ppt/notesMasters/notesMaster1.xml" Id="R8e8e04f80c474f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[00:00–00:02  ·  2분] </a:t>
            </a:r>
          </a:p>
          <a:p xmlns:a="http://schemas.openxmlformats.org/drawingml/2006/main">
            <a:r>
              <a:t>수업 구분: 남부여성발전센터 · 동기부여 1회기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첫 취업, 이직, 복귀 등 서로 다른 출발점을 존중합니다. 오늘 일자리를 확정해야 한다는 압박을 주지 않습니다. AI 이미지: 연령을 특정하지 않는 공간 중심 삽화.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화면의 핵심 질문을 읽고 개인적으로 생각할 시간을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삶과 일의 방향을 찾는 4시간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[00:02–00:05  ·  3분] 오늘 남길 결과</a:t>
            </a:r>
          </a:p>
          <a:p xmlns:a="http://schemas.openxmlformats.org/drawingml/2006/main">
            <a:r>
              <a:t>수업 구분: 1교시 · 나의 방향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목표를 결과물로 설명합니다. 취업 성공이나 높은 점수를 약속하지 않습니다. 각각을 스스로 고르고 설명할 수 있는 상태를 목표로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오늘 끝날 때 무엇 하나가 분명해지면 도움이 될까요?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>Lent, R. W., &amp; Brown, S. D. (2019). Social cognitive career theory at 25: Empirical status of the interest, choice, and performance models. Journal of Vocational Behavior, 115, 103316. https://doi.org/10.1016/j.jvb.2019.06.004</a:t>
            </a:r>
          </a:p>
          <a:p xmlns:a="http://schemas.openxmlformats.org/drawingml/2006/main">
            <a:r>
              <a:t>Gollwitzer, P. M., &amp; Sheeran, P. (2006). Implementation intentions and goal achievement: A meta-analysis of effects and processes. Advances in Experimental Social Psychology, 38, 69–119. https://doi.org/10.1016/S0065-2601(06)38002-1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[00:05–00:07  ·  2분] 4시간의 흐름과 참여 방법</a:t>
            </a:r>
          </a:p>
          <a:p xmlns:a="http://schemas.openxmlformats.org/drawingml/2006/main">
            <a:r>
              <a:t>수업 구분: 1교시 · 나의 방향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50분 수업을 네 번 진행하고 중간 휴식은 각 10분, 끝에 10분 마무리입니다. 개인 PC에서 선택하고 본인 화면을 확인합니다. 익명 집계를 강사가 해설합니다. 질문과 공개 공유는 자율입니다.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오늘은 혼자 응답하고, 함께 보는 화면은 익명 결과입니다.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[00:07–00:11  ·  4분] 지금 취업 준비에서 막히는 것은?</a:t>
            </a:r>
          </a:p>
          <a:p xmlns:a="http://schemas.openxmlformats.org/drawingml/2006/main">
            <a:r>
              <a:t>수업 구분: 1교시 · 나의 방향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1분 안내, 2분 선택, 1분 강사 정리. 두 개까지 선택 가능하게 하고 해당 없음과 건너뛰기를 둡니다. 선택하지 않은 이유를 공개 질문하지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의지가 없는 것처럼 느껴질 때, 실제로는 무엇이 막혀 있나요?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개인 PC에서 최대 두 개 선택. 나의 이유는 공개되지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화면 설계 예시 · 현재 상태를 살피는 활동이며 심리검사가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[00:11–00:14  ·  3분] 지금 필요한 도움에 따른 네 가지 상황</a:t>
            </a:r>
          </a:p>
          <a:p xmlns:a="http://schemas.openxmlformats.org/drawingml/2006/main">
            <a:r>
              <a:t>수업 구분: 1교시 · 나의 방향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유형명은 사람의 성격이 아니라 현재 필요한 도움에 붙이는 이름입니다. 원래 연구의 진로결정 어려움 분류와 이 네 유형은 동일하지 않습니다. 유형 결과로 직무를 추천하거나 고정하지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지금 나에게 필요한 도움은 무엇에 가장 가깝나요?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Gati, I., Krausz, M., &amp; Osipow, S. H. (1996). A taxonomy of difficulties in career decision making. Journal of Counseling Psychology, 43(4), 510–526. https://doi.org/10.1037/0022-0167.43.4.510</a:t>
            </a:r>
          </a:p>
          <a:p xmlns:a="http://schemas.openxmlformats.org/drawingml/2006/main">
            <a:r>
              <a:t>Lent, R. W., &amp; Brown, S. D. (2019). Social cognitive career theory at 25: Empirical status of the interest, choice, and performance models. Journal of Vocational Behavior, 115, 103316. https://doi.org/10.1016/j.jvb.2019.06.004</a:t>
            </a:r>
          </a:p>
          <a:p xmlns:a="http://schemas.openxmlformats.org/drawingml/2006/main">
            <a:r>
              <a:t>Gati et al. (1996), Lent &amp; Brown (2019) 참고 · 네 명칭은 강의용 재구성으로 검증된 유형이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[00:14–00:20  ·  6분] 출발점은 달라도 비슷한 질문을 합니다</a:t>
            </a:r>
          </a:p>
          <a:p xmlns:a="http://schemas.openxmlformats.org/drawingml/2006/main">
            <a:r>
              <a:t>수업 구분: 1교시 · 나의 방향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사례를 한 개씩 읽고 공통점을 생각하게 합니다. 세 사람을 나이나 결혼 여부로 판단하지 않습니다. 첫 취업자도 훈련과 아르바이트의 경험을 갖고 있습니다. 복귀자도 최근 경험과 현재 조건을 확인해야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이 사람들에게 “더 열심히 하세요”라는 말만 해주면 충분할까요?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각자 원하는 생활, 확인할 경험, 시작할 과제가 다릅니다. 다음 화면에서 삶의 방향이라는 공통 질문으로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모든 인물과 발언은 교육용 가상 사례입니다.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[00:20–00:22  ·  2분] 사례의 핵심은 삶의 방향성입니다</a:t>
            </a:r>
          </a:p>
          <a:p xmlns:a="http://schemas.openxmlformats.org/drawingml/2006/main">
            <a:r>
              <a:t>수업 구분: 1교시 · 나의 방향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삶의 모든 답을 완성해야 취업할 수 있다는 뜻이 아님을 설명합니다. 소득, 시간, 성장, 건강 등 지금 중요하게 여기는 기준으로 가능한 다음 선택을 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일을 통해 내 생활에서 무엇이 달라지기를 바라나요?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Savickas, M. L., et al. (2009). Life designing: A paradigm for career construction in the 21st century. Journal of Vocational Behavior, 75(3), 239–250. https://doi.org/10.1016/j.jvb.2009.04.004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[00:22–00:27  ·  5분] 동기를 지지하는 세 가지 경험</a:t>
            </a:r>
          </a:p>
          <a:p xmlns:a="http://schemas.openxmlformats.org/drawingml/2006/main">
            <a:r>
              <a:t>수업 구분: 1교시 · 나의 방향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자율성은 혼자 알아서 하라는 뜻이 아니라 스스로 납득하고 선택하는 경험입니다. 유능감은 완벽함이 아니라 적절한 과제를 해내며 진전을 느끼는 경험입니다. 관계성은 조별 활동 유무가 아니라 존중과 연결의 경험입니다. 세 욕구를 사람의 유형에 일대일로 붙이지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지금 내 취업 준비에 더 필요한 경험은 무엇인가요?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[00:27–00:31  ·  4분] 같은 취업 준비에도 이유는 다를 수 있습니다</a:t>
            </a:r>
          </a:p>
          <a:p xmlns:a="http://schemas.openxmlformats.org/drawingml/2006/main">
            <a:r>
              <a:t>수업 구분: 1교시 · 나의 방향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내적 동기만 좋은 동기라는 설명을 피합니다. 활동 자체가 즐겁지 않아도 스스로 가치를 인정하면 자율적 동기의 성격을 가질 수 있습니다. 생활비와 안정도 정당한 이유입니다. 동기는 혼합될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다른 사람이 시키지 않아도, 나에게 필요한 이유는 무엇인가요?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[00:31–00:37  ·  6분] 내 생활에서 중요하게 지키고 싶은 것</a:t>
            </a:r>
          </a:p>
          <a:p xmlns:a="http://schemas.openxmlformats.org/drawingml/2006/main">
            <a:r>
              <a:t>수업 구분: 1교시 · 나의 방향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1분 설명, 3분 개인 선택, 2분 해설. 여덟 항목 중 두 개를 선택하고 그중 현재 우선인 한 개를 정합니다. 다른 기준과 아직 모르겠음도 허용합니다. 선택 이유를 길게 쓰지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취업 후의 평범한 하루를 떠올리면 무엇이 가장 중요하나요?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우선 기준 두 개와 첫 번째 기준 한 개 선택. 각자 결과 확인.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>자율성 지원 원리 적용 · 선택 항목은 강의용 예시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[00:37–00:42  ·  5분] 좋은 선택은 내 기준과 조건을 비교하는 것</a:t>
            </a:r>
          </a:p>
          <a:p xmlns:a="http://schemas.openxmlformats.org/drawingml/2006/main">
            <a:r>
              <a:t>수업 구분: 1교시 · 나의 방향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두 선택의 장단점을 읽고 어느 쪽이 무조건 좋은지 답하게 하지 않습니다. 가장 중요한 기준에 따라 비교하고 빠진 정보를 묻습니다. 급여 숫자는 없이 상대적 예시로 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내 우선 기준으로 보면 어떤 정보가 더 필요할까요?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A 탐색, B 탐색, 정보 확인 후 결정 중 하나 선택.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>교육용 가상 선택 상황 · 특정 조건이 보편적으로 우수하다는 뜻은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[00:42–00:46  ·  4분] 내 방향을 한 문장으로 확인하기</a:t>
            </a:r>
          </a:p>
          <a:p xmlns:a="http://schemas.openxmlformats.org/drawingml/2006/main">
            <a:r>
              <a:t>수업 구분: 1교시 · 나의 방향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앞의 선택을 자동으로 불러와 문장 후보를 제시합니다. AI는 선택한 항목 이외의 가치나 사정을 만들지 않습니다. 참가자는 맞음, 수정, 아직 정하지 않음 중 고릅니다.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이 문장이 내 선택을 잘 설명하나요?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선택 결과로 만든 문장 확인. 자유 입력은 선택 사항.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>Savickas, M. L., et al. (2009). Life designing: A paradigm for career construction in the 21st century. Journal of Vocational Behavior, 75(3), 239–250. https://doi.org/10.1016/j.jvb.2009.04.004</a:t>
            </a:r>
          </a:p>
          <a:p xmlns:a="http://schemas.openxmlformats.org/drawingml/2006/main">
            <a:r>
              <a:t>화면 설계 예시 · 교육용 가상 응답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[00:46–00:50  ·  4분] 익명 결과에서 함께 읽을 것</a:t>
            </a:r>
          </a:p>
          <a:p xmlns:a="http://schemas.openxmlformats.org/drawingml/2006/main">
            <a:r>
              <a:t>수업 구분: 1교시 · 나의 방향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실제 수업에서는 시스템의 동의된 전체 집계만 투사합니다. 이 화면에는 가상 비율이나 순위를 넣지 않았습니다. 다수의 선택을 정답으로 만들지 않습니다. 같은 기준도 이유가 다름을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같은 “안정”을 골라도 각자 뜻은 어떻게 다를까요?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내 기준은 나만의 선택입니다. 다음 교시에는 그 방향에서 활용할 경험을 찾습니다.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>공유 방식 예시 · 실제 참여자 결과나 통계가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[00:50–01:00  ·  10분] 잠시 쉬어갑니다</a:t>
            </a:r>
          </a:p>
          <a:p xmlns:a="http://schemas.openxmlformats.org/drawingml/2006/main">
            <a:r>
              <a:t>수업 구분: 휴식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쉬는 시간 10분. 다음 교시 시작 시각을 안내합니다. 이동이나 교류는 선택이며 활동으로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화면의 핵심 질문을 읽고 개인적으로 생각할 시간을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[01:00–01:02  ·  2분] 경험 속에서 찾는 나의 강점</a:t>
            </a:r>
          </a:p>
          <a:p xmlns:a="http://schemas.openxmlformats.org/drawingml/2006/main">
            <a:r>
              <a:t>수업 구분: 2교시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일상·훈련·일 경험에서</a:t>
            </a:r>
          </a:p>
          <a:p xmlns:a="http://schemas.openxmlformats.org/drawingml/2006/main">
            <a:r>
              <a:t>내가 한 행동을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“잘한다”는 말의 근거는 무엇일까요?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[01:02–01:05  ·  3분] 내가 움직이기 쉬운 조건</a:t>
            </a:r>
          </a:p>
          <a:p xmlns:a="http://schemas.openxmlformats.org/drawingml/2006/main">
            <a:r>
              <a:t>수업 구분: 2교시 · 나의 경험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행동유형 설명을 길게 늘리기보다 본인 경험에서 수행 조건을 찾습니다. 정식 검사나 DISC 점수로 해석하지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처음 해보는 과제에서 무엇이 있으면 시작하기 쉬웠나요?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가까운 조건 두 개 선택. 반대 선택도 존중합니다.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[01:05–01:09  ·  4분] 행동 경향을 일의 조건과 연결하기</a:t>
            </a:r>
          </a:p>
          <a:p xmlns:a="http://schemas.openxmlformats.org/drawingml/2006/main">
            <a:r>
              <a:t>수업 구분: 2교시 · 나의 경험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원본의 행동 이해 흐름을 구체적인 상황과 지원 조건 중심으로 사용합니다. 한 가지 성향을 특정 직업과 일대일로 연결하지 않습니다. 행동은 과제와 환경에 따라 달라집니다.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어떤 조건에서 내가 더 잘 움직였나요?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자기이해 활동 · 정식 DISC 검사나 직무 적합성 진단이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[01:09–01:13  ·  4분] “경험이 없다”를 조금 더 구체적으로 보기</a:t>
            </a:r>
          </a:p>
          <a:p xmlns:a="http://schemas.openxmlformats.org/drawingml/2006/main">
            <a:r>
              <a:t>수업 구분: 2교시 · 나의 경험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모든 경험이 곧 직무 역량이라는 과장을 피합니다. 직장 경력 외에도 실제로 수행한 훈련 과제, 아르바이트, 봉사, 프로젝트 등에서 확인 가능한 행동을 찾습니다.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어떤 이름의 경력인가요, 보다 “내가 직접 무엇을 했나요?”를 묻습니다.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Lent, R. W., &amp; Brown, S. D. (2019). Social cognitive career theory at 25: Empirical status of the interest, choice, and performance models. Journal of Vocational Behavior, 115, 103316. https://doi.org/10.1016/j.jvb.2019.06.004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[01:13–01:18  ·  5분] A의 경험을 사실 단위로 살펴보면</a:t>
            </a:r>
          </a:p>
          <a:p xmlns:a="http://schemas.openxmlformats.org/drawingml/2006/main">
            <a:r>
              <a:t>수업 구분: 2교시 · 나의 경험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첫 취업 사례를 중심에 두되 다른 참가자는 본인의 경험으로 바꾸어 생각합니다. 가상의 인원과 결과임을 안내합니다. 명단을 만들었다는 사실과 정확하게 관리했다는 평가는 구분합니다.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A가 직접 한 행동과 아직 확인하지 못한 것은 무엇일까요?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Lent, R. W., &amp; Brown, S. D. (2019). Social cognitive career theory at 25: Empirical status of the interest, choice, and performance models. Journal of Vocational Behavior, 115, 103316. https://doi.org/10.1016/j.jvb.2019.06.004</a:t>
            </a:r>
          </a:p>
          <a:p xmlns:a="http://schemas.openxmlformats.org/drawingml/2006/main">
            <a:r>
              <a:t>교육용 가상 사례 · 첫 취업 준비자 A의 모임 운영 경험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[01:18–01:24  ·  6분] 내 경험 하나를 고르는 순서</a:t>
            </a:r>
          </a:p>
          <a:p xmlns:a="http://schemas.openxmlformats.org/drawingml/2006/main">
            <a:r>
              <a:t>수업 구분: 2교시 · 나의 경험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1분 설명, 4분 PC 선택, 1분 확인. 경험 없음 선택 시 오늘 훈련 과제나 최근 학습 활동을 제시합니다. 민감한 개인사는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그 일에서 본인이 직접 맡은 부분은 무엇인가요?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경험 범주, 직접 한 행동, 남은 결과를 선택. 짧은 보충 입력은 선택.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Lent, R. W., &amp; Brown, S. D. (2019). Social cognitive career theory at 25: Empirical status of the interest, choice, and performance models. Journal of Vocational Behavior, 115, 103316. https://doi.org/10.1016/j.jvb.2019.06.004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[01:24–01:28  ·  4분] AI가 쓴 문장도 사실 확인이 필요합니다</a:t>
            </a:r>
          </a:p>
          <a:p xmlns:a="http://schemas.openxmlformats.org/drawingml/2006/main">
            <a:r>
              <a:t>수업 구분: 2교시 · 나의 경험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입력한 사실을 읽고 과장된 단어를 찾아 선택합니다. AI가 만든 문장이 유창하다는 이유로 맞는 것은 아닙니다. 본인의 역할, 도구, 결과가 맞는지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입력에 없는데 AI가 덧붙인 내용은 무엇인가요?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과장된 부분 선택 후 사실에 맞는 문장 확인.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교육용 AI 응답 비교 예시 · AI의 추론을 경력 사실로 사용하지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[01:28–01:32  ·  4분] “해볼 수 있겠다”는 생각의 근거</a:t>
            </a:r>
          </a:p>
          <a:p xmlns:a="http://schemas.openxmlformats.org/drawingml/2006/main">
            <a:r>
              <a:t>수업 구분: 2교시 · 나의 경험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자기효능감은 특정 과제를 수행할 수 있다는 믿음입니다. SDT의 유능감 욕구와 같은 개념으로 처리하지 않습니다. 과거 성공 경험 확인과 새 과제의 실제 수행은 서로 보완합니다.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이 업무를 할 수 있다고 생각하게 하는 구체적 경험은 무엇인가요?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Lent, R. W., &amp; Brown, S. D. (2019). Social cognitive career theory at 25: Empirical status of the interest, choice, and performance models. Journal of Vocational Behavior, 115, 103316. https://doi.org/10.1016/j.jvb.2019.06.004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[01:32–01:37  ·  5분] 같은 경험도 연결되는 업무는 다를 수 있습니다</a:t>
            </a:r>
          </a:p>
          <a:p xmlns:a="http://schemas.openxmlformats.org/drawingml/2006/main">
            <a:r>
              <a:t>수업 구분: 2교시 · 나의 경험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이 페이지는 전문 직업 추천이 아니라 업무 연결의 예시입니다. 명단 정리와 안내 경험을 두 업무 후보에 대조하고 확인할 정보를 남깁니다. 한 경험으로 적성을 판정하지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내가 했던 행동과 겹치는 부분은 어디인가요?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Lent, R. W., &amp; Brown, S. D. (2019). Social cognitive career theory at 25: Empirical status of the interest, choice, and performance models. Journal of Vocational Behavior, 115, 103316. https://doi.org/10.1016/j.jvb.2019.06.004</a:t>
            </a:r>
          </a:p>
          <a:p xmlns:a="http://schemas.openxmlformats.org/drawingml/2006/main">
            <a:r>
              <a:t>교육용 가상 직무 비교 · 실제 채용 기준이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[01:37–01:41  ·  4분] 준비가 필요한 이유를 구분하기</a:t>
            </a:r>
          </a:p>
          <a:p xmlns:a="http://schemas.openxmlformats.org/drawingml/2006/main">
            <a:r>
              <a:t>수업 구분: 2교시 · 나의 경험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역량 부족, 정보 부족, 환경 제약을 한꺼번에 개인의 의지 부족으로 해석하지 않습니다. 네 칸은 수업용 정리 틀이지 검사 척도가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정말 못하는 일인가요, 아직 모르거나 여건이 필요한 일인가요?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Lent, R. W., &amp; Brown, S. D. (2019). Social cognitive career theory at 25: Empirical status of the interest, choice, and performance models. Journal of Vocational Behavior, 115, 103316. https://doi.org/10.1016/j.jvb.2019.06.004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[01:41–01:46  ·  5분] 지금 내가 가진 근거 하나</a:t>
            </a:r>
          </a:p>
          <a:p xmlns:a="http://schemas.openxmlformats.org/drawingml/2006/main">
            <a:r>
              <a:t>수업 구분: 2교시 · 나의 경험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1분 안내, 3분 선택·확인, 1분 정리. 강점 단어를 먼저 추천하지 않고 경험과 결과를 먼저 보입니다. 근거가 부족하면 추가로 확인할 정보로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나중에 다시 봐도 확인할 수 있는 근거는 무엇인가요?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경험 요약을 읽고 사실 맞음, 일부 수정, 확인 보류 선택.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Lent, R. W., &amp; Brown, S. D. (2019). Social cognitive career theory at 25: Empirical status of the interest, choice, and performance models. Journal of Vocational Behavior, 115, 103316. https://doi.org/10.1016/j.jvb.2019.06.004</a:t>
            </a:r>
          </a:p>
          <a:p xmlns:a="http://schemas.openxmlformats.org/drawingml/2006/main">
            <a:r>
              <a:t>개인 화면 설계 예시 · 경험을 과장하거나 취업 가능성을 점수화하지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[01:46–01:50  ·  4분] 내 경험을 본 뒤 달라진 질문</a:t>
            </a:r>
          </a:p>
          <a:p xmlns:a="http://schemas.openxmlformats.org/drawingml/2006/main">
            <a:r>
              <a:t>수업 구분: 2교시 · 나의 경험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무조건 자신감이 올라가야 한다고 요구하지 않습니다. 무엇을 확인할지 명확해진 것도 유용한 변화입니다. 익명으로 경험 확인, 연결 후보 발견, 추가 정보 필요 등 선택 분포를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앞으로 알아볼 질문이 더 구체적으로 바뀌었나요?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달라진 점 또는 아직 어려운 점 하나 선택.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Lent, R. W., &amp; Brown, S. D. (2019). Social cognitive career theory at 25: Empirical status of the interest, choice, and performance models. Journal of Vocational Behavior, 115, 103316. https://doi.org/10.1016/j.jvb.2019.06.004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[01:50–02:00  ·  10분] 잠시 쉬어갑니다</a:t>
            </a:r>
          </a:p>
          <a:p xmlns:a="http://schemas.openxmlformats.org/drawingml/2006/main">
            <a:r>
              <a:t>수업 구분: 휴식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쉬는 시간 10분. 다음 교시 시작 시각을 안내합니다. 이동이나 교류는 선택이며 활동으로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화면의 핵심 질문을 읽고 개인적으로 생각할 시간을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[02:00–02:02  ·  2분] 직무를 작게 경험하기</a:t>
            </a:r>
          </a:p>
          <a:p xmlns:a="http://schemas.openxmlformats.org/drawingml/2006/main">
            <a:r>
              <a:t>수업 구분: 3교시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공고를 읽고, 실제로 짧은 과제를 풀며</a:t>
            </a:r>
          </a:p>
          <a:p xmlns:a="http://schemas.openxmlformats.org/drawingml/2006/main">
            <a:r>
              <a:t>준비할 것을 구체화합니다.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정보를 읽는 것과 직접 해보는 것은 어떻게 다를까요?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[02:02–02:06  ·  4분] 교육운영 사무보조 공고 읽기</a:t>
            </a:r>
          </a:p>
          <a:p xmlns:a="http://schemas.openxmlformats.org/drawingml/2006/main">
            <a:r>
              <a:t>수업 구분: 3교시 · 업무와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직무분석 자료의 공고 비교 방식을 활용합니다. 가상 예시임을 분명히 말합니다. 실제 적용 시 훈련과정에 맞는 최신 공고 원문을 강사가 확인해 제공합니다.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업무, 필수요건, 우대사항, 근무 조건을 구분할 수 있나요?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교육용 가상 공고 · 실제 채용정보가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[02:06–02:10  ·  4분] 지원 판단 전에 확인할 표현</a:t>
            </a:r>
          </a:p>
          <a:p xmlns:a="http://schemas.openxmlformats.org/drawingml/2006/main">
            <a:r>
              <a:t>수업 구분: 3교시 · 업무와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필수와 우대는 실제 공고 문구에 따라 해석합니다. 우대 조건 미충족이 자동 탈락인지 추정하지 않습니다. 스프레드시트 기초라는 모호한 표현은 실제 업무 수준을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이 공고에서 아직 단정할 수 없는 것은 무엇인가요?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필수, 우대, 추가 확인 중 선택.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[02:10–02:13  ·  3분] 오늘 해볼 과제와 완료 기준</a:t>
            </a:r>
          </a:p>
          <a:p xmlns:a="http://schemas.openxmlformats.org/drawingml/2006/main">
            <a:r>
              <a:t>수업 구분: 3교시 · 업무와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배점이나 사람 간 순위를 만들지 않습니다. 모든 참가자는 두 개의 아주 짧은 과제를 풉니다. 필요하면 예시를 먼저 보고 답하는 도움 모드를 선택합니다. 선택한 경로는 공개하지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완료 기준이 보이면 시작하기가 어떤가요?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직접 풀기 또는 예시를 먼저 보기 선택.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>Liu, S., Huang, J. L., &amp; Wang, M. (2014). Effectiveness of job search interventions: A meta-analytic review. Psychological Bulletin, 140(4), 1009–1041. https://doi.org/10.1037/a0035923 ; https://pubmed.ncbi.nlm.nih.gov/24588365/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[02:13–02:17  ·  4분] 연습 1. 확인이 필요한 행은 어디인가요?</a:t>
            </a:r>
          </a:p>
          <a:p xmlns:a="http://schemas.openxmlformats.org/drawingml/2006/main">
            <a:r>
              <a:t>수업 구분: 3교시 · 업무와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기준 설명 1분, 개인 선택 2분, 본인 답 확인 1분. 동일 ID 중복과 시간 누락을 찾습니다. 2행과 4행 모두 동일 ID의 확인 대상이며 5행은 누락입니다. 자동으로 행을 삭제하지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같은 ID가 두 번 있거나 시간이 비어 있는 곳을 찾아볼까요?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PC에서 확인할 행 번호를 복수 선택. 예시 도움을 선택할 수 있음.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교육용 가상 자료 · 실제 개인정보 없음 · 정답은 다음 화면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[02:17–02:23  ·  6분] 연습 1 해설. 오류 발견 후에는 원본 확인</a:t>
            </a:r>
          </a:p>
          <a:p xmlns:a="http://schemas.openxmlformats.org/drawingml/2006/main">
            <a:r>
              <a:t>수업 구분: 3교시 · 업무와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2분 정답과 이유 설명, 2분 스스로 다시 확인, 2분 피드백. 중복 ID가 발견되었다고 같은 사람이라고 단정하거나 임의 삭제하지 않습니다. 실제 자료에서는 원본 신청 내역을 확인합니다. 틀렸다면 ID와 시간 두 열만 보도록 도움을 주고 재시도합니다.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확인해야 할 행을 찾았다고 바로 지워도 될까요?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특정 기준을 사용해 자료를 점검했다는 행동을 피드백합니다. 일반적인 능력이나 성격으로 과장하지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>가상 자료 정답: 2·4행의 ID 중복, 5행의 시간 누락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[02:23–02:27  ·  4분] 연습 2. 이 안내문에서 무엇이 빠졌나요?</a:t>
            </a:r>
          </a:p>
          <a:p xmlns:a="http://schemas.openxmlformats.org/drawingml/2006/main">
            <a:r>
              <a:t>수업 구분: 3교시 · 업무와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1분 설명, 2분 선택, 1분 선택 확인. 원래 수업 정보와 변경 통지를 비교합니다. 안내문의 날짜, 새 시간, 장소, 문의처를 점검합니다. 문의처는 안내문에 이미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이 안내만 받은 참가자가 추가로 물어볼 것은 무엇인가요?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날짜, 새 시간, 장소, 문의처 중 빠진 항목을 복수 선택.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교육용 가상 안내문 · 정답은 다음 화면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[02:27–02:31  ·  4분] 연습 2 해설. 받는 사람이 행동할 수 있는 안내</a:t>
            </a:r>
          </a:p>
          <a:p xmlns:a="http://schemas.openxmlformats.org/drawingml/2006/main">
            <a:r>
              <a:t>수업 구분: 3교시 · 업무와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날짜를 “내일”로만 안내하면 나중에 확인할 때 모호할 수 있습니다. 특정 날짜로 보완합니다. 장소 변경 여부가 확인되지 않으면 추측하지 말고 담당자에게 확인합니다. 아래 완성안은 필요한 정보를 확인한 뒤 작성한 가상 예시입니다.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무엇이 구체적이어야 받는 사람이 바로 준비할 수 있나요?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가상 예시 · 보완 항목: 정확한 날짜, 새 시간, 장소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[02:31–02:35  ·  4분] 연습에서 확인한 것과 다음 시도</a:t>
            </a:r>
          </a:p>
          <a:p xmlns:a="http://schemas.openxmlformats.org/drawingml/2006/main">
            <a:r>
              <a:t>수업 구분: 3교시 · 업무와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정답자에게는 어떤 기준을 적용했는지 확인하고, 어려웠던 사람에게는 과제 범위를 줄여 재시도하게 합니다. 성격이나 합격 가능성을 평가하지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이번에 실제로 해본 행동은 무엇인가요? 다음에는 어떤 도움이 있으면 좋을까요?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혼자 완료, 예시 보고 완료, 한 번 더 연습 중 선택. 공개 집계하지 않아도 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>Lent, R. W., &amp; Brown, S. D. (2019). Social cognitive career theory at 25: Empirical status of the interest, choice, and performance models. Journal of Vocational Behavior, 115, 103316. https://doi.org/10.1016/j.jvb.2019.06.004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[02:35–02:40  ·  5분] 내 경험을 이 업무에 연결해 보기</a:t>
            </a:r>
          </a:p>
          <a:p xmlns:a="http://schemas.openxmlformats.org/drawingml/2006/main">
            <a:r>
              <a:t>수업 구분: 3교시 · 업무와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오늘 수행한 과제 또는 이전 경험 중 하나를 선택합니다. 전혀 관련 없어 보이면 연결하지 않음을 선택할 수 있습니다. 업무 경험과 연습 경험을 구분해서 저장합니다.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공통으로 필요한 행동은 무엇이고, 다른 점은 무엇인가요?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연결 가능, 일부 연결, 아직 판단 어려움 선택. 근거 문장 확인.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Lent, R. W., &amp; Brown, S. D. (2019). Social cognitive career theory at 25: Empirical status of the interest, choice, and performance models. Journal of Vocational Behavior, 115, 103316. https://doi.org/10.1016/j.jvb.2019.06.004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[02:40–02:45  ·  5분] 다음 준비는 무엇이 필요한가요?</a:t>
            </a:r>
          </a:p>
          <a:p xmlns:a="http://schemas.openxmlformats.org/drawingml/2006/main">
            <a:r>
              <a:t>수업 구분: 3교시 · 업무와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도움의 종류를 구분하여 다른 처방을 제시합니다. 어려움을 개인의 부족함으로만 해석하지 않습니다. 제약을 선택한 사람에게 상세 사정을 공개하도록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연습, 정보, 지원 중 지금 필요한 것은 무엇인가요?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현재 우선 과제 한 개 선택. 이유 선택은 비공개.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Lent, R. W., &amp; Brown, S. D. (2019). Social cognitive career theory at 25: Empirical status of the interest, choice, and performance models. Journal of Vocational Behavior, 115, 103316. https://doi.org/10.1016/j.jvb.2019.06.004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[02:45–02:50  ·  5분] 이번 주에 다룰 준비 과제 하나</a:t>
            </a:r>
          </a:p>
          <a:p xmlns:a="http://schemas.openxmlformats.org/drawingml/2006/main">
            <a:r>
              <a:t>수업 구분: 3교시 · 업무와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선택 3분, 익명 분포 해설 2분. 연습, 정보 확인, 경험 정리, 지원 요청의 전체 분포만 공개합니다. 모두가 같은 행동을 선택하게 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내 방향에 중요하고, 이번 주에 실제로 가능한 것은 무엇인가요?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과제 하나 선택. AI가 선택 이유와 실제 행동을 분리해 보여주면 확인.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>Liu, S., Huang, J. L., &amp; Wang, M. (2014). Effectiveness of job search interventions: A meta-analytic review. Psychological Bulletin, 140(4), 1009–1041. https://doi.org/10.1037/a0035923 ; https://pubmed.ncbi.nlm.nih.gov/24588365/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[02:50–03:00  ·  10분] 잠시 쉬어갑니다</a:t>
            </a:r>
          </a:p>
          <a:p xmlns:a="http://schemas.openxmlformats.org/drawingml/2006/main">
            <a:r>
              <a:t>수업 구분: 휴식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쉬는 시간 10분. 다음 교시 시작 시각을 안내합니다. 이동이나 교류는 선택이며 활동으로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화면의 핵심 질문을 읽고 개인적으로 생각할 시간을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[03:00–03:02  ·  2분] 내가 실행할 수 있는 계획</a:t>
            </a:r>
          </a:p>
          <a:p xmlns:a="http://schemas.openxmlformats.org/drawingml/2006/main">
            <a:r>
              <a:t>수업 구분: 4교시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현재 상태와 필요한 지원을 살피고</a:t>
            </a:r>
          </a:p>
          <a:p xmlns:a="http://schemas.openxmlformats.org/drawingml/2006/main">
            <a:r>
              <a:t>이번 주에 시작할 상황을 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내 계획은 지금 생활 속에서 가능한가요?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[03:02–03:08  ·  6분] 코칭 휠로 현재의 준비 상태 살펴보기</a:t>
            </a:r>
          </a:p>
          <a:p xmlns:a="http://schemas.openxmlformats.org/drawingml/2006/main">
            <a:r>
              <a:t>수업 구분: 4교시 · 지원과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1분 안내, 3분 PC에서 응답, 2분 개인 해석. 최근 2주를 떠올리며 각 영역이 현재 준비에 도움이 되는 정도를 1~10으로 선택합니다. 1은 매우 부족함, 10은 충분함, 모름과 건너뛰기는 별도로 둡니다. 모름을 0으로 계산하지 않습니다. 각자의 휠은 개인 화면만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낮은 점수 중에서 지금 내 방향에 중요하고 바꿀 수 있는 영역은 무엇인가요?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8영역 슬라이더와 모름/건너뛰기 선택. 우선 지원 영역 하나 선택.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강의용 자기점검 도구 · 8영역은 수업에 맞게 재구성했으며 검증된 심리척도가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[03:08–03:12  ·  4분] 가장 낮은 점수를 무조건 고르지는 않습니다</a:t>
            </a:r>
          </a:p>
          <a:p xmlns:a="http://schemas.openxmlformats.org/drawingml/2006/main">
            <a:r>
              <a:t>수업 구분: 4교시 · 지원과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우선순위를 최저점으로 자동 결정하지 않습니다. 중요도, 변화 가능성, 필요 지원을 함께 보게 합니다. 1점 변화는 측정된 심리효과가 아니라 작은 개선을 생각하는 비유입니다.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내가 바꿀 수 있는 작은 부분과 도움을 요청할 부분은 무엇인가요?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교육용 가상 자기점검 사례 · 아래 점수는 참여자 데이터가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[03:12–03:17  ·  5분] 개별 활동에서도 도움을 받을 수 있습니다</a:t>
            </a:r>
          </a:p>
          <a:p xmlns:a="http://schemas.openxmlformats.org/drawingml/2006/main">
            <a:r>
              <a:t>수업 구분: 4교시 · 지원과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관계성은 익명 집계만으로 확보되는 것이 아닙니다. 질문을 존중하는 언어, 접근 가능한 담당자, 구체적인 도움 요청 기회를 제시합니다. 실제 연락처는 강사가 수업 전 확인합니다. 공개 발언을 시키지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어떤 도움을 누구에게 요청하면 좋을까요?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도움 종류와 요청 대상 선택. 연락처를 개인 화면에 저장.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>Lent, R. W., &amp; Brown, S. D. (2019). Social cognitive career theory at 25: Empirical status of the interest, choice, and performance models. Journal of Vocational Behavior, 115, 103316. https://doi.org/10.1016/j.jvb.2019.06.004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[03:17–03:22  ·  5분] 행동의 크기를 줄이는 방법</a:t>
            </a:r>
          </a:p>
          <a:p xmlns:a="http://schemas.openxmlformats.org/drawingml/2006/main">
            <a:r>
              <a:t>수업 구분: 4교시 · 지원과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활동 크기를 작게 만들되 의미 없는 과제로 바꾸지 않습니다. 연습은 15분, 정보 확인은 질문 하나처럼 완료가 보이도록 좁힙니다. 취업 관련 행동 외에 지원 요청도 정당한 행동입니다.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이번 주에 끝냈다고 말할 수 있는 크기는 어느 정도인가요?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>Gollwitzer, P. M., &amp; Sheeran, P. (2006). Implementation intentions and goal achievement: A meta-analysis of effects and processes. Advances in Experimental Social Psychology, 38, 69–119. https://doi.org/10.1016/S0065-2601(06)38002-1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[03:22–03:28  ·  6분] “언젠가”를 시작할 상황으로 바꾸기</a:t>
            </a:r>
          </a:p>
          <a:p xmlns:a="http://schemas.openxmlformats.org/drawingml/2006/main">
            <a:r>
              <a:t>수업 구분: 4교시 · 지원과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실행의도는 목표를 언제 어디서 어떻게 시작할지 상황과 행동을 연결하는 계획입니다. 이것만으로 취업이나 지속 행동이 보장된다고 하지 않습니다. 2분 예시, 3분 개인 선택, 1분 확인.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언제, 어디에서, 어떤 행동을 시작하면 될까요?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시점, 장소, 행동, 완료 기준을 선택해서 계획 문장 확인.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Gollwitzer, P. M., &amp; Sheeran, P. (2006). Implementation intentions and goal achievement: A meta-analysis of effects and processes. Advances in Experimental Social Psychology, 38, 69–119. https://doi.org/10.1016/S0065-2601(06)38002-1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[03:28–03:33  ·  5분] 시작하지 못했을 때의 대안</a:t>
            </a:r>
          </a:p>
          <a:p xmlns:a="http://schemas.openxmlformats.org/drawingml/2006/main">
            <a:r>
              <a:t>수업 구분: 4교시 · 지원과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실행하지 못한 경험을 의지 부족으로 몰지 않습니다. 장애물이 생기면 행동 크기를 줄이거나 시간과 장소를 바꾸고 지원을 요청하는 대안을 만듭니다.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계획이 막히면 무엇을 줄이거나 바꿀 수 있을까요?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가능성이 큰 장애물 한 개와 대안 한 개 선택.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Gollwitzer, P. M., &amp; Sheeran, P. (2006). Implementation intentions and goal achievement: A meta-analysis of effects and processes. Advances in Experimental Social Psychology, 38, 69–119. https://doi.org/10.1016/S0065-2601(06)38002-1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[03:33–03:40  ·  7분] 내 실행 계획 최종 확인</a:t>
            </a:r>
          </a:p>
          <a:p xmlns:a="http://schemas.openxmlformats.org/drawingml/2006/main">
            <a:r>
              <a:t>수업 구분: 4교시 · 지원과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1분 안내, 4분 개인 확인·수정, 2분 익명 집계 해설. 선택 결과를 불러오되 자동으로 확정하지 않습니다. 아무 행동도 고르기 어렵다면 필요한 지원 확인을 첫 행동으로 허용합니다. 계획 원문은 투사하지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내가 고른 계획인가요? 이번 주 여건에서 가능한가요?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기준, 경험, 행동, 시작 상황, 완료 기준, 대안을 확인하고 저장.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>Gollwitzer, P. M., &amp; Sheeran, P. (2006). Implementation intentions and goal achievement: A meta-analysis of effects and processes. Advances in Experimental Social Psychology, 38, 69–119. https://doi.org/10.1016/S0065-2601(06)38002-1</a:t>
            </a:r>
          </a:p>
          <a:p xmlns:a="http://schemas.openxmlformats.org/drawingml/2006/main">
            <a:r>
              <a:t>개인 화면 설계 예시 · 시스템이 작성한 계획은 본인이 수정·확인합니다.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[03:40–03:45  ·  5분] A의 변화는 이렇게 설명할 수 있습니다</a:t>
            </a:r>
          </a:p>
          <a:p xmlns:a="http://schemas.openxmlformats.org/drawingml/2006/main">
            <a:r>
              <a:t>수업 구분: 4교시 · 지원과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사례는 프로그램 효과를 보여주는 연구 데이터가 아니라 학습 목표를 설명하는 예시입니다. 마지막까지 결론을 과장하지 않습니다. A는 아직 지원 여부와 업무 수준을 확인해야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A에게 생긴 변화 중 동기를 돕는 부분은 무엇인가요?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>Lent, R. W., &amp; Brown, S. D. (2019). Social cognitive career theory at 25: Empirical status of the interest, choice, and performance models. Journal of Vocational Behavior, 115, 103316. https://doi.org/10.1016/j.jvb.2019.06.004</a:t>
            </a:r>
          </a:p>
          <a:p xmlns:a="http://schemas.openxmlformats.org/drawingml/2006/main">
            <a:r>
              <a:t>Gollwitzer, P. M., &amp; Sheeran, P. (2006). Implementation intentions and goal achievement: A meta-analysis of effects and processes. Advances in Experimental Social Psychology, 38, 69–119. https://doi.org/10.1016/S0065-2601(06)38002-1</a:t>
            </a:r>
          </a:p>
          <a:p xmlns:a="http://schemas.openxmlformats.org/drawingml/2006/main">
            <a:r>
              <a:t>교육용 가상 변화 예시 · 실제 수업 효과나 참여자 성과가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[03:45–03:50  ·  5분] 동기가 이어지도록 확인할 네 가지</a:t>
            </a:r>
          </a:p>
          <a:p xmlns:a="http://schemas.openxmlformats.org/drawingml/2006/main">
            <a:r>
              <a:t>수업 구분: 4교시 · 지원과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지속적 행동을 보장하는 공식으로 표현하지 않습니다. 내 이유, 근거, 지원, 행동을 계속 점검하는 틀로 사용합니다. 생애설계는 한 번 완성하는 답이 아니라 변화에 따라 재검토하는 과정이라고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지금 내 계획에서 더 보완하면 좋을 한 가지는 무엇인가요?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>Lent, R. W., &amp; Brown, S. D. (2019). Social cognitive career theory at 25: Empirical status of the interest, choice, and performance models. Journal of Vocational Behavior, 115, 103316. https://doi.org/10.1016/j.jvb.2019.06.004</a:t>
            </a:r>
          </a:p>
          <a:p xmlns:a="http://schemas.openxmlformats.org/drawingml/2006/main">
            <a:r>
              <a:t>Gollwitzer, P. M., &amp; Sheeran, P. (2006). Implementation intentions and goal achievement: A meta-analysis of effects and processes. Advances in Experimental Social Psychology, 38, 69–119. https://doi.org/10.1016/S0065-2601(06)38002-1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[03:50–03:56  ·  6분] 마무리. 오늘 더 분명해진 것</a:t>
            </a:r>
          </a:p>
          <a:p xmlns:a="http://schemas.openxmlformats.org/drawingml/2006/main">
            <a:r>
              <a:t>수업 구분: 마무리 · 10분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3분 PC 선택, 2분 익명 해설, 1분 다음 안내. 사전과 같은 문항을 사용해도 인과적 효과를 입증하는 자료로 해석하지 않습니다. 이해나 자기평가 변화와 실제 행동을 구분합니다.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오늘 분명해진 것 하나와 여전히 필요한 도움 하나는 무엇인가요?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내 이유가 보임, 경험의 근거를 찾음, 다음 행동이 정해짐, 아직 도움이 필요함 중 선택. 복수 가능.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수업용 성찰 질문 · 검증된 효과 측정 척도나 취업 성과 평가가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[03:56–04:00  ·  4분] 오늘 고른 한 걸음을 가지고 돌아갑니다</a:t>
            </a:r>
          </a:p>
          <a:p xmlns:a="http://schemas.openxmlformats.org/drawingml/2006/main">
            <a:r>
              <a:t>수업 구분: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개인 결과 저장 확인 2분, 질문 접수와 다음 안내 2분. 실제 후속 회기를 운영한다면 계획 실행 여부와 필요한 도움을 자율적으로 확인합니다. 이 자리에서 취업 성공을 약속하거나 계획 공개를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내가 고른 행동을 시작할 장면을 한 번 떠올려 볼까요?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개인 기준 문장, 경험 요약, 실행 계획을 본인 화면에서 저장.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>Gollwitzer, P. M., &amp; Sheeran, P. (2006). Implementation intentions and goal achievement: A meta-analysis of effects and processes. Advances in Experimental Social Psychology, 38, 69–119. https://doi.org/10.1016/S0065-2601(06)38002-1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참고] 동기부여 관점에서 이 구성이 갖는 의미</a:t>
            </a:r>
          </a:p>
          <a:p xmlns:a="http://schemas.openxmlformats.org/drawingml/2006/main">
            <a:r>
              <a:t>수업 구분: 강사용 참고 · 수업 설계 근거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직무 정보 추가 자체가 동기를 만든다는 설명을 피합니다. 활동의 의미는 선택, 수행 경험, 피드백과 실행으로 이어질 때 발생할 수 있습니다. 연구에서 확인한 원리와 본 워크숍에 적용한 설계를 구분합니다.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화면의 핵심 질문을 읽고 개인적으로 생각할 시간을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>Lent, R. W., &amp; Brown, S. D. (2019). Social cognitive career theory at 25: Empirical status of the interest, choice, and performance models. Journal of Vocational Behavior, 115, 103316. https://doi.org/10.1016/j.jvb.2019.06.004</a:t>
            </a:r>
          </a:p>
          <a:p xmlns:a="http://schemas.openxmlformats.org/drawingml/2006/main">
            <a:r>
              <a:t>Liu, S., Huang, J. L., &amp; Wang, M. (2014). Effectiveness of job search interventions: A meta-analytic review. Psychological Bulletin, 140(4), 1009–1041. https://doi.org/10.1037/a0035923 ; https://pubmed.ncbi.nlm.nih.gov/24588365/</a:t>
            </a:r>
          </a:p>
          <a:p xmlns:a="http://schemas.openxmlformats.org/drawingml/2006/main">
            <a:r>
              <a:t>Gollwitzer, P. M., &amp; Sheeran, P. (2006). Implementation intentions and goal achievement: A meta-analysis of effects and processes. Advances in Experimental Social Psychology, 38, 69–119. https://doi.org/10.1016/S0065-2601(06)38002-1</a:t>
            </a:r>
          </a:p>
          <a:p xmlns:a="http://schemas.openxmlformats.org/drawingml/2006/main">
            <a:r>
              <a:t>이론적 참고: Ryan &amp; Deci (2020), Lent &amp; Brown (2019), Liu et al. (2014), Gollwitzer &amp; Sheeran (2006)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참고] 4시간 운영표</a:t>
            </a:r>
          </a:p>
          <a:p xmlns:a="http://schemas.openxmlformats.org/drawingml/2006/main">
            <a:r>
              <a:t>수업 구분: 강사용 참고 · 시간 배분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총 240분. 수업과 개인 활동 200분, 휴식 30분, 마무리 10분. 각 슬라이드 오른쪽 상단과 노트에 세부 시간을 제시했습니다. PC 활동 시스템의 로그인과 테스트는 수업 전에 완료하는 운영을 전제로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화면의 핵심 질문을 읽고 개인적으로 생각할 시간을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참고] 근거 문헌 1. 동기와 구직 프로그램</a:t>
            </a:r>
          </a:p>
          <a:p xmlns:a="http://schemas.openxmlformats.org/drawingml/2006/main">
            <a:r>
              <a:t>수업 구분: 강사용 참고 · 문헌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Liu, S., Huang, J. L., &amp; Wang, M. (2014). Effectiveness of job search interventions: A meta-analytic review. Psychological Bulletin, 140(4), 1009–1041. https://doi.org/10.1037/a0035923 ; https://pubmed.ncbi.nlm.nih.gov/24588365/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Lent, R. W., &amp; Brown, S. D. (2019). Social cognitive career theory at 25: Empirical status of the interest, choice, and performance models. Journal of Vocational Behavior, 115, 103316. https://doi.org/10.1016/j.jvb.2019.06.004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화면의 핵심 질문을 읽고 개인적으로 생각할 시간을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참고] 근거 문헌 2. 방향과 실행</a:t>
            </a:r>
          </a:p>
          <a:p xmlns:a="http://schemas.openxmlformats.org/drawingml/2006/main">
            <a:r>
              <a:t>수업 구분: 강사용 참고 · 문헌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Gati, I., Krausz, M., &amp; Osipow, S. H. (1996). A taxonomy of difficulties in career decision making. Journal of Counseling Psychology, 43(4), 510–526. https://doi.org/10.1037/0022-0167.43.4.510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Savickas, M. L., et al. (2009). Life designing: A paradigm for career construction in the 21st century. Journal of Vocational Behavior, 75(3), 239–250. https://doi.org/10.1016/j.jvb.2009.04.004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Gollwitzer, P. M., &amp; Sheeran, P. (2006). Implementation intentions and goal achievement: A meta-analysis of effects and processes. Advances in Experimental Social Psychology, 38, 69–119. https://doi.org/10.1016/S0065-2601(06)38002-1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화면의 핵심 질문을 읽고 개인적으로 생각할 시간을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참고] PC와 AI 활동의 운영 조건</a:t>
            </a:r>
          </a:p>
          <a:p xmlns:a="http://schemas.openxmlformats.org/drawingml/2006/main">
            <a:r>
              <a:t>수업 구분: 강사용 참고 · 시스템 준비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수업 전 PC 접속, 익명 식별 방식, 활동별 선택지, 개별 결과 저장, 집계 권한을 확인합니다. PPT는 실행 가능한 웹 시스템이 아닙니다. 시스템 미준비 시 개인 화면 선택을 실제 수집하는 기능은 제공되지 않습니다. 자료의 예시 화면만 보고 사고 활동을 할 수 있지만 원래의 익명 집계 운영에는 별도 구축이 필요합니다.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화면의 핵심 질문을 읽고 개인적으로 생각할 시간을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참고] 참여자의 반응에 따른 강사 해설</a:t>
            </a:r>
          </a:p>
          <a:p xmlns:a="http://schemas.openxmlformats.org/drawingml/2006/main">
            <a:r>
              <a:t>수업 구분: 강사용 참고 · 피드백 언어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진행</a:t>
            </a:r>
          </a:p>
          <a:p xmlns:a="http://schemas.openxmlformats.org/drawingml/2006/main">
            <a:r>
              <a:t>빈 칭찬, 비교, 압박 대신 관찰 가능한 행동과 선택의 이유를 확인합니다. 사람이 느끼는 감정은 인정하되 구직자 모두에게 같은 반응을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강사 질문</a:t>
            </a:r>
          </a:p>
          <a:p xmlns:a="http://schemas.openxmlformats.org/drawingml/2006/main">
            <a:r>
              <a:t>화면의 핵심 질문을 읽고 개인적으로 생각할 시간을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참여자 활동</a:t>
            </a:r>
          </a:p>
          <a:p xmlns:a="http://schemas.openxmlformats.org/drawingml/2006/main">
            <a:r>
              <a:t>각자 화면을 보며 생각하고, 공개 발언은 요구하지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해설과 다음 연결</a:t>
            </a:r>
          </a:p>
          <a:p xmlns:a="http://schemas.openxmlformats.org/drawingml/2006/main">
            <a:r>
              <a:t>참여자의 선택을 평가하거나 비교하지 않고, 다음 단계에서 확인할 점으로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Ryan, R. M., &amp; Deci, E. L. (2020). Intrinsic and extrinsic motivation from a self-determination theory perspective: Definitions, theory, practices, and future directions. Contemporary Educational Psychology, 61, 101860. https://doi.org/10.1016/j.cedpsych.2020.101860</a:t>
            </a:r>
          </a:p>
          <a:p xmlns:a="http://schemas.openxmlformats.org/drawingml/2006/main">
            <a:r>
              <a:t>Lent, R. W., &amp; Brown, S. D. (2019). Social cognitive career theory at 25: Empirical status of the interest, choice, and performance models. Journal of Vocational Behavior, 115, 103316. https://doi.org/10.1016/j.jvb.2019.06.004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운영: 이 자료의 PC 화면은 설계 예시입니다. 실제 응답 수집과 익명 집계는 별도 시스템에 연결해야 합니다. 선택과 응답 원문은 본인만 확인하며 강사는 동의한 집계만 봅니다. 표본이 작거나 개인을 추정할 수 있으면 집계를 공개하지 않습니다. 본 강의의 AI 활동 구성 자체가 위 연구에서 검증된 것은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ad2fa85503426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d178dfddc04f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31ade2e8024f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b30460b7f48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52cc57ac3a41e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fcb3365a3f4f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46E621-287A-461B-A75B-4F81DE1A2A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FD9F427-3767-4E34-BA7B-E0FBA4397A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110BA0-DB12-48DE-913C-804C9D4AE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B8D011-2401-4334-B6A3-ADC647726F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25A0F53-556E-4BFA-B1B6-EEE55065EF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FCF1999-0F5D-469D-99D7-3CEC6CC117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2F4E33-ED00-4E25-AC18-FA4360D7F0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441A577-E482-4BB1-8E95-4361F6C04E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5442FE-DF07-4618-A542-E19C663CED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F2F25E-72C4-44BE-BDC5-803CFC8AC0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140d4451b24fde" /><Relationship Type="http://schemas.openxmlformats.org/officeDocument/2006/relationships/slideLayout" Target="/ppt/slideLayouts/slideLayout1.xml" Id="R46a105a240224d21" /><Relationship Type="http://schemas.openxmlformats.org/officeDocument/2006/relationships/slideLayout" Target="/ppt/slideLayouts/slideLayout2.xml" Id="Rdf3db7b0595e4b75" /><Relationship Type="http://schemas.openxmlformats.org/officeDocument/2006/relationships/slideLayout" Target="/ppt/slideLayouts/slideLayout3.xml" Id="Rbde6a9db5b15414a" /><Relationship Type="http://schemas.openxmlformats.org/officeDocument/2006/relationships/slideLayout" Target="/ppt/slideLayouts/slideLayout4.xml" Id="R531a0db190204435" /><Relationship Type="http://schemas.openxmlformats.org/officeDocument/2006/relationships/slideLayout" Target="/ppt/slideLayouts/slideLayout5.xml" Id="R5c57c12754dc45aa" /><Relationship Type="http://schemas.openxmlformats.org/officeDocument/2006/relationships/slideLayout" Target="/ppt/slideLayouts/slideLayout6.xml" Id="Rb0a80d29fc5e4a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a105a240224d21"/>
    <p:sldLayoutId xmlns:r="http://schemas.openxmlformats.org/officeDocument/2006/relationships" id="2147483650" r:id="Rdf3db7b0595e4b75"/>
    <p:sldLayoutId xmlns:r="http://schemas.openxmlformats.org/officeDocument/2006/relationships" id="2147483651" r:id="Rbde6a9db5b15414a"/>
    <p:sldLayoutId xmlns:r="http://schemas.openxmlformats.org/officeDocument/2006/relationships" id="2147483652" r:id="R531a0db190204435"/>
    <p:sldLayoutId xmlns:r="http://schemas.openxmlformats.org/officeDocument/2006/relationships" id="2147483653" r:id="R5c57c12754dc45aa"/>
    <p:sldLayoutId xmlns:r="http://schemas.openxmlformats.org/officeDocument/2006/relationships" id="2147483654" r:id="Rb0a80d29fc5e4a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ace891e0f24bd9" /><Relationship Type="http://schemas.openxmlformats.org/officeDocument/2006/relationships/image" Target="/ppt/media/image.png" Id="R6ec04173492d41c2" /><Relationship Type="http://schemas.openxmlformats.org/officeDocument/2006/relationships/notesSlide" Target="/ppt/notesSlides/notesSlide1.xml" Id="Rbe2e01ff6ae749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9ab698e8584e7a" /><Relationship Type="http://schemas.openxmlformats.org/officeDocument/2006/relationships/notesSlide" Target="/ppt/notesSlides/notesSlide2.xml" Id="R663d8a7917a44e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b4bf817de3481c" /><Relationship Type="http://schemas.openxmlformats.org/officeDocument/2006/relationships/notesSlide" Target="/ppt/notesSlides/notesSlide3.xml" Id="Rf25066f9689346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8965ec868d4547" /><Relationship Type="http://schemas.openxmlformats.org/officeDocument/2006/relationships/notesSlide" Target="/ppt/notesSlides/notesSlide4.xml" Id="R1ebe4c197c904e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7e222399314f55" /><Relationship Type="http://schemas.openxmlformats.org/officeDocument/2006/relationships/notesSlide" Target="/ppt/notesSlides/notesSlide5.xml" Id="R915075d4792245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4acbfe58e44cd0" /><Relationship Type="http://schemas.openxmlformats.org/officeDocument/2006/relationships/notesSlide" Target="/ppt/notesSlides/notesSlide6.xml" Id="R4934c17e5c9541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60aada3e2c4609" /><Relationship Type="http://schemas.openxmlformats.org/officeDocument/2006/relationships/notesSlide" Target="/ppt/notesSlides/notesSlide7.xml" Id="Rba04e4f1859846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67ede4cfe9423c" /><Relationship Type="http://schemas.openxmlformats.org/officeDocument/2006/relationships/notesSlide" Target="/ppt/notesSlides/notesSlide8.xml" Id="Ra6c1306a6d8b41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8e884caacb4b2c" /><Relationship Type="http://schemas.openxmlformats.org/officeDocument/2006/relationships/notesSlide" Target="/ppt/notesSlides/notesSlide9.xml" Id="R62fae4b5f18d4f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b7bf5ece2f4bce" /><Relationship Type="http://schemas.openxmlformats.org/officeDocument/2006/relationships/notesSlide" Target="/ppt/notesSlides/notesSlide10.xml" Id="Rb0371622d0f749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e7673702b64792" /><Relationship Type="http://schemas.openxmlformats.org/officeDocument/2006/relationships/notesSlide" Target="/ppt/notesSlides/notesSlide11.xml" Id="R88c70c9de83b42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8327decc2d4292" /><Relationship Type="http://schemas.openxmlformats.org/officeDocument/2006/relationships/notesSlide" Target="/ppt/notesSlides/notesSlide12.xml" Id="R917d666a83654e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a68310b8804b52" /><Relationship Type="http://schemas.openxmlformats.org/officeDocument/2006/relationships/notesSlide" Target="/ppt/notesSlides/notesSlide13.xml" Id="R6a2c92b8d9bf44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0410c243734820" /><Relationship Type="http://schemas.openxmlformats.org/officeDocument/2006/relationships/notesSlide" Target="/ppt/notesSlides/notesSlide14.xml" Id="R5b282e3ffea048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ece370014643d5" /><Relationship Type="http://schemas.openxmlformats.org/officeDocument/2006/relationships/notesSlide" Target="/ppt/notesSlides/notesSlide15.xml" Id="R641553d74a1744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65571987784d3c" /><Relationship Type="http://schemas.openxmlformats.org/officeDocument/2006/relationships/notesSlide" Target="/ppt/notesSlides/notesSlide16.xml" Id="R641063ebcd7d4a2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915d9f65384d5f" /><Relationship Type="http://schemas.openxmlformats.org/officeDocument/2006/relationships/notesSlide" Target="/ppt/notesSlides/notesSlide17.xml" Id="R89ff26667f944d8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36f48d30ba457f" /><Relationship Type="http://schemas.openxmlformats.org/officeDocument/2006/relationships/notesSlide" Target="/ppt/notesSlides/notesSlide18.xml" Id="R4260f8c3d26f45d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0cf8a0dd764b44" /><Relationship Type="http://schemas.openxmlformats.org/officeDocument/2006/relationships/notesSlide" Target="/ppt/notesSlides/notesSlide19.xml" Id="R37ae6c84f072482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1c2e9235a74f68" /><Relationship Type="http://schemas.openxmlformats.org/officeDocument/2006/relationships/notesSlide" Target="/ppt/notesSlides/notesSlide20.xml" Id="Rcaf7298c5c6c426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1a0a7ab8214668" /><Relationship Type="http://schemas.openxmlformats.org/officeDocument/2006/relationships/notesSlide" Target="/ppt/notesSlides/notesSlide21.xml" Id="Rf5efe50936b7409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3b184247749f1" /><Relationship Type="http://schemas.openxmlformats.org/officeDocument/2006/relationships/notesSlide" Target="/ppt/notesSlides/notesSlide22.xml" Id="R34627ae6121c419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df37bce7824894" /><Relationship Type="http://schemas.openxmlformats.org/officeDocument/2006/relationships/notesSlide" Target="/ppt/notesSlides/notesSlide23.xml" Id="R67e831f30b15447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ebd71b6e1442a3" /><Relationship Type="http://schemas.openxmlformats.org/officeDocument/2006/relationships/notesSlide" Target="/ppt/notesSlides/notesSlide24.xml" Id="Rb2e8e33de68745c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317a253221451d" /><Relationship Type="http://schemas.openxmlformats.org/officeDocument/2006/relationships/notesSlide" Target="/ppt/notesSlides/notesSlide25.xml" Id="R9304425e15d245e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0ca2cc8448415d" /><Relationship Type="http://schemas.openxmlformats.org/officeDocument/2006/relationships/notesSlide" Target="/ppt/notesSlides/notesSlide26.xml" Id="R0733cebcfb28481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0887a029954884" /><Relationship Type="http://schemas.openxmlformats.org/officeDocument/2006/relationships/notesSlide" Target="/ppt/notesSlides/notesSlide27.xml" Id="Rf73380a512064bf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383c9f84f74603" /><Relationship Type="http://schemas.openxmlformats.org/officeDocument/2006/relationships/notesSlide" Target="/ppt/notesSlides/notesSlide28.xml" Id="Rb2d40b8603b14ea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8735a3c70f49a5" /><Relationship Type="http://schemas.openxmlformats.org/officeDocument/2006/relationships/notesSlide" Target="/ppt/notesSlides/notesSlide29.xml" Id="Rdef6ef5632cd4cc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fd207fac4a4c6b" /><Relationship Type="http://schemas.openxmlformats.org/officeDocument/2006/relationships/notesSlide" Target="/ppt/notesSlides/notesSlide30.xml" Id="R16110fbddfd34e7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d1caac2136482c" /><Relationship Type="http://schemas.openxmlformats.org/officeDocument/2006/relationships/notesSlide" Target="/ppt/notesSlides/notesSlide31.xml" Id="Rb0fb5f9c28f7439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79679d42f14ede" /><Relationship Type="http://schemas.openxmlformats.org/officeDocument/2006/relationships/notesSlide" Target="/ppt/notesSlides/notesSlide32.xml" Id="R4e6c272a7717404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da14824c8f4f59" /><Relationship Type="http://schemas.openxmlformats.org/officeDocument/2006/relationships/notesSlide" Target="/ppt/notesSlides/notesSlide33.xml" Id="R9d6c688342014db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ac32b5ce974c06" /><Relationship Type="http://schemas.openxmlformats.org/officeDocument/2006/relationships/notesSlide" Target="/ppt/notesSlides/notesSlide34.xml" Id="R3c1a05674cb94fa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4a1c1e05442c1" /><Relationship Type="http://schemas.openxmlformats.org/officeDocument/2006/relationships/notesSlide" Target="/ppt/notesSlides/notesSlide35.xml" Id="Re9abf2a80def491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94b3c10acd4cbf" /><Relationship Type="http://schemas.openxmlformats.org/officeDocument/2006/relationships/notesSlide" Target="/ppt/notesSlides/notesSlide36.xml" Id="Rdfa88290798c458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b0282ccd9f4624" /><Relationship Type="http://schemas.openxmlformats.org/officeDocument/2006/relationships/notesSlide" Target="/ppt/notesSlides/notesSlide37.xml" Id="R600a0a0ed343413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3ce197c8bd4f23" /><Relationship Type="http://schemas.openxmlformats.org/officeDocument/2006/relationships/notesSlide" Target="/ppt/notesSlides/notesSlide38.xml" Id="R826b4021aec6489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0747f0c89343c8" /><Relationship Type="http://schemas.openxmlformats.org/officeDocument/2006/relationships/notesSlide" Target="/ppt/notesSlides/notesSlide39.xml" Id="R6cead5a2af92453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3a7de52dc8411a" /><Relationship Type="http://schemas.openxmlformats.org/officeDocument/2006/relationships/notesSlide" Target="/ppt/notesSlides/notesSlide40.xml" Id="R919d66e4a5204a9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b57f2228a443d3" /><Relationship Type="http://schemas.openxmlformats.org/officeDocument/2006/relationships/notesSlide" Target="/ppt/notesSlides/notesSlide41.xml" Id="R341f5d2dc0b7462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8c8fefc11b4f2b" /><Relationship Type="http://schemas.openxmlformats.org/officeDocument/2006/relationships/notesSlide" Target="/ppt/notesSlides/notesSlide42.xml" Id="Rc0660801f8b144a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c0aa9ef83d443d" /><Relationship Type="http://schemas.openxmlformats.org/officeDocument/2006/relationships/notesSlide" Target="/ppt/notesSlides/notesSlide43.xml" Id="Re65371a33ec34b3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3532a967c24a03" /><Relationship Type="http://schemas.openxmlformats.org/officeDocument/2006/relationships/notesSlide" Target="/ppt/notesSlides/notesSlide44.xml" Id="R03f757d391be416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f6fca43d484f2e" /><Relationship Type="http://schemas.openxmlformats.org/officeDocument/2006/relationships/notesSlide" Target="/ppt/notesSlides/notesSlide45.xml" Id="R041b2ec095c444c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e85ccc22984824" /><Relationship Type="http://schemas.openxmlformats.org/officeDocument/2006/relationships/notesSlide" Target="/ppt/notesSlides/notesSlide46.xml" Id="R7acc5c2588a6466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9e6f79811a4889" /><Relationship Type="http://schemas.openxmlformats.org/officeDocument/2006/relationships/notesSlide" Target="/ppt/notesSlides/notesSlide47.xml" Id="R8f700e351bf747b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58596534324d9f" /><Relationship Type="http://schemas.openxmlformats.org/officeDocument/2006/relationships/notesSlide" Target="/ppt/notesSlides/notesSlide48.xml" Id="R61343ecf7e3642a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b6c4ceef584b5c" /><Relationship Type="http://schemas.openxmlformats.org/officeDocument/2006/relationships/notesSlide" Target="/ppt/notesSlides/notesSlide49.xml" Id="Rc5f20d60631c4cf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24e58fdbfe4774" /><Relationship Type="http://schemas.openxmlformats.org/officeDocument/2006/relationships/notesSlide" Target="/ppt/notesSlides/notesSlide50.xml" Id="Rd9b259633e6248b7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461f54a22b4b3f" /><Relationship Type="http://schemas.openxmlformats.org/officeDocument/2006/relationships/notesSlide" Target="/ppt/notesSlides/notesSlide51.xml" Id="R68ec1bab3faf4c25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70bf4ffb8d4188" /><Relationship Type="http://schemas.openxmlformats.org/officeDocument/2006/relationships/notesSlide" Target="/ppt/notesSlides/notesSlide52.xml" Id="R61a4c90a8eaf49c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2d388a19ee4539" /><Relationship Type="http://schemas.openxmlformats.org/officeDocument/2006/relationships/notesSlide" Target="/ppt/notesSlides/notesSlide53.xml" Id="Rb773efa1c72b4a4a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9f05378a96452f" /><Relationship Type="http://schemas.openxmlformats.org/officeDocument/2006/relationships/notesSlide" Target="/ppt/notesSlides/notesSlide54.xml" Id="R907ac44103a443d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e1b3b490d349ed" /><Relationship Type="http://schemas.openxmlformats.org/officeDocument/2006/relationships/notesSlide" Target="/ppt/notesSlides/notesSlide55.xml" Id="R79f7c02339e4402a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ab15b346dc4c34" /><Relationship Type="http://schemas.openxmlformats.org/officeDocument/2006/relationships/notesSlide" Target="/ppt/notesSlides/notesSlide56.xml" Id="R75e1ca081fb64f9a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347ede88b74b2d" /><Relationship Type="http://schemas.openxmlformats.org/officeDocument/2006/relationships/notesSlide" Target="/ppt/notesSlides/notesSlide57.xml" Id="R77b96129b0194b5e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91ebbb89c44b0f" /><Relationship Type="http://schemas.openxmlformats.org/officeDocument/2006/relationships/notesSlide" Target="/ppt/notesSlides/notesSlide58.xml" Id="R86e0f105ed2849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남부여성발전센터 · 동기부여 1회기">
            <a:extLst xmlns:a="http://schemas.openxmlformats.org/drawingml/2006/main">
              <a:ext uri="{FF2B5EF4-FFF2-40B4-BE49-F238E27FC236}">
                <a16:creationId xmlns:a16="http://schemas.microsoft.com/office/drawing/2014/main" id="{D9573E68-88C3-4FC3-A607-419ED2FE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남부여성발전센터 · 동기부여 1회기</a:t>
            </a:r>
          </a:p>
        </p:txBody>
      </p:sp>
      <p:sp>
        <p:nvSpPr>
          <p:cNvPr id="2" name="00:00–00:02  ·  2분">
            <a:extLst xmlns:a="http://schemas.openxmlformats.org/drawingml/2006/main">
              <a:ext uri="{FF2B5EF4-FFF2-40B4-BE49-F238E27FC236}">
                <a16:creationId xmlns:a16="http://schemas.microsoft.com/office/drawing/2014/main" id="{4B3E8065-1A04-43D5-8C59-11AE3D7C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00:00–00:02  ·  2분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939E4-CBEA-4AA0-948E-2963EC1D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4" name="삶과 일의 방향을 찾는 4시간">
            <a:extLst xmlns:a="http://schemas.openxmlformats.org/drawingml/2006/main">
              <a:ext uri="{FF2B5EF4-FFF2-40B4-BE49-F238E27FC236}">
                <a16:creationId xmlns:a16="http://schemas.microsoft.com/office/drawing/2014/main" id="{2BE1F478-C4C8-4176-9252-81A9AEE2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삶과 일의 방향을 찾는 4시간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7D831D76-F766-4223-9326-022D127A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8467A-33E6-4DA8-8CDA-07DCAF19BE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04173492d41c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7" name="남부여성발전센터   동기부여 1회기">
            <a:extLst xmlns:a="http://schemas.openxmlformats.org/drawingml/2006/main">
              <a:ext uri="{FF2B5EF4-FFF2-40B4-BE49-F238E27FC236}">
                <a16:creationId xmlns:a16="http://schemas.microsoft.com/office/drawing/2014/main" id="{58910522-199E-49E9-B6D2-950E4640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남부여성발전센터   동기부여 1회기</a:t>
            </a:r>
          </a:p>
        </p:txBody>
      </p:sp>
      <p:sp>
        <p:nvSpPr>
          <p:cNvPr id="8" name="내 삶의 방향에서&#10;취업의 다음 한 걸음까지">
            <a:extLst xmlns:a="http://schemas.openxmlformats.org/drawingml/2006/main">
              <a:ext uri="{FF2B5EF4-FFF2-40B4-BE49-F238E27FC236}">
                <a16:creationId xmlns:a16="http://schemas.microsoft.com/office/drawing/2014/main" id="{D45F2BC4-542A-486B-ABD8-1DBBD1C7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0001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내 삶의 방향에서</a:t>
            </a:r>
          </a:p>
          <a:p xmlns:a="http://schemas.openxmlformats.org/drawingml/2006/main">
            <a:pPr algn="l">
              <a:defRPr sz="57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취업의 다음 한 걸음까지</a:t>
            </a:r>
          </a:p>
        </p:txBody>
      </p:sp>
      <p:sp>
        <p:nvSpPr>
          <p:cNvPr id="9" name="내가 원하는 이유를 찾고&#10;해볼 수 있는 행동을 정하는 시간">
            <a:extLst xmlns:a="http://schemas.openxmlformats.org/drawingml/2006/main">
              <a:ext uri="{FF2B5EF4-FFF2-40B4-BE49-F238E27FC236}">
                <a16:creationId xmlns:a16="http://schemas.microsoft.com/office/drawing/2014/main" id="{520343CA-66EF-4EF1-83B0-4385F815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771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내가 원하는 이유를 찾고</a:t>
            </a:r>
          </a:p>
          <a:p xmlns:a="http://schemas.openxmlformats.org/drawingml/2006/main">
            <a:pPr algn="l">
              <a:defRPr sz="32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해볼 수 있는 행동을 정하는 시간</a:t>
            </a:r>
          </a:p>
        </p:txBody>
      </p:sp>
      <p:sp>
        <p:nvSpPr>
          <p:cNvPr id="10" name="개인 PC 활동  ·  익명 결과 해설  ·  4시간">
            <a:extLst xmlns:a="http://schemas.openxmlformats.org/drawingml/2006/main">
              <a:ext uri="{FF2B5EF4-FFF2-40B4-BE49-F238E27FC236}">
                <a16:creationId xmlns:a16="http://schemas.microsoft.com/office/drawing/2014/main" id="{82306F1D-5676-44FC-B7F2-C2B45446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858250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개인 PC 활동  ·  익명 결과 해설  ·  4시간</a:t>
            </a:r>
          </a:p>
        </p:txBody>
      </p:sp>
      <p:sp xmlns:a="http://schemas.openxmlformats.org/drawingml/2006/main">
        <p:nvSpPr>
          <p:cNvPr id="12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3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8789153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1교시 · 나의 방향">
            <a:extLst xmlns:a="http://schemas.openxmlformats.org/drawingml/2006/main">
              <a:ext uri="{FF2B5EF4-FFF2-40B4-BE49-F238E27FC236}">
                <a16:creationId xmlns:a16="http://schemas.microsoft.com/office/drawing/2014/main" id="{FA2D2652-D0D5-425F-8773-0CABA513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1교시 · 나의 방향</a:t>
            </a:r>
          </a:p>
        </p:txBody>
      </p:sp>
      <p:sp>
        <p:nvSpPr>
          <p:cNvPr id="2" name="00:02–00:05  ·  3분">
            <a:extLst xmlns:a="http://schemas.openxmlformats.org/drawingml/2006/main">
              <a:ext uri="{FF2B5EF4-FFF2-40B4-BE49-F238E27FC236}">
                <a16:creationId xmlns:a16="http://schemas.microsoft.com/office/drawing/2014/main" id="{8AEF0108-5B81-428B-8096-1E6F6664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00:02–00:05  ·  3분</a:t>
            </a:r>
          </a:p>
        </p:txBody>
      </p:sp>
      <p:sp>
        <p:nvSpPr>
          <p:cNvPr id="3" name="오늘 남길 결과">
            <a:extLst xmlns:a="http://schemas.openxmlformats.org/drawingml/2006/main">
              <a:ext uri="{FF2B5EF4-FFF2-40B4-BE49-F238E27FC236}">
                <a16:creationId xmlns:a16="http://schemas.microsoft.com/office/drawing/2014/main" id="{F788C3EA-AAFD-425A-9732-610D53DE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오늘 남길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53561-F2CB-4EB6-82B2-0F735FBF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Ryan &amp; Deci (2020), 자기결정성이론 / Lent &amp; Brown">
            <a:extLst xmlns:a="http://schemas.openxmlformats.org/drawingml/2006/main">
              <a:ext uri="{FF2B5EF4-FFF2-40B4-BE49-F238E27FC236}">
                <a16:creationId xmlns:a16="http://schemas.microsoft.com/office/drawing/2014/main" id="{4750F213-C081-49C0-A9D4-B4247B7F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Ryan &amp; Deci (2020), 자기결정성이론 / Lent &amp; Brown (2019), 사회인지진로이론 / Gollwitzer &amp; Sheeran (2006), 실행의도 메타분석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86B7FFB9-0F21-4831-A5D7-78AA5E2B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852293B5-C98A-4C75-AA8A-613CA779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5032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나의 기준">
            <a:extLst xmlns:a="http://schemas.openxmlformats.org/drawingml/2006/main">
              <a:ext uri="{FF2B5EF4-FFF2-40B4-BE49-F238E27FC236}">
                <a16:creationId xmlns:a16="http://schemas.microsoft.com/office/drawing/2014/main" id="{BE726ACF-40E2-46E1-8405-E5A40847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503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나의 기준</a:t>
            </a:r>
          </a:p>
        </p:txBody>
      </p:sp>
      <p:sp>
        <p:nvSpPr>
          <p:cNvPr id="9" name="왜 일하려는지&#10;중요한 이유 하나">
            <a:extLst xmlns:a="http://schemas.openxmlformats.org/drawingml/2006/main">
              <a:ext uri="{FF2B5EF4-FFF2-40B4-BE49-F238E27FC236}">
                <a16:creationId xmlns:a16="http://schemas.microsoft.com/office/drawing/2014/main" id="{BD4D0396-E3E8-400C-87C7-DD6C8F9A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50323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왜 일하려는지</a:t>
            </a:r>
          </a:p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중요한 이유 하나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0AD3CA80-8EAB-4DC9-A19D-EA321695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3238500"/>
            <a:ext cx="5032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경험의 근거">
            <a:extLst xmlns:a="http://schemas.openxmlformats.org/drawingml/2006/main">
              <a:ext uri="{FF2B5EF4-FFF2-40B4-BE49-F238E27FC236}">
                <a16:creationId xmlns:a16="http://schemas.microsoft.com/office/drawing/2014/main" id="{1E0487FB-A1EC-4BD8-AFDB-2EA5C7C2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4333875"/>
            <a:ext cx="503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경험의 근거</a:t>
            </a:r>
          </a:p>
        </p:txBody>
      </p:sp>
      <p:sp>
        <p:nvSpPr>
          <p:cNvPr id="12" name="내가 직접 해본&#10;행동과 결과 하나">
            <a:extLst xmlns:a="http://schemas.openxmlformats.org/drawingml/2006/main">
              <a:ext uri="{FF2B5EF4-FFF2-40B4-BE49-F238E27FC236}">
                <a16:creationId xmlns:a16="http://schemas.microsoft.com/office/drawing/2014/main" id="{738D4654-3600-4381-9CC7-708D2699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5810250"/>
            <a:ext cx="50323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내가 직접 해본</a:t>
            </a:r>
          </a:p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행동과 결과 하나</a:t>
            </a:r>
          </a:p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C65EAA18-698E-4267-8616-36853C32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500" y="3238500"/>
            <a:ext cx="5032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다음 행동">
            <a:extLst xmlns:a="http://schemas.openxmlformats.org/drawingml/2006/main">
              <a:ext uri="{FF2B5EF4-FFF2-40B4-BE49-F238E27FC236}">
                <a16:creationId xmlns:a16="http://schemas.microsoft.com/office/drawing/2014/main" id="{0C73587A-67BC-49AA-8858-224DFBC0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500" y="4333875"/>
            <a:ext cx="503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다음 행동</a:t>
            </a:r>
          </a:p>
        </p:txBody>
      </p:sp>
      <p:sp>
        <p:nvSpPr>
          <p:cNvPr id="15" name="이번 주 시작할&#10;구체적인 행동 하나">
            <a:extLst xmlns:a="http://schemas.openxmlformats.org/drawingml/2006/main">
              <a:ext uri="{FF2B5EF4-FFF2-40B4-BE49-F238E27FC236}">
                <a16:creationId xmlns:a16="http://schemas.microsoft.com/office/drawing/2014/main" id="{EAB6AC0C-8C13-4E7C-95B7-4ECF6C15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500" y="5810250"/>
            <a:ext cx="50323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이번 주 시작할</a:t>
            </a:r>
          </a:p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구체적인 행동 하나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48F87-C795-44A5-976F-BCF45555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7" name="취업·이직·복귀 중 어떤 출발점에서도 사용할 수 있습니다.">
            <a:extLst xmlns:a="http://schemas.openxmlformats.org/drawingml/2006/main">
              <a:ext uri="{FF2B5EF4-FFF2-40B4-BE49-F238E27FC236}">
                <a16:creationId xmlns:a16="http://schemas.microsoft.com/office/drawing/2014/main" id="{2310A27B-6E40-4EBF-AC6C-EA939995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취업·이직·복귀 중 어떤 출발점에서도 사용할 수 있습니다.</a:t>
            </a:r>
          </a:p>
        </p:txBody>
      </p:sp>
      <p:sp xmlns:a="http://schemas.openxmlformats.org/drawingml/2006/main">
        <p:nvSpPr>
          <p:cNvPr id="19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20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26629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1교시 · 나의 방향">
            <a:extLst xmlns:a="http://schemas.openxmlformats.org/drawingml/2006/main">
              <a:ext uri="{FF2B5EF4-FFF2-40B4-BE49-F238E27FC236}">
                <a16:creationId xmlns:a16="http://schemas.microsoft.com/office/drawing/2014/main" id="{BD13A458-17F9-4380-8FBE-7467403A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1교시 · 나의 방향</a:t>
            </a:r>
          </a:p>
        </p:txBody>
      </p:sp>
      <p:sp>
        <p:nvSpPr>
          <p:cNvPr id="2" name="00:05–00:07  ·  2분">
            <a:extLst xmlns:a="http://schemas.openxmlformats.org/drawingml/2006/main">
              <a:ext uri="{FF2B5EF4-FFF2-40B4-BE49-F238E27FC236}">
                <a16:creationId xmlns:a16="http://schemas.microsoft.com/office/drawing/2014/main" id="{E44DB7F7-DD22-4BEE-89DF-5920B885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00:05–00:07  ·  2분</a:t>
            </a:r>
          </a:p>
        </p:txBody>
      </p:sp>
      <p:sp>
        <p:nvSpPr>
          <p:cNvPr id="3" name="4시간의 흐름과 참여 방법">
            <a:extLst xmlns:a="http://schemas.openxmlformats.org/drawingml/2006/main">
              <a:ext uri="{FF2B5EF4-FFF2-40B4-BE49-F238E27FC236}">
                <a16:creationId xmlns:a16="http://schemas.microsoft.com/office/drawing/2014/main" id="{2DA767CD-2AD4-40E9-9895-D93CE6E2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4시간의 흐름과 참여 방법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E2A2A-52B9-4E61-B2D9-55501300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개인 PC 활동과 강의 해설">
            <a:extLst xmlns:a="http://schemas.openxmlformats.org/drawingml/2006/main">
              <a:ext uri="{FF2B5EF4-FFF2-40B4-BE49-F238E27FC236}">
                <a16:creationId xmlns:a16="http://schemas.microsoft.com/office/drawing/2014/main" id="{F4B78597-4A63-4C87-98E3-98C5C7E0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개인 PC 활동과 강의 해설</a:t>
            </a:r>
          </a:p>
        </p:txBody>
      </p:sp>
      <p:sp>
        <p:nvSpPr>
          <p:cNvPr id="6" name="03">
            <a:extLst xmlns:a="http://schemas.openxmlformats.org/drawingml/2006/main">
              <a:ext uri="{FF2B5EF4-FFF2-40B4-BE49-F238E27FC236}">
                <a16:creationId xmlns:a16="http://schemas.microsoft.com/office/drawing/2014/main" id="{0CA0747B-12FC-4B20-B346-3FBF09F7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75A99-BB1B-4A17-85A4-BFB1DD9ABC78}"/>
              </a:ext>
            </a:extLst>
          </p:cNvPr>
          <p:cNvGraphicFramePr/>
          <p:nvPr/>
        </p:nvGraphicFramePr>
        <p:xfrm>
          <a:off xmlns:a="http://schemas.openxmlformats.org/drawingml/2006/main" x="952500" y="2762250"/>
          <a:ext xmlns:a="http://schemas.openxmlformats.org/drawingml/2006/main" cx="163830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5715000"/>
                <a:gridCol w="6953250"/>
              </a:tblGrid>
              <a:tr h="990600">
                <a:tc>
                  <a:txBody>
                    <a:bodyPr wrap="square"/>
                    <a:lstStyle/>
                    <a:p>
                      <a:r>
                        <a:rPr sz="262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주제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화면에 남는 것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990600"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00:00–00:50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삶과 일의 방향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나의 기준 문장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990600"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01:00–01:50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경험 속 강점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경험과 행동의 근거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990600"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02:00–02:50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직무를 작게 경험하기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연습 결과와 준비 과제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990600"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03:00–04:00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지원과 실행 계획, 마무리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주 행동 계획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2C82F-0E06-47C7-81E9-C563491A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9" name="각 교시 사이 10분 휴식 · 긴 글쓰기와 조별 발표는 없습니다.">
            <a:extLst xmlns:a="http://schemas.openxmlformats.org/drawingml/2006/main">
              <a:ext uri="{FF2B5EF4-FFF2-40B4-BE49-F238E27FC236}">
                <a16:creationId xmlns:a16="http://schemas.microsoft.com/office/drawing/2014/main" id="{24FCD8A8-030E-42D4-9FA6-4F1F3EB3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각 교시 사이 10분 휴식 · 긴 글쓰기와 조별 발표는 없습니다.</a:t>
            </a:r>
          </a:p>
        </p:txBody>
      </p:sp>
      <p:sp xmlns:a="http://schemas.openxmlformats.org/drawingml/2006/main">
        <p:nvSpPr>
          <p:cNvPr id="11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2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1806515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1교시 · 나의 방향">
            <a:extLst xmlns:a="http://schemas.openxmlformats.org/drawingml/2006/main">
              <a:ext uri="{FF2B5EF4-FFF2-40B4-BE49-F238E27FC236}">
                <a16:creationId xmlns:a16="http://schemas.microsoft.com/office/drawing/2014/main" id="{6BB466DD-B178-40EF-9D33-ADE133FD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1교시 · 나의 방향</a:t>
            </a:r>
          </a:p>
        </p:txBody>
      </p:sp>
      <p:sp>
        <p:nvSpPr>
          <p:cNvPr id="2" name="00:07–00:11  ·  4분">
            <a:extLst xmlns:a="http://schemas.openxmlformats.org/drawingml/2006/main">
              <a:ext uri="{FF2B5EF4-FFF2-40B4-BE49-F238E27FC236}">
                <a16:creationId xmlns:a16="http://schemas.microsoft.com/office/drawing/2014/main" id="{74273664-C141-43EF-B9B7-9C89AE8B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00:07–00:11  ·  4분</a:t>
            </a:r>
          </a:p>
        </p:txBody>
      </p:sp>
      <p:sp>
        <p:nvSpPr>
          <p:cNvPr id="3" name="지금 취업 준비에서 막히는 것은?">
            <a:extLst xmlns:a="http://schemas.openxmlformats.org/drawingml/2006/main">
              <a:ext uri="{FF2B5EF4-FFF2-40B4-BE49-F238E27FC236}">
                <a16:creationId xmlns:a16="http://schemas.microsoft.com/office/drawing/2014/main" id="{C6F13AE1-48F5-441B-AE19-46511B43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지금 취업 준비에서 막히는 것은?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5CEEB-F16D-4788-B8A9-F502EB64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화면 설계 예시 · 현재 상태를 살피는 활동이며 심리검사가 아닙니다.">
            <a:extLst xmlns:a="http://schemas.openxmlformats.org/drawingml/2006/main">
              <a:ext uri="{FF2B5EF4-FFF2-40B4-BE49-F238E27FC236}">
                <a16:creationId xmlns:a16="http://schemas.microsoft.com/office/drawing/2014/main" id="{9BFA7773-F2D2-4DE7-9A28-4AABED15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화면 설계 예시 · 현재 상태를 살피는 활동이며 심리검사가 아닙니다.</a:t>
            </a:r>
          </a:p>
        </p:txBody>
      </p:sp>
      <p:sp>
        <p:nvSpPr>
          <p:cNvPr id="6" name="04">
            <a:extLst xmlns:a="http://schemas.openxmlformats.org/drawingml/2006/main">
              <a:ext uri="{FF2B5EF4-FFF2-40B4-BE49-F238E27FC236}">
                <a16:creationId xmlns:a16="http://schemas.microsoft.com/office/drawing/2014/main" id="{E873D40B-BCBC-4DAA-A350-0A42A264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2DE2A-1C94-4514-8460-A45B25EA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6383000" cy="4953000"/>
          </a:xfrm>
          <a:prstGeom xmlns:a="http://schemas.openxmlformats.org/drawingml/2006/main" prst="rect">
            <a:avLst/>
          </a:prstGeom>
          <ns0:noFill xmlns:ns0="http://schemas.openxmlformats.org/drawingml/2006/main"/>
          <a:ln xmlns:a="http://schemas.openxmlformats.org/drawingml/2006/main" w="1905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5AF2C-C291-4DF6-B3FD-5E1767FB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6383000" cy="619125"/>
          </a:xfrm>
          <a:prstGeom xmlns:a="http://schemas.openxmlformats.org/drawingml/2006/main" prst="rect">
            <a:avLst/>
          </a:prstGeom>
          <ns0:noFill xmlns:ns0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개인 화면 · 지금 가까운 문장을 최대 두 개 선택">
            <a:extLst xmlns:a="http://schemas.openxmlformats.org/drawingml/2006/main">
              <a:ext uri="{FF2B5EF4-FFF2-40B4-BE49-F238E27FC236}">
                <a16:creationId xmlns:a16="http://schemas.microsoft.com/office/drawing/2014/main" id="{306825F0-90E0-45E8-906E-72CDFDD2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05125"/>
            <a:ext cx="1592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개인 화면 · 지금 가까운 문장을 최대 두 개 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35985-310F-45BA-A462-3B8AB255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81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11" name="할 일은 많은데 무엇부터 시작할지 모르겠어요.">
            <a:extLst xmlns:a="http://schemas.openxmlformats.org/drawingml/2006/main">
              <a:ext uri="{FF2B5EF4-FFF2-40B4-BE49-F238E27FC236}">
                <a16:creationId xmlns:a16="http://schemas.microsoft.com/office/drawing/2014/main" id="{D13288A0-1276-401F-A027-2F1717D8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14750"/>
            <a:ext cx="14916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할 일은 많은데 무엇부터 시작할지 모르겠어요.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C0967-5D51-4907-936D-DB0B9A7F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13" name="지원하거나 도전해도 될지 자신이 없어요.">
            <a:extLst xmlns:a="http://schemas.openxmlformats.org/drawingml/2006/main">
              <a:ext uri="{FF2B5EF4-FFF2-40B4-BE49-F238E27FC236}">
                <a16:creationId xmlns:a16="http://schemas.microsoft.com/office/drawing/2014/main" id="{C1DC2AA2-E51C-4FC9-9F7C-238EC504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95825"/>
            <a:ext cx="14916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지원하거나 도전해도 될지 자신이 없어요.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04A34-09C0-49E9-AA03-697FDE0C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435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15" name="내 경험을 어디에 활용할지 모르겠어요.">
            <a:extLst xmlns:a="http://schemas.openxmlformats.org/drawingml/2006/main">
              <a:ext uri="{FF2B5EF4-FFF2-40B4-BE49-F238E27FC236}">
                <a16:creationId xmlns:a16="http://schemas.microsoft.com/office/drawing/2014/main" id="{820F84BA-0751-43C6-AD82-95FEB6BA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76900"/>
            <a:ext cx="14916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내 경험을 어디에 활용할지 모르겠어요.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1D6BE-1B69-416A-A286-2CC31B60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246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17" name="내 삶에 맞는 일의 방향이 아직 흐릿해요.">
            <a:extLst xmlns:a="http://schemas.openxmlformats.org/drawingml/2006/main">
              <a:ext uri="{FF2B5EF4-FFF2-40B4-BE49-F238E27FC236}">
                <a16:creationId xmlns:a16="http://schemas.microsoft.com/office/drawing/2014/main" id="{418F1504-F008-40F0-8B94-B30586DB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657975"/>
            <a:ext cx="14916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내 삶에 맞는 일의 방향이 아직 흐릿해요.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393222-6BEB-4892-BFE1-CBBF8DD2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9" name="여러 상황이 겹칠 수 있고, 다음 주에는 달라질 수도 있습니다.">
            <a:extLst xmlns:a="http://schemas.openxmlformats.org/drawingml/2006/main">
              <a:ext uri="{FF2B5EF4-FFF2-40B4-BE49-F238E27FC236}">
                <a16:creationId xmlns:a16="http://schemas.microsoft.com/office/drawing/2014/main" id="{B92C7E64-07BB-48A4-8141-8A110884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여러 상황이 겹칠 수 있고, 다음 주에는 달라질 수도 있습니다.</a:t>
            </a:r>
          </a:p>
        </p:txBody>
      </p:sp>
      <p:sp xmlns:a="http://schemas.openxmlformats.org/drawingml/2006/main">
        <p:nvSpPr>
          <p:cNvPr id="21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22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5781787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1교시 · 나의 방향">
            <a:extLst xmlns:a="http://schemas.openxmlformats.org/drawingml/2006/main">
              <a:ext uri="{FF2B5EF4-FFF2-40B4-BE49-F238E27FC236}">
                <a16:creationId xmlns:a16="http://schemas.microsoft.com/office/drawing/2014/main" id="{E43DF102-9473-41F7-BF5E-8308D05B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1교시 · 나의 방향</a:t>
            </a:r>
          </a:p>
        </p:txBody>
      </p:sp>
      <p:sp>
        <p:nvSpPr>
          <p:cNvPr id="2" name="00:11–00:14  ·  3분">
            <a:extLst xmlns:a="http://schemas.openxmlformats.org/drawingml/2006/main">
              <a:ext uri="{FF2B5EF4-FFF2-40B4-BE49-F238E27FC236}">
                <a16:creationId xmlns:a16="http://schemas.microsoft.com/office/drawing/2014/main" id="{306A60A2-459C-42A9-BD02-D69C72FF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00:11–00:14  ·  3분</a:t>
            </a:r>
          </a:p>
        </p:txBody>
      </p:sp>
      <p:sp>
        <p:nvSpPr>
          <p:cNvPr id="3" name="지금 필요한 도움에 따른 네 가지 상황">
            <a:extLst xmlns:a="http://schemas.openxmlformats.org/drawingml/2006/main">
              <a:ext uri="{FF2B5EF4-FFF2-40B4-BE49-F238E27FC236}">
                <a16:creationId xmlns:a16="http://schemas.microsoft.com/office/drawing/2014/main" id="{88646252-A980-4916-BBA8-7D4429DD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지금 필요한 도움에 따른 네 가지 상황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3B1D5-C7F0-4A23-8E5B-0E982759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Gati et al. (1996), Lent &amp; Brown (2019) 참고 · 네 명칭은">
            <a:extLst xmlns:a="http://schemas.openxmlformats.org/drawingml/2006/main">
              <a:ext uri="{FF2B5EF4-FFF2-40B4-BE49-F238E27FC236}">
                <a16:creationId xmlns:a16="http://schemas.microsoft.com/office/drawing/2014/main" id="{89E9B703-7760-413A-AB5A-B1BB38FF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Gati et al. (1996), Lent &amp; Brown (2019) 참고 · 네 명칭은 강의용 재구성으로 검증된 유형이 아닙니다.</a:t>
            </a:r>
          </a:p>
        </p:txBody>
      </p:sp>
      <p:sp>
        <p:nvSpPr>
          <p:cNvPr id="6" name="05">
            <a:extLst xmlns:a="http://schemas.openxmlformats.org/drawingml/2006/main">
              <a:ext uri="{FF2B5EF4-FFF2-40B4-BE49-F238E27FC236}">
                <a16:creationId xmlns:a16="http://schemas.microsoft.com/office/drawing/2014/main" id="{0E5AEC8C-A6FA-4E6B-8FAE-F54DF8A9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7" name="우선순위 정리형">
            <a:extLst xmlns:a="http://schemas.openxmlformats.org/drawingml/2006/main">
              <a:ext uri="{FF2B5EF4-FFF2-40B4-BE49-F238E27FC236}">
                <a16:creationId xmlns:a16="http://schemas.microsoft.com/office/drawing/2014/main" id="{82C224F4-ED9A-4CA8-930D-25677E84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395287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우선순위 정리형</a:t>
            </a:r>
          </a:p>
        </p:txBody>
      </p:sp>
      <p:sp>
        <p:nvSpPr>
          <p:cNvPr id="8" name="“하나를 먼저 정하면 시작할 수 있을 것 같아요.”">
            <a:extLst xmlns:a="http://schemas.openxmlformats.org/drawingml/2006/main">
              <a:ext uri="{FF2B5EF4-FFF2-40B4-BE49-F238E27FC236}">
                <a16:creationId xmlns:a16="http://schemas.microsoft.com/office/drawing/2014/main" id="{60E8BEDA-D862-462B-BF88-41EA549C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62250"/>
            <a:ext cx="11953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“하나를 먼저 정하면 시작할 수 있을 것 같아요.”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25DA4-CD4C-4E54-B871-7B65F6F3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48100"/>
            <a:ext cx="16287750" cy="9525"/>
          </a:xfrm>
          <a:custGeom xmlns:a="http://schemas.openxmlformats.org/drawingml/2006/main">
            <a:pathLst>
              <a:path w="16287750" h="9525">
                <a:moveTo>
                  <a:pt x="0" y="0"/>
                </a:moveTo>
                <a:lnTo>
                  <a:pt x="1628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6DB"/>
            </a:solidFill>
          </a:ln>
        </p:spPr>
      </p:sp>
      <p:sp>
        <p:nvSpPr>
          <p:cNvPr id="10" name="자신감 확인형">
            <a:extLst xmlns:a="http://schemas.openxmlformats.org/drawingml/2006/main">
              <a:ext uri="{FF2B5EF4-FFF2-40B4-BE49-F238E27FC236}">
                <a16:creationId xmlns:a16="http://schemas.microsoft.com/office/drawing/2014/main" id="{943021FD-8224-43CD-94F8-6BF89CF1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86225"/>
            <a:ext cx="395287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자신감 확인형</a:t>
            </a:r>
          </a:p>
        </p:txBody>
      </p:sp>
      <p:sp>
        <p:nvSpPr>
          <p:cNvPr id="11" name="“내가 해본 것과 가능한 수준을 확인하고 싶어요.”">
            <a:extLst xmlns:a="http://schemas.openxmlformats.org/drawingml/2006/main">
              <a:ext uri="{FF2B5EF4-FFF2-40B4-BE49-F238E27FC236}">
                <a16:creationId xmlns:a16="http://schemas.microsoft.com/office/drawing/2014/main" id="{42783C83-6F2A-4CA5-91B9-A8286C71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86225"/>
            <a:ext cx="11953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“내가 해본 것과 가능한 수준을 확인하고 싶어요.”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6235D-0D82-4D29-A0CD-B0083531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72075"/>
            <a:ext cx="16287750" cy="9525"/>
          </a:xfrm>
          <a:custGeom xmlns:a="http://schemas.openxmlformats.org/drawingml/2006/main">
            <a:pathLst>
              <a:path w="16287750" h="9525">
                <a:moveTo>
                  <a:pt x="0" y="0"/>
                </a:moveTo>
                <a:lnTo>
                  <a:pt x="1628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6DB"/>
            </a:solidFill>
          </a:ln>
        </p:spPr>
      </p:sp>
      <p:sp>
        <p:nvSpPr>
          <p:cNvPr id="13" name="경험 연결형">
            <a:extLst xmlns:a="http://schemas.openxmlformats.org/drawingml/2006/main">
              <a:ext uri="{FF2B5EF4-FFF2-40B4-BE49-F238E27FC236}">
                <a16:creationId xmlns:a16="http://schemas.microsoft.com/office/drawing/2014/main" id="{A5711AA9-319D-4086-844D-40BA00AB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0200"/>
            <a:ext cx="395287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경험 연결형</a:t>
            </a:r>
          </a:p>
        </p:txBody>
      </p:sp>
      <p:sp>
        <p:nvSpPr>
          <p:cNvPr id="14" name="“내 경험이 어떤 업무에 쓰이는지 알고 싶어요.”">
            <a:extLst xmlns:a="http://schemas.openxmlformats.org/drawingml/2006/main">
              <a:ext uri="{FF2B5EF4-FFF2-40B4-BE49-F238E27FC236}">
                <a16:creationId xmlns:a16="http://schemas.microsoft.com/office/drawing/2014/main" id="{E6DB2D59-D656-4A1E-BBD7-E1B63A39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410200"/>
            <a:ext cx="11953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“내 경험이 어떤 업무에 쓰이는지 알고 싶어요.”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9F715-AE81-4D27-BCA1-54515042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96050"/>
            <a:ext cx="16287750" cy="9525"/>
          </a:xfrm>
          <a:custGeom xmlns:a="http://schemas.openxmlformats.org/drawingml/2006/main">
            <a:pathLst>
              <a:path w="16287750" h="9525">
                <a:moveTo>
                  <a:pt x="0" y="0"/>
                </a:moveTo>
                <a:lnTo>
                  <a:pt x="1628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6DB"/>
            </a:solidFill>
          </a:ln>
        </p:spPr>
      </p:sp>
      <p:sp>
        <p:nvSpPr>
          <p:cNvPr id="16" name="방향 탐색형">
            <a:extLst xmlns:a="http://schemas.openxmlformats.org/drawingml/2006/main">
              <a:ext uri="{FF2B5EF4-FFF2-40B4-BE49-F238E27FC236}">
                <a16:creationId xmlns:a16="http://schemas.microsoft.com/office/drawing/2014/main" id="{0D135D6D-81C3-47BF-AD1E-AE31C168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34175"/>
            <a:ext cx="395287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방향 탐색형</a:t>
            </a:r>
          </a:p>
        </p:txBody>
      </p:sp>
      <p:sp>
        <p:nvSpPr>
          <p:cNvPr id="17" name="“어떤 생활과 일을 원하는지 정리하고 싶어요.”">
            <a:extLst xmlns:a="http://schemas.openxmlformats.org/drawingml/2006/main">
              <a:ext uri="{FF2B5EF4-FFF2-40B4-BE49-F238E27FC236}">
                <a16:creationId xmlns:a16="http://schemas.microsoft.com/office/drawing/2014/main" id="{2524C1C9-F2E4-40F7-BD64-36591A19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734175"/>
            <a:ext cx="11953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“어떤 생활과 일을 원하는지 정리하고 싶어요.”</a:t>
            </a:r>
          </a:p>
        </p:txBody>
      </p:sp>
      <p:sp xmlns:a="http://schemas.openxmlformats.org/drawingml/2006/main">
        <p:nvSpPr>
          <p:cNvPr id="19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20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3993754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1교시 · 나의 방향">
            <a:extLst xmlns:a="http://schemas.openxmlformats.org/drawingml/2006/main">
              <a:ext uri="{FF2B5EF4-FFF2-40B4-BE49-F238E27FC236}">
                <a16:creationId xmlns:a16="http://schemas.microsoft.com/office/drawing/2014/main" id="{BCFFD1DC-59D7-48A7-BCBC-E25C6E6E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1교시 · 나의 방향</a:t>
            </a:r>
          </a:p>
        </p:txBody>
      </p:sp>
      <p:sp>
        <p:nvSpPr>
          <p:cNvPr id="2" name="00:14–00:20  ·  6분">
            <a:extLst xmlns:a="http://schemas.openxmlformats.org/drawingml/2006/main">
              <a:ext uri="{FF2B5EF4-FFF2-40B4-BE49-F238E27FC236}">
                <a16:creationId xmlns:a16="http://schemas.microsoft.com/office/drawing/2014/main" id="{BE1102DA-89BC-465A-9E17-4493F1C3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00:14–00:20  ·  6분</a:t>
            </a:r>
          </a:p>
        </p:txBody>
      </p:sp>
      <p:sp>
        <p:nvSpPr>
          <p:cNvPr id="3" name="출발점은 달라도 비슷한 질문을 합니다">
            <a:extLst xmlns:a="http://schemas.openxmlformats.org/drawingml/2006/main">
              <a:ext uri="{FF2B5EF4-FFF2-40B4-BE49-F238E27FC236}">
                <a16:creationId xmlns:a16="http://schemas.microsoft.com/office/drawing/2014/main" id="{B8D03438-0F70-4210-9D8D-04183ABA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출발점은 달라도 비슷한 질문을 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4A8B3-9AAF-4037-84BC-D5C6554A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모든 인물과 발언은 교육용 가상 사례입니다.">
            <a:extLst xmlns:a="http://schemas.openxmlformats.org/drawingml/2006/main">
              <a:ext uri="{FF2B5EF4-FFF2-40B4-BE49-F238E27FC236}">
                <a16:creationId xmlns:a16="http://schemas.microsoft.com/office/drawing/2014/main" id="{901A0298-700D-46EB-8707-95699045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모든 인물과 발언은 교육용 가상 사례입니다.</a:t>
            </a:r>
          </a:p>
        </p:txBody>
      </p:sp>
      <p:sp>
        <p:nvSpPr>
          <p:cNvPr id="6" name="06">
            <a:extLst xmlns:a="http://schemas.openxmlformats.org/drawingml/2006/main">
              <a:ext uri="{FF2B5EF4-FFF2-40B4-BE49-F238E27FC236}">
                <a16:creationId xmlns:a16="http://schemas.microsoft.com/office/drawing/2014/main" id="{505C57D4-328E-410B-B8F5-79B0B184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A">
            <a:extLst xmlns:a="http://schemas.openxmlformats.org/drawingml/2006/main">
              <a:ext uri="{FF2B5EF4-FFF2-40B4-BE49-F238E27FC236}">
                <a16:creationId xmlns:a16="http://schemas.microsoft.com/office/drawing/2014/main" id="{16DB0CD0-9E29-4189-A507-1FBFEEE1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9875"/>
            <a:ext cx="142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7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7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8" name="첫 취업">
            <a:extLst xmlns:a="http://schemas.openxmlformats.org/drawingml/2006/main">
              <a:ext uri="{FF2B5EF4-FFF2-40B4-BE49-F238E27FC236}">
                <a16:creationId xmlns:a16="http://schemas.microsoft.com/office/drawing/2014/main" id="{3D8A6563-AF29-4892-BEAA-7CC7476D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첫 취업</a:t>
            </a:r>
          </a:p>
        </p:txBody>
      </p:sp>
      <p:sp>
        <p:nvSpPr>
          <p:cNvPr id="9" name="“경험이 적어서&#10;어디에 지원할지&#10;막막해요.”">
            <a:extLst xmlns:a="http://schemas.openxmlformats.org/drawingml/2006/main">
              <a:ext uri="{FF2B5EF4-FFF2-40B4-BE49-F238E27FC236}">
                <a16:creationId xmlns:a16="http://schemas.microsoft.com/office/drawing/2014/main" id="{6EA827AF-6B7B-4E9A-8B25-FAFB87C8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481012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“경험이 적어서</a:t>
            </a:r>
          </a:p>
          <a:p xmlns:a="http://schemas.openxmlformats.org/drawingml/2006/main">
            <a:pPr algn="l">
              <a:defRPr sz="36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어디에 지원할지</a:t>
            </a:r>
          </a:p>
          <a:p xmlns:a="http://schemas.openxmlformats.org/drawingml/2006/main">
            <a:pPr algn="l">
              <a:defRPr sz="36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막막해요.”</a:t>
            </a:r>
          </a:p>
        </p:txBody>
      </p:sp>
      <p:sp>
        <p:nvSpPr>
          <p:cNvPr id="10" name="훈련 과제와 아르바이트 경험">
            <a:extLst xmlns:a="http://schemas.openxmlformats.org/drawingml/2006/main">
              <a:ext uri="{FF2B5EF4-FFF2-40B4-BE49-F238E27FC236}">
                <a16:creationId xmlns:a16="http://schemas.microsoft.com/office/drawing/2014/main" id="{C5FCCC0C-1F23-4C7A-8D09-8CFFD507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훈련 과제와 아르바이트 경험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0CB79-4F10-41BF-933D-220EB515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57500"/>
            <a:ext cx="9525" cy="4810125"/>
          </a:xfrm>
          <a:custGeom xmlns:a="http://schemas.openxmlformats.org/drawingml/2006/main">
            <a:pathLst>
              <a:path w="9525" h="4810125">
                <a:moveTo>
                  <a:pt x="0" y="0"/>
                </a:moveTo>
                <a:lnTo>
                  <a:pt x="0" y="48101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2" name="B">
            <a:extLst xmlns:a="http://schemas.openxmlformats.org/drawingml/2006/main">
              <a:ext uri="{FF2B5EF4-FFF2-40B4-BE49-F238E27FC236}">
                <a16:creationId xmlns:a16="http://schemas.microsoft.com/office/drawing/2014/main" id="{3C4A24E3-E864-4CF3-9754-D90EFD43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09875"/>
            <a:ext cx="142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7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7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B</a:t>
            </a:r>
          </a:p>
        </p:txBody>
      </p:sp>
      <p:sp>
        <p:nvSpPr>
          <p:cNvPr id="13" name="이직">
            <a:extLst xmlns:a="http://schemas.openxmlformats.org/drawingml/2006/main">
              <a:ext uri="{FF2B5EF4-FFF2-40B4-BE49-F238E27FC236}">
                <a16:creationId xmlns:a16="http://schemas.microsoft.com/office/drawing/2014/main" id="{0C1B453E-C8CB-4B1C-9262-33F56382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432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이직</a:t>
            </a:r>
          </a:p>
        </p:txBody>
      </p:sp>
      <p:sp>
        <p:nvSpPr>
          <p:cNvPr id="14" name="“일은 하고 있지만&#10;계속 이 방향으로&#10;가도 될까요?”">
            <a:extLst xmlns:a="http://schemas.openxmlformats.org/drawingml/2006/main">
              <a:ext uri="{FF2B5EF4-FFF2-40B4-BE49-F238E27FC236}">
                <a16:creationId xmlns:a16="http://schemas.microsoft.com/office/drawing/2014/main" id="{F0C58A01-980E-4A63-BC21-209259C7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72000"/>
            <a:ext cx="481012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“일은 하고 있지만</a:t>
            </a:r>
          </a:p>
          <a:p xmlns:a="http://schemas.openxmlformats.org/drawingml/2006/main">
            <a:pPr algn="l">
              <a:defRPr sz="36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계속 이 방향으로</a:t>
            </a:r>
          </a:p>
          <a:p xmlns:a="http://schemas.openxmlformats.org/drawingml/2006/main">
            <a:pPr algn="l">
              <a:defRPr sz="36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가도 될까요?”</a:t>
            </a:r>
          </a:p>
        </p:txBody>
      </p:sp>
      <p:sp>
        <p:nvSpPr>
          <p:cNvPr id="15" name="현재 업무와 새롭게 원하는 조건">
            <a:extLst xmlns:a="http://schemas.openxmlformats.org/drawingml/2006/main">
              <a:ext uri="{FF2B5EF4-FFF2-40B4-BE49-F238E27FC236}">
                <a16:creationId xmlns:a16="http://schemas.microsoft.com/office/drawing/2014/main" id="{462CCDB5-8B88-469D-AA25-D74DCFD2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72390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현재 업무와 새롭게 원하는 조건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53DDAD-CC6A-4096-A7F6-272B0E00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857500"/>
            <a:ext cx="9525" cy="4810125"/>
          </a:xfrm>
          <a:custGeom xmlns:a="http://schemas.openxmlformats.org/drawingml/2006/main">
            <a:pathLst>
              <a:path w="9525" h="4810125">
                <a:moveTo>
                  <a:pt x="0" y="0"/>
                </a:moveTo>
                <a:lnTo>
                  <a:pt x="0" y="48101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7" name="C">
            <a:extLst xmlns:a="http://schemas.openxmlformats.org/drawingml/2006/main">
              <a:ext uri="{FF2B5EF4-FFF2-40B4-BE49-F238E27FC236}">
                <a16:creationId xmlns:a16="http://schemas.microsoft.com/office/drawing/2014/main" id="{A9A53F4F-416E-4063-97CC-721E0AE1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809875"/>
            <a:ext cx="142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7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7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18" name="복귀">
            <a:extLst xmlns:a="http://schemas.openxmlformats.org/drawingml/2006/main">
              <a:ext uri="{FF2B5EF4-FFF2-40B4-BE49-F238E27FC236}">
                <a16:creationId xmlns:a16="http://schemas.microsoft.com/office/drawing/2014/main" id="{A6C8DF23-8BB8-4A46-83F7-1958EEDD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sp>
        <p:nvSpPr>
          <p:cNvPr id="19" name="“공백 이후에&#10;무엇부터 준비할지&#10;잘 모르겠어요.”">
            <a:extLst xmlns:a="http://schemas.openxmlformats.org/drawingml/2006/main">
              <a:ext uri="{FF2B5EF4-FFF2-40B4-BE49-F238E27FC236}">
                <a16:creationId xmlns:a16="http://schemas.microsoft.com/office/drawing/2014/main" id="{6B614039-437D-4A42-A12E-7E1940B3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572000"/>
            <a:ext cx="481012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“공백 이후에</a:t>
            </a:r>
          </a:p>
          <a:p xmlns:a="http://schemas.openxmlformats.org/drawingml/2006/main">
            <a:pPr algn="l">
              <a:defRPr sz="36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무엇부터 준비할지</a:t>
            </a:r>
          </a:p>
          <a:p xmlns:a="http://schemas.openxmlformats.org/drawingml/2006/main">
            <a:pPr algn="l">
              <a:defRPr sz="36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잘 모르겠어요.”</a:t>
            </a:r>
          </a:p>
        </p:txBody>
      </p:sp>
      <p:sp>
        <p:nvSpPr>
          <p:cNvPr id="20" name="과거와 최근 경험, 현재의 조건">
            <a:extLst xmlns:a="http://schemas.openxmlformats.org/drawingml/2006/main">
              <a:ext uri="{FF2B5EF4-FFF2-40B4-BE49-F238E27FC236}">
                <a16:creationId xmlns:a16="http://schemas.microsoft.com/office/drawing/2014/main" id="{75039AAF-97FD-4214-A55D-AFE94FF0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2390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과거와 최근 경험, 현재의 조건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DE1D8F-D1B6-452D-86E0-1F69CF6A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22" name="공통 질문: 나는 어떤 생활을 원하며, 일은 거기에 어떻게 연결될까?">
            <a:extLst xmlns:a="http://schemas.openxmlformats.org/drawingml/2006/main">
              <a:ext uri="{FF2B5EF4-FFF2-40B4-BE49-F238E27FC236}">
                <a16:creationId xmlns:a16="http://schemas.microsoft.com/office/drawing/2014/main" id="{6FDE29B3-741B-4285-AED1-26A42DAC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공통 질문: 나는 어떤 생활을 원하며, 일은 거기에 어떻게 연결될까?</a:t>
            </a:r>
          </a:p>
        </p:txBody>
      </p:sp>
      <p:sp xmlns:a="http://schemas.openxmlformats.org/drawingml/2006/main">
        <p:nvSpPr>
          <p:cNvPr id="24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25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8168835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1교시 · 나의 방향">
            <a:extLst xmlns:a="http://schemas.openxmlformats.org/drawingml/2006/main">
              <a:ext uri="{FF2B5EF4-FFF2-40B4-BE49-F238E27FC236}">
                <a16:creationId xmlns:a16="http://schemas.microsoft.com/office/drawing/2014/main" id="{6CDDFD89-0CF0-4428-BE61-E816DBDD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1교시 · 나의 방향</a:t>
            </a:r>
          </a:p>
        </p:txBody>
      </p:sp>
      <p:sp>
        <p:nvSpPr>
          <p:cNvPr id="2" name="00:20–00:22  ·  2분">
            <a:extLst xmlns:a="http://schemas.openxmlformats.org/drawingml/2006/main">
              <a:ext uri="{FF2B5EF4-FFF2-40B4-BE49-F238E27FC236}">
                <a16:creationId xmlns:a16="http://schemas.microsoft.com/office/drawing/2014/main" id="{1097A86B-40DE-45B2-82DE-D9016D21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00:20–00:22  ·  2분</a:t>
            </a:r>
          </a:p>
        </p:txBody>
      </p:sp>
      <p:sp>
        <p:nvSpPr>
          <p:cNvPr id="3" name="사례의 핵심은 삶의 방향성입니다">
            <a:extLst xmlns:a="http://schemas.openxmlformats.org/drawingml/2006/main">
              <a:ext uri="{FF2B5EF4-FFF2-40B4-BE49-F238E27FC236}">
                <a16:creationId xmlns:a16="http://schemas.microsoft.com/office/drawing/2014/main" id="{4538ACC6-EEAF-41D1-85C1-0774B9F5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사례의 핵심은 삶의 방향성입니다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8E54A-A61E-4973-BC32-D1E3F70C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Savickas et al. (2009), 생애설계 / Ryan &amp; Deci">
            <a:extLst xmlns:a="http://schemas.openxmlformats.org/drawingml/2006/main">
              <a:ext uri="{FF2B5EF4-FFF2-40B4-BE49-F238E27FC236}">
                <a16:creationId xmlns:a16="http://schemas.microsoft.com/office/drawing/2014/main" id="{24659FC1-3B2D-48DF-96E7-8D0AA881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Savickas et al. (2009), 생애설계 / Ryan &amp; Deci (2020), 자기결정성이론</a:t>
            </a:r>
          </a:p>
        </p:txBody>
      </p:sp>
      <p:sp>
        <p:nvSpPr>
          <p:cNvPr id="6" name="07">
            <a:extLst xmlns:a="http://schemas.openxmlformats.org/drawingml/2006/main">
              <a:ext uri="{FF2B5EF4-FFF2-40B4-BE49-F238E27FC236}">
                <a16:creationId xmlns:a16="http://schemas.microsoft.com/office/drawing/2014/main" id="{CC179F7E-EF94-4AF2-9026-9DBB4316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7" name="어떤 삶을 살고 싶은가">
            <a:extLst xmlns:a="http://schemas.openxmlformats.org/drawingml/2006/main">
              <a:ext uri="{FF2B5EF4-FFF2-40B4-BE49-F238E27FC236}">
                <a16:creationId xmlns:a16="http://schemas.microsoft.com/office/drawing/2014/main" id="{AA5899C1-38F9-4F0F-9798-94E3D24E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590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5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55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55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어떤 삶을 살고 싶은가</a:t>
            </a:r>
          </a:p>
        </p:txBody>
      </p:sp>
      <p:sp>
        <p:nvSpPr>
          <p:cNvPr id="8" name="그 생활을 위해 어떤 일이 필요한가">
            <a:extLst xmlns:a="http://schemas.openxmlformats.org/drawingml/2006/main">
              <a:ext uri="{FF2B5EF4-FFF2-40B4-BE49-F238E27FC236}">
                <a16:creationId xmlns:a16="http://schemas.microsoft.com/office/drawing/2014/main" id="{42583F4F-2444-4298-8A52-1EA0D512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1609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그 생활을 위해 어떤 일이 필요한가</a:t>
            </a:r>
          </a:p>
        </p:txBody>
      </p:sp>
      <p:sp>
        <p:nvSpPr>
          <p:cNvPr id="9" name="지금 확인할 수 있는 선택은 무엇인가">
            <a:extLst xmlns:a="http://schemas.openxmlformats.org/drawingml/2006/main">
              <a:ext uri="{FF2B5EF4-FFF2-40B4-BE49-F238E27FC236}">
                <a16:creationId xmlns:a16="http://schemas.microsoft.com/office/drawing/2014/main" id="{A9D353BD-D048-4DEF-BC4D-35308803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0"/>
            <a:ext cx="1609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지금 확인할 수 있는 선택은 무엇인가</a:t>
            </a:r>
          </a:p>
        </p:txBody>
      </p:sp>
      <p:sp xmlns:a="http://schemas.openxmlformats.org/drawingml/2006/main">
        <p:nvSpPr>
          <p:cNvPr id="11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2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2037501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1교시 · 나의 방향">
            <a:extLst xmlns:a="http://schemas.openxmlformats.org/drawingml/2006/main">
              <a:ext uri="{FF2B5EF4-FFF2-40B4-BE49-F238E27FC236}">
                <a16:creationId xmlns:a16="http://schemas.microsoft.com/office/drawing/2014/main" id="{57917488-BAB7-43A7-87E8-7369EDC9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1교시 · 나의 방향</a:t>
            </a:r>
          </a:p>
        </p:txBody>
      </p:sp>
      <p:sp>
        <p:nvSpPr>
          <p:cNvPr id="2" name="00:22–00:27  ·  5분">
            <a:extLst xmlns:a="http://schemas.openxmlformats.org/drawingml/2006/main">
              <a:ext uri="{FF2B5EF4-FFF2-40B4-BE49-F238E27FC236}">
                <a16:creationId xmlns:a16="http://schemas.microsoft.com/office/drawing/2014/main" id="{E29AE140-5A04-400A-8FF9-792D0385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00:22–00:27  ·  5분</a:t>
            </a:r>
          </a:p>
        </p:txBody>
      </p:sp>
      <p:sp>
        <p:nvSpPr>
          <p:cNvPr id="3" name="동기를 지지하는 세 가지 경험">
            <a:extLst xmlns:a="http://schemas.openxmlformats.org/drawingml/2006/main">
              <a:ext uri="{FF2B5EF4-FFF2-40B4-BE49-F238E27FC236}">
                <a16:creationId xmlns:a16="http://schemas.microsoft.com/office/drawing/2014/main" id="{7C9B687D-F7ED-485B-A2C0-CC030D90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동기를 지지하는 세 가지 경험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BF78A-6A4D-41C9-B669-EAD3CF6F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Ryan &amp; Deci (2020), 자기결정성이론">
            <a:extLst xmlns:a="http://schemas.openxmlformats.org/drawingml/2006/main">
              <a:ext uri="{FF2B5EF4-FFF2-40B4-BE49-F238E27FC236}">
                <a16:creationId xmlns:a16="http://schemas.microsoft.com/office/drawing/2014/main" id="{9725914C-D69D-4B18-967B-99DBED6B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Ryan &amp; Deci (2020), 자기결정성이론</a:t>
            </a:r>
          </a:p>
        </p:txBody>
      </p:sp>
      <p:sp>
        <p:nvSpPr>
          <p:cNvPr id="6" name="08">
            <a:extLst xmlns:a="http://schemas.openxmlformats.org/drawingml/2006/main">
              <a:ext uri="{FF2B5EF4-FFF2-40B4-BE49-F238E27FC236}">
                <a16:creationId xmlns:a16="http://schemas.microsoft.com/office/drawing/2014/main" id="{B95583FF-3810-4B75-AE99-04C65CF7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62930-BAEE-440C-A204-B295D53E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57500"/>
            <a:ext cx="247650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3A8A"/>
            </a:solidFill>
          </a:ln>
        </p:spPr>
      </p:sp>
      <p:sp>
        <p:nvSpPr>
          <p:cNvPr id="8" name="자율성">
            <a:extLst xmlns:a="http://schemas.openxmlformats.org/drawingml/2006/main">
              <a:ext uri="{FF2B5EF4-FFF2-40B4-BE49-F238E27FC236}">
                <a16:creationId xmlns:a16="http://schemas.microsoft.com/office/drawing/2014/main" id="{8800DD7D-CDFC-4009-B3BA-EF2FC02A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86175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9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39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자율성</a:t>
            </a:r>
          </a:p>
        </p:txBody>
      </p:sp>
      <p:sp>
        <p:nvSpPr>
          <p:cNvPr id="9" name="내가 납득하는 이유">
            <a:extLst xmlns:a="http://schemas.openxmlformats.org/drawingml/2006/main">
              <a:ext uri="{FF2B5EF4-FFF2-40B4-BE49-F238E27FC236}">
                <a16:creationId xmlns:a16="http://schemas.microsoft.com/office/drawing/2014/main" id="{CFD5ABA9-08E8-43E8-96C4-B12CCA21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5787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내가 납득하는 이유</a:t>
            </a:r>
          </a:p>
        </p:txBody>
      </p:sp>
      <p:sp>
        <p:nvSpPr>
          <p:cNvPr id="10" name="“내게 중요한&#10;이유가 있어요.”">
            <a:extLst xmlns:a="http://schemas.openxmlformats.org/drawingml/2006/main">
              <a:ext uri="{FF2B5EF4-FFF2-40B4-BE49-F238E27FC236}">
                <a16:creationId xmlns:a16="http://schemas.microsoft.com/office/drawing/2014/main" id="{DFAD3503-23C5-442A-9E3C-75B6DDDA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03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8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“내게 중요한</a:t>
            </a:r>
          </a:p>
          <a:p xmlns:a="http://schemas.openxmlformats.org/drawingml/2006/main">
            <a:pPr algn="ctr">
              <a:defRPr sz="28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이유가 있어요.”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9B999-9E87-487A-A546-9A4A2A48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57500"/>
            <a:ext cx="247650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3A8A"/>
            </a:solidFill>
          </a:ln>
        </p:spPr>
      </p:sp>
      <p:sp>
        <p:nvSpPr>
          <p:cNvPr id="12" name="유능감">
            <a:extLst xmlns:a="http://schemas.openxmlformats.org/drawingml/2006/main">
              <a:ext uri="{FF2B5EF4-FFF2-40B4-BE49-F238E27FC236}">
                <a16:creationId xmlns:a16="http://schemas.microsoft.com/office/drawing/2014/main" id="{9E93D8EB-5FB7-4C04-A0AC-F0B7ACA0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86175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9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39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유능감</a:t>
            </a:r>
          </a:p>
        </p:txBody>
      </p:sp>
      <p:sp>
        <p:nvSpPr>
          <p:cNvPr id="13" name="해내며 느끼는 진전">
            <a:extLst xmlns:a="http://schemas.openxmlformats.org/drawingml/2006/main">
              <a:ext uri="{FF2B5EF4-FFF2-40B4-BE49-F238E27FC236}">
                <a16:creationId xmlns:a16="http://schemas.microsoft.com/office/drawing/2014/main" id="{F3DF06D3-5F81-4F8D-954A-13C3569E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85787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해내며 느끼는 진전</a:t>
            </a:r>
          </a:p>
        </p:txBody>
      </p:sp>
      <p:sp>
        <p:nvSpPr>
          <p:cNvPr id="14" name="“이 정도는&#10;해볼 수 있어요.”">
            <a:extLst xmlns:a="http://schemas.openxmlformats.org/drawingml/2006/main">
              <a:ext uri="{FF2B5EF4-FFF2-40B4-BE49-F238E27FC236}">
                <a16:creationId xmlns:a16="http://schemas.microsoft.com/office/drawing/2014/main" id="{9CC0D90E-996A-493A-ADFB-B478CFAD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8103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8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“이 정도는</a:t>
            </a:r>
          </a:p>
          <a:p xmlns:a="http://schemas.openxmlformats.org/drawingml/2006/main">
            <a:pPr algn="ctr">
              <a:defRPr sz="28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해볼 수 있어요.”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10E0D-BD6C-4F3F-87DE-8C507256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0"/>
            <a:ext cx="247650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3A8A"/>
            </a:solidFill>
          </a:ln>
        </p:spPr>
      </p:sp>
      <p:sp>
        <p:nvSpPr>
          <p:cNvPr id="16" name="관계성">
            <a:extLst xmlns:a="http://schemas.openxmlformats.org/drawingml/2006/main">
              <a:ext uri="{FF2B5EF4-FFF2-40B4-BE49-F238E27FC236}">
                <a16:creationId xmlns:a16="http://schemas.microsoft.com/office/drawing/2014/main" id="{9F9F8BF5-A602-49C4-9655-28C84D36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3686175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900" b="1">
                <a:solidFill>
                  <a:srgbClr val="B34F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3900" b="1">
                <a:solidFill>
                  <a:srgbClr val="B34F35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B34F35"/>
                </a:solidFill>
                <a:latin typeface="Malgun Gothic"/>
                <a:ea typeface="Malgun Gothic"/>
                <a:cs typeface="Malgun Gothic"/>
              </a:rPr>
              <a:t>관계성</a:t>
            </a:r>
          </a:p>
        </p:txBody>
      </p:sp>
      <p:sp>
        <p:nvSpPr>
          <p:cNvPr id="17" name="존중과 연결">
            <a:extLst xmlns:a="http://schemas.openxmlformats.org/drawingml/2006/main">
              <a:ext uri="{FF2B5EF4-FFF2-40B4-BE49-F238E27FC236}">
                <a16:creationId xmlns:a16="http://schemas.microsoft.com/office/drawing/2014/main" id="{B6794D40-9CD1-4C99-8078-C9BE12EF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85787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925" b="1">
                <a:solidFill>
                  <a:srgbClr val="B34F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925" b="1">
                <a:solidFill>
                  <a:srgbClr val="B34F35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B34F35"/>
                </a:solidFill>
                <a:latin typeface="Malgun Gothic"/>
                <a:ea typeface="Malgun Gothic"/>
                <a:cs typeface="Malgun Gothic"/>
              </a:rPr>
              <a:t>존중과 연결</a:t>
            </a:r>
          </a:p>
        </p:txBody>
      </p:sp>
      <p:sp>
        <p:nvSpPr>
          <p:cNvPr id="18" name="“도움을 구해도&#10;괜찮아요.”">
            <a:extLst xmlns:a="http://schemas.openxmlformats.org/drawingml/2006/main">
              <a:ext uri="{FF2B5EF4-FFF2-40B4-BE49-F238E27FC236}">
                <a16:creationId xmlns:a16="http://schemas.microsoft.com/office/drawing/2014/main" id="{C01D02E6-7E45-4476-B141-C2DA15D7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8103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8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“도움을 구해도</a:t>
            </a:r>
          </a:p>
          <a:p xmlns:a="http://schemas.openxmlformats.org/drawingml/2006/main">
            <a:pPr algn="ctr">
              <a:defRPr sz="28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괜찮아요.”</a:t>
            </a:r>
          </a:p>
        </p:txBody>
      </p:sp>
      <p:sp xmlns:a="http://schemas.openxmlformats.org/drawingml/2006/main">
        <p:nvSpPr>
          <p:cNvPr id="20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21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4962478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1교시 · 나의 방향">
            <a:extLst xmlns:a="http://schemas.openxmlformats.org/drawingml/2006/main">
              <a:ext uri="{FF2B5EF4-FFF2-40B4-BE49-F238E27FC236}">
                <a16:creationId xmlns:a16="http://schemas.microsoft.com/office/drawing/2014/main" id="{24E8265B-81DE-47F8-8D64-38D825D9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1교시 · 나의 방향</a:t>
            </a:r>
          </a:p>
        </p:txBody>
      </p:sp>
      <p:sp>
        <p:nvSpPr>
          <p:cNvPr id="2" name="00:27–00:31  ·  4분">
            <a:extLst xmlns:a="http://schemas.openxmlformats.org/drawingml/2006/main">
              <a:ext uri="{FF2B5EF4-FFF2-40B4-BE49-F238E27FC236}">
                <a16:creationId xmlns:a16="http://schemas.microsoft.com/office/drawing/2014/main" id="{D8478207-707B-4C0C-AEE3-3963AF86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00:27–00:31  ·  4분</a:t>
            </a:r>
          </a:p>
        </p:txBody>
      </p:sp>
      <p:sp>
        <p:nvSpPr>
          <p:cNvPr id="3" name="같은 취업 준비에도 이유는 다를 수 있습니다">
            <a:extLst xmlns:a="http://schemas.openxmlformats.org/drawingml/2006/main">
              <a:ext uri="{FF2B5EF4-FFF2-40B4-BE49-F238E27FC236}">
                <a16:creationId xmlns:a16="http://schemas.microsoft.com/office/drawing/2014/main" id="{F0945F67-B220-4296-8410-A42755BB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같은 취업 준비에도 이유는 다를 수 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A0A52-CED9-4209-8002-9D0B2FB0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Ryan &amp; Deci (2020), 자기결정성이론">
            <a:extLst xmlns:a="http://schemas.openxmlformats.org/drawingml/2006/main">
              <a:ext uri="{FF2B5EF4-FFF2-40B4-BE49-F238E27FC236}">
                <a16:creationId xmlns:a16="http://schemas.microsoft.com/office/drawing/2014/main" id="{9270BA6F-C3B2-483F-8FEC-ED40C467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Ryan &amp; Deci (2020), 자기결정성이론</a:t>
            </a:r>
          </a:p>
        </p:txBody>
      </p:sp>
      <p:sp>
        <p:nvSpPr>
          <p:cNvPr id="6" name="09">
            <a:extLst xmlns:a="http://schemas.openxmlformats.org/drawingml/2006/main">
              <a:ext uri="{FF2B5EF4-FFF2-40B4-BE49-F238E27FC236}">
                <a16:creationId xmlns:a16="http://schemas.microsoft.com/office/drawing/2014/main" id="{01CDCDD9-47E9-4405-B3A4-1A35BC69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7" name="압박이 크게 느껴질 때">
            <a:extLst xmlns:a="http://schemas.openxmlformats.org/drawingml/2006/main">
              <a:ext uri="{FF2B5EF4-FFF2-40B4-BE49-F238E27FC236}">
                <a16:creationId xmlns:a16="http://schemas.microsoft.com/office/drawing/2014/main" id="{D5B61DD5-2F77-464D-87D5-2333AD56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압박이 크게 느껴질 때</a:t>
            </a:r>
          </a:p>
        </p:txBody>
      </p:sp>
      <p:sp>
        <p:nvSpPr>
          <p:cNvPr id="8" name="내가 이유를 받아들일 때">
            <a:extLst xmlns:a="http://schemas.openxmlformats.org/drawingml/2006/main">
              <a:ext uri="{FF2B5EF4-FFF2-40B4-BE49-F238E27FC236}">
                <a16:creationId xmlns:a16="http://schemas.microsoft.com/office/drawing/2014/main" id="{C46B9FE0-42F1-4DF2-97D9-C3E07679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733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내가 이유를 받아들일 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351EE-9267-4543-85C0-E3000F84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9525" cy="4905375"/>
          </a:xfrm>
          <a:custGeom xmlns:a="http://schemas.openxmlformats.org/drawingml/2006/main">
            <a:pathLst>
              <a:path w="9525" h="4905375">
                <a:moveTo>
                  <a:pt x="0" y="0"/>
                </a:moveTo>
                <a:lnTo>
                  <a:pt x="0" y="4905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0" name="“남들보다 늦으면 안 되니까&#10;일단 아무 곳이나&#10;지원해야 해요.”">
            <a:extLst xmlns:a="http://schemas.openxmlformats.org/drawingml/2006/main">
              <a:ext uri="{FF2B5EF4-FFF2-40B4-BE49-F238E27FC236}">
                <a16:creationId xmlns:a16="http://schemas.microsoft.com/office/drawing/2014/main" id="{0A18C71F-9795-4E01-891A-92E23878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7334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“남들보다 늦으면 안 되니까</a:t>
            </a:r>
          </a:p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일단 아무 곳이나</a:t>
            </a:r>
          </a:p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지원해야 해요.”</a:t>
            </a:r>
          </a:p>
        </p:txBody>
      </p:sp>
      <p:sp>
        <p:nvSpPr>
          <p:cNvPr id="11" name="“생활비를 스스로 마련하고&#10;일정한 생활 리듬을 만들려고&#10;이 일을 알아보고 있어요.”">
            <a:extLst xmlns:a="http://schemas.openxmlformats.org/drawingml/2006/main">
              <a:ext uri="{FF2B5EF4-FFF2-40B4-BE49-F238E27FC236}">
                <a16:creationId xmlns:a16="http://schemas.microsoft.com/office/drawing/2014/main" id="{4F442F90-6F0C-46BD-B40C-0ADA50C5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90950"/>
            <a:ext cx="7524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“생활비를 스스로 마련하고</a:t>
            </a:r>
          </a:p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일정한 생활 리듬을 만들려고</a:t>
            </a:r>
          </a:p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이 일을 알아보고 있어요.”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66DB1-AA3C-4E08-9B45-2A6766B5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3" name="돈·안정·성장 모두 이유가 될 수 있습니다. 나에게 어떤 의미인지가 중요합니다.">
            <a:extLst xmlns:a="http://schemas.openxmlformats.org/drawingml/2006/main">
              <a:ext uri="{FF2B5EF4-FFF2-40B4-BE49-F238E27FC236}">
                <a16:creationId xmlns:a16="http://schemas.microsoft.com/office/drawing/2014/main" id="{8E097BD9-81EB-4534-AD36-1F16B817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돈·안정·성장 모두 이유가 될 수 있습니다. 나에게 어떤 의미인지가 중요합니다.</a:t>
            </a:r>
          </a:p>
        </p:txBody>
      </p:sp>
      <p:sp xmlns:a="http://schemas.openxmlformats.org/drawingml/2006/main">
        <p:nvSpPr>
          <p:cNvPr id="15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6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7581137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1교시 · 나의 방향">
            <a:extLst xmlns:a="http://schemas.openxmlformats.org/drawingml/2006/main">
              <a:ext uri="{FF2B5EF4-FFF2-40B4-BE49-F238E27FC236}">
                <a16:creationId xmlns:a16="http://schemas.microsoft.com/office/drawing/2014/main" id="{D4D3EED2-4FFF-49D1-B805-BBA777C2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1교시 · 나의 방향</a:t>
            </a:r>
          </a:p>
        </p:txBody>
      </p:sp>
      <p:sp>
        <p:nvSpPr>
          <p:cNvPr id="2" name="00:31–00:37  ·  6분">
            <a:extLst xmlns:a="http://schemas.openxmlformats.org/drawingml/2006/main">
              <a:ext uri="{FF2B5EF4-FFF2-40B4-BE49-F238E27FC236}">
                <a16:creationId xmlns:a16="http://schemas.microsoft.com/office/drawing/2014/main" id="{B10BE16C-BBB6-49FF-84DC-C440FE81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00:31–00:37  ·  6분</a:t>
            </a:r>
          </a:p>
        </p:txBody>
      </p:sp>
      <p:sp>
        <p:nvSpPr>
          <p:cNvPr id="3" name="내 생활에서 중요하게 지키고 싶은 것">
            <a:extLst xmlns:a="http://schemas.openxmlformats.org/drawingml/2006/main">
              <a:ext uri="{FF2B5EF4-FFF2-40B4-BE49-F238E27FC236}">
                <a16:creationId xmlns:a16="http://schemas.microsoft.com/office/drawing/2014/main" id="{FE3C736E-82AD-414B-AFFC-11F52263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내 생활에서 중요하게 지키고 싶은 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779C9-7EDE-47CE-A21C-BE403015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자율성 지원 원리 적용 · 선택 항목은 강의용 예시">
            <a:extLst xmlns:a="http://schemas.openxmlformats.org/drawingml/2006/main">
              <a:ext uri="{FF2B5EF4-FFF2-40B4-BE49-F238E27FC236}">
                <a16:creationId xmlns:a16="http://schemas.microsoft.com/office/drawing/2014/main" id="{1F6AFBC9-151D-4139-A953-2F20796D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자율성 지원 원리 적용 · 선택 항목은 강의용 예시</a:t>
            </a:r>
          </a:p>
        </p:txBody>
      </p:sp>
      <p:sp>
        <p:nvSpPr>
          <p:cNvPr id="6" name="10">
            <a:extLst xmlns:a="http://schemas.openxmlformats.org/drawingml/2006/main">
              <a:ext uri="{FF2B5EF4-FFF2-40B4-BE49-F238E27FC236}">
                <a16:creationId xmlns:a16="http://schemas.microsoft.com/office/drawing/2014/main" id="{F8917CF2-2F82-487C-ACA5-EB0CA9DA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86DA8-7534-4F68-A820-AC6C9829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6383000" cy="4953000"/>
          </a:xfrm>
          <a:prstGeom xmlns:a="http://schemas.openxmlformats.org/drawingml/2006/main" prst="rect">
            <a:avLst/>
          </a:prstGeom>
          <ns0:noFill xmlns:ns0="http://schemas.openxmlformats.org/drawingml/2006/main"/>
          <a:ln xmlns:a="http://schemas.openxmlformats.org/drawingml/2006/main" w="1905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5806F-803D-4670-9404-3D9BC448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6383000" cy="619125"/>
          </a:xfrm>
          <a:prstGeom xmlns:a="http://schemas.openxmlformats.org/drawingml/2006/main" prst="rect">
            <a:avLst/>
          </a:prstGeom>
          <ns0:noFill xmlns:ns0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개인 화면 · 중요한 기준 두 개와 첫 번째 기준 선택">
            <a:extLst xmlns:a="http://schemas.openxmlformats.org/drawingml/2006/main">
              <a:ext uri="{FF2B5EF4-FFF2-40B4-BE49-F238E27FC236}">
                <a16:creationId xmlns:a16="http://schemas.microsoft.com/office/drawing/2014/main" id="{807242D7-49EB-432A-9F20-90EA5007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05125"/>
            <a:ext cx="1592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개인 화면 · 중요한 기준 두 개와 첫 번째 기준 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73F38-9D04-49EA-803D-C6318693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81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11" name="생활에 필요한 소득">
            <a:extLst xmlns:a="http://schemas.openxmlformats.org/drawingml/2006/main">
              <a:ext uri="{FF2B5EF4-FFF2-40B4-BE49-F238E27FC236}">
                <a16:creationId xmlns:a16="http://schemas.microsoft.com/office/drawing/2014/main" id="{17D57B38-87C6-43E3-A662-4F56A7C4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14750"/>
            <a:ext cx="6629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생활에 필요한 소득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38E7F-C8B6-4917-85C7-B5857DE9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148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13" name="예측 가능한 근무시간">
            <a:extLst xmlns:a="http://schemas.openxmlformats.org/drawingml/2006/main">
              <a:ext uri="{FF2B5EF4-FFF2-40B4-BE49-F238E27FC236}">
                <a16:creationId xmlns:a16="http://schemas.microsoft.com/office/drawing/2014/main" id="{731DFEAF-8E7F-4614-9B67-4F88B300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48200"/>
            <a:ext cx="6629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예측 가능한 근무시간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371FC-E697-4DF8-BDF4-EFB56065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483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15" name="배우고 성장할 기회">
            <a:extLst xmlns:a="http://schemas.openxmlformats.org/drawingml/2006/main">
              <a:ext uri="{FF2B5EF4-FFF2-40B4-BE49-F238E27FC236}">
                <a16:creationId xmlns:a16="http://schemas.microsoft.com/office/drawing/2014/main" id="{634F948D-2A9D-4A99-BE29-9271C40A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81650"/>
            <a:ext cx="6629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배우고 성장할 기회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8F028-BCF3-466D-BCF9-CD2905D3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5817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17" name="건강과 회복할 시간">
            <a:extLst xmlns:a="http://schemas.openxmlformats.org/drawingml/2006/main">
              <a:ext uri="{FF2B5EF4-FFF2-40B4-BE49-F238E27FC236}">
                <a16:creationId xmlns:a16="http://schemas.microsoft.com/office/drawing/2014/main" id="{1FE6EB82-839A-42DE-A092-E2054F48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515100"/>
            <a:ext cx="6629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건강과 회복할 시간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74646-B3F1-4E94-8760-70AF1C55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81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19" name="안정적으로 이어갈 수 있음">
            <a:extLst xmlns:a="http://schemas.openxmlformats.org/drawingml/2006/main">
              <a:ext uri="{FF2B5EF4-FFF2-40B4-BE49-F238E27FC236}">
                <a16:creationId xmlns:a16="http://schemas.microsoft.com/office/drawing/2014/main" id="{73A85D42-77C2-4E3E-AAFA-FD8EC0FB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14750"/>
            <a:ext cx="6629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안정적으로 이어갈 수 있음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BA31E3-08CC-4DED-8CA4-4FFA51FD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148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21" name="통근이 가능한 거리">
            <a:extLst xmlns:a="http://schemas.openxmlformats.org/drawingml/2006/main">
              <a:ext uri="{FF2B5EF4-FFF2-40B4-BE49-F238E27FC236}">
                <a16:creationId xmlns:a16="http://schemas.microsoft.com/office/drawing/2014/main" id="{35DAB632-EFB7-46DD-BB1E-EAAC1CA7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648200"/>
            <a:ext cx="6629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통근이 가능한 거리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5561CC-86B0-403D-AD60-6EE05AB0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483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23" name="관계와 역할의 만족">
            <a:extLst xmlns:a="http://schemas.openxmlformats.org/drawingml/2006/main">
              <a:ext uri="{FF2B5EF4-FFF2-40B4-BE49-F238E27FC236}">
                <a16:creationId xmlns:a16="http://schemas.microsoft.com/office/drawing/2014/main" id="{2A87A6C5-DF61-4A47-8813-67BC1D75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581650"/>
            <a:ext cx="6629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관계와 역할의 만족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6974EF-7AF3-40FD-8DA3-77FEBA4A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817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25" name="내가 중요하게 여기는 다른 기준">
            <a:extLst xmlns:a="http://schemas.openxmlformats.org/drawingml/2006/main">
              <a:ext uri="{FF2B5EF4-FFF2-40B4-BE49-F238E27FC236}">
                <a16:creationId xmlns:a16="http://schemas.microsoft.com/office/drawing/2014/main" id="{6055E606-C654-41D0-9DB0-FE8AFE54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515100"/>
            <a:ext cx="6629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내가 중요하게 여기는 다른 기준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6B2024-C2B5-40CE-863C-38934BAB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27" name="지금 선택한 기준은 상황이 바뀌면 다시 조정할 수 있습니다.">
            <a:extLst xmlns:a="http://schemas.openxmlformats.org/drawingml/2006/main">
              <a:ext uri="{FF2B5EF4-FFF2-40B4-BE49-F238E27FC236}">
                <a16:creationId xmlns:a16="http://schemas.microsoft.com/office/drawing/2014/main" id="{27B903D8-26AB-46CE-8782-2EBECEDE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지금 선택한 기준은 상황이 바뀌면 다시 조정할 수 있습니다.</a:t>
            </a:r>
          </a:p>
        </p:txBody>
      </p:sp>
      <p:sp xmlns:a="http://schemas.openxmlformats.org/drawingml/2006/main">
        <p:nvSpPr>
          <p:cNvPr id="29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30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2202382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1교시 · 나의 방향">
            <a:extLst xmlns:a="http://schemas.openxmlformats.org/drawingml/2006/main">
              <a:ext uri="{FF2B5EF4-FFF2-40B4-BE49-F238E27FC236}">
                <a16:creationId xmlns:a16="http://schemas.microsoft.com/office/drawing/2014/main" id="{B2D2E4B0-353D-46DF-8479-4027E427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1교시 · 나의 방향</a:t>
            </a:r>
          </a:p>
        </p:txBody>
      </p:sp>
      <p:sp>
        <p:nvSpPr>
          <p:cNvPr id="2" name="00:37–00:42  ·  5분">
            <a:extLst xmlns:a="http://schemas.openxmlformats.org/drawingml/2006/main">
              <a:ext uri="{FF2B5EF4-FFF2-40B4-BE49-F238E27FC236}">
                <a16:creationId xmlns:a16="http://schemas.microsoft.com/office/drawing/2014/main" id="{33A986F7-D6F9-45C2-B2AF-29B870BF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00:37–00:42  ·  5분</a:t>
            </a:r>
          </a:p>
        </p:txBody>
      </p:sp>
      <p:sp>
        <p:nvSpPr>
          <p:cNvPr id="3" name="좋은 선택은 내 기준과 조건을 비교하는 것">
            <a:extLst xmlns:a="http://schemas.openxmlformats.org/drawingml/2006/main">
              <a:ext uri="{FF2B5EF4-FFF2-40B4-BE49-F238E27FC236}">
                <a16:creationId xmlns:a16="http://schemas.microsoft.com/office/drawing/2014/main" id="{6594CFA6-8F0E-4282-A581-53EEF213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좋은 선택은 내 기준과 조건을 비교하는 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FB9EB-207D-4456-9EF0-42ED5C14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교육용 가상 선택 상황 · 특정 조건이 보편적으로 우수하다는 뜻은 아닙니다.">
            <a:extLst xmlns:a="http://schemas.openxmlformats.org/drawingml/2006/main">
              <a:ext uri="{FF2B5EF4-FFF2-40B4-BE49-F238E27FC236}">
                <a16:creationId xmlns:a16="http://schemas.microsoft.com/office/drawing/2014/main" id="{8E07CA32-4515-4858-8ED9-6ABA2EB1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교육용 가상 선택 상황 · 특정 조건이 보편적으로 우수하다는 뜻은 아닙니다.</a:t>
            </a:r>
          </a:p>
        </p:txBody>
      </p:sp>
      <p:sp>
        <p:nvSpPr>
          <p:cNvPr id="6" name="11">
            <a:extLst xmlns:a="http://schemas.openxmlformats.org/drawingml/2006/main">
              <a:ext uri="{FF2B5EF4-FFF2-40B4-BE49-F238E27FC236}">
                <a16:creationId xmlns:a16="http://schemas.microsoft.com/office/drawing/2014/main" id="{0879DB93-BF73-4B41-93C1-8808C4DE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AAD65-1E80-4B8B-A544-106A6B9AF870}"/>
              </a:ext>
            </a:extLst>
          </p:cNvPr>
          <p:cNvGraphicFramePr/>
          <p:nvPr/>
        </p:nvGraphicFramePr>
        <p:xfrm>
          <a:off xmlns:a="http://schemas.openxmlformats.org/drawingml/2006/main" x="952500" y="2762250"/>
          <a:ext xmlns:a="http://schemas.openxmlformats.org/drawingml/2006/main" cx="163830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096000"/>
                <a:gridCol w="6096000"/>
              </a:tblGrid>
              <a:tr h="990600">
                <a:tc>
                  <a:txBody>
                    <a:bodyPr wrap="square"/>
                    <a:lstStyle/>
                    <a:p>
                      <a:r>
                        <a:rPr sz="277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비교할 조건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7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일자리 A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7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일자리 B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990600">
                <a:tc>
                  <a:txBody>
                    <a:bodyPr wrap="square"/>
                    <a:lstStyle/>
                    <a:p>
                      <a:r>
                        <a:rPr sz="27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근무시간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매일 일정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주마다 변동 가능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990600">
                <a:tc>
                  <a:txBody>
                    <a:bodyPr wrap="square"/>
                    <a:lstStyle/>
                    <a:p>
                      <a:r>
                        <a:rPr sz="27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경험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익숙한 업무가 많음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새로 배울 업무가 많음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990600">
                <a:tc>
                  <a:txBody>
                    <a:bodyPr wrap="square"/>
                    <a:lstStyle/>
                    <a:p>
                      <a:r>
                        <a:rPr sz="27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통근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편도 25분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편도 55분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990600">
                <a:tc>
                  <a:txBody>
                    <a:bodyPr wrap="square"/>
                    <a:lstStyle/>
                    <a:p>
                      <a:r>
                        <a:rPr sz="27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아직 모르는 것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초과근무 여부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교육과 지원 방식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0A9A5-5B28-4D77-8EE2-99C0FD9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9" name="판단을 보류하고 필요한 정보를 확인하는 것도 선택입니다.">
            <a:extLst xmlns:a="http://schemas.openxmlformats.org/drawingml/2006/main">
              <a:ext uri="{FF2B5EF4-FFF2-40B4-BE49-F238E27FC236}">
                <a16:creationId xmlns:a16="http://schemas.microsoft.com/office/drawing/2014/main" id="{8CA84BF0-2FF2-468D-915D-8D8F4DAD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판단을 보류하고 필요한 정보를 확인하는 것도 선택입니다.</a:t>
            </a:r>
          </a:p>
        </p:txBody>
      </p:sp>
      <p:sp xmlns:a="http://schemas.openxmlformats.org/drawingml/2006/main">
        <p:nvSpPr>
          <p:cNvPr id="11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2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5668236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1교시 · 나의 방향">
            <a:extLst xmlns:a="http://schemas.openxmlformats.org/drawingml/2006/main">
              <a:ext uri="{FF2B5EF4-FFF2-40B4-BE49-F238E27FC236}">
                <a16:creationId xmlns:a16="http://schemas.microsoft.com/office/drawing/2014/main" id="{9E613C51-122B-42C9-87F7-6205D2A0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1교시 · 나의 방향</a:t>
            </a:r>
          </a:p>
        </p:txBody>
      </p:sp>
      <p:sp>
        <p:nvSpPr>
          <p:cNvPr id="2" name="00:42–00:46  ·  4분">
            <a:extLst xmlns:a="http://schemas.openxmlformats.org/drawingml/2006/main">
              <a:ext uri="{FF2B5EF4-FFF2-40B4-BE49-F238E27FC236}">
                <a16:creationId xmlns:a16="http://schemas.microsoft.com/office/drawing/2014/main" id="{26F16C3D-7023-4706-B14D-9E349758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00:42–00:46  ·  4분</a:t>
            </a:r>
          </a:p>
        </p:txBody>
      </p:sp>
      <p:sp>
        <p:nvSpPr>
          <p:cNvPr id="3" name="내 방향을 한 문장으로 확인하기">
            <a:extLst xmlns:a="http://schemas.openxmlformats.org/drawingml/2006/main">
              <a:ext uri="{FF2B5EF4-FFF2-40B4-BE49-F238E27FC236}">
                <a16:creationId xmlns:a16="http://schemas.microsoft.com/office/drawing/2014/main" id="{F35DA2E4-35A6-4EC3-95EC-D658DE30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내 방향을 한 문장으로 확인하기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5D455-7B4C-4800-843C-DDEB550E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화면 설계 예시 · 교육용 가상 응답">
            <a:extLst xmlns:a="http://schemas.openxmlformats.org/drawingml/2006/main">
              <a:ext uri="{FF2B5EF4-FFF2-40B4-BE49-F238E27FC236}">
                <a16:creationId xmlns:a16="http://schemas.microsoft.com/office/drawing/2014/main" id="{8A4B3CF1-216B-47CB-8C80-99C3BDC6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화면 설계 예시 · 교육용 가상 응답</a:t>
            </a:r>
          </a:p>
        </p:txBody>
      </p:sp>
      <p:sp>
        <p:nvSpPr>
          <p:cNvPr id="6" name="12">
            <a:extLst xmlns:a="http://schemas.openxmlformats.org/drawingml/2006/main">
              <a:ext uri="{FF2B5EF4-FFF2-40B4-BE49-F238E27FC236}">
                <a16:creationId xmlns:a16="http://schemas.microsoft.com/office/drawing/2014/main" id="{678BF715-2AC1-4AFB-B025-5E7143A1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7" name="나는 [생활에 필요한 소득]과&#10;[예측 가능한 시간]을 위해,&#10;[일정이 비교적 정해진 일]을">
            <a:extLst xmlns:a="http://schemas.openxmlformats.org/drawingml/2006/main">
              <a:ext uri="{FF2B5EF4-FFF2-40B4-BE49-F238E27FC236}">
                <a16:creationId xmlns:a16="http://schemas.microsoft.com/office/drawing/2014/main" id="{FA58F393-8A3F-4A2D-8BA0-4BA57B7E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52750"/>
            <a:ext cx="15811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나는 [생활에 필요한 소득]과</a:t>
            </a:r>
          </a:p>
          <a:p xmlns:a="http://schemas.openxmlformats.org/drawingml/2006/main">
            <a:pPr algn="l">
              <a:defRPr sz="43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[예측 가능한 시간]을 위해,</a:t>
            </a:r>
          </a:p>
          <a:p xmlns:a="http://schemas.openxmlformats.org/drawingml/2006/main">
            <a:pPr algn="l">
              <a:defRPr sz="43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[일정이 비교적 정해진 일]을</a:t>
            </a:r>
          </a:p>
          <a:p xmlns:a="http://schemas.openxmlformats.org/drawingml/2006/main">
            <a:pPr algn="l">
              <a:defRPr sz="43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먼저 탐색하고 싶다.</a:t>
            </a:r>
          </a:p>
        </p:txBody>
      </p:sp>
      <p:sp>
        <p:nvSpPr>
          <p:cNvPr id="8" name="내 기준을 확인하는 문장">
            <a:extLst xmlns:a="http://schemas.openxmlformats.org/drawingml/2006/main">
              <a:ext uri="{FF2B5EF4-FFF2-40B4-BE49-F238E27FC236}">
                <a16:creationId xmlns:a16="http://schemas.microsoft.com/office/drawing/2014/main" id="{0349C60E-1457-49D6-8964-EE36DC00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9612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내 기준을 확인하는 문장</a:t>
            </a:r>
          </a:p>
        </p:txBody>
      </p:sp>
      <p:sp>
        <p:nvSpPr>
          <p:cNvPr id="9" name="직무를 오늘 확정할 필요는 없습니다.">
            <a:extLst xmlns:a="http://schemas.openxmlformats.org/drawingml/2006/main">
              <a:ext uri="{FF2B5EF4-FFF2-40B4-BE49-F238E27FC236}">
                <a16:creationId xmlns:a16="http://schemas.microsoft.com/office/drawing/2014/main" id="{E0C21B3E-B353-4D8B-9EBB-5359AEEE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70961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직무를 오늘 확정할 필요는 없습니다.</a:t>
            </a:r>
          </a:p>
        </p:txBody>
      </p:sp>
      <p:sp xmlns:a="http://schemas.openxmlformats.org/drawingml/2006/main">
        <p:nvSpPr>
          <p:cNvPr id="11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2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7124243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1교시 · 나의 방향">
            <a:extLst xmlns:a="http://schemas.openxmlformats.org/drawingml/2006/main">
              <a:ext uri="{FF2B5EF4-FFF2-40B4-BE49-F238E27FC236}">
                <a16:creationId xmlns:a16="http://schemas.microsoft.com/office/drawing/2014/main" id="{B139E6DA-4182-4D5F-AF37-6207468C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1교시 · 나의 방향</a:t>
            </a:r>
          </a:p>
        </p:txBody>
      </p:sp>
      <p:sp>
        <p:nvSpPr>
          <p:cNvPr id="2" name="00:46–00:50  ·  4분">
            <a:extLst xmlns:a="http://schemas.openxmlformats.org/drawingml/2006/main">
              <a:ext uri="{FF2B5EF4-FFF2-40B4-BE49-F238E27FC236}">
                <a16:creationId xmlns:a16="http://schemas.microsoft.com/office/drawing/2014/main" id="{6EAFE547-8ABA-4630-8208-F0AB6510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00:46–00:50  ·  4분</a:t>
            </a:r>
          </a:p>
        </p:txBody>
      </p:sp>
      <p:sp>
        <p:nvSpPr>
          <p:cNvPr id="3" name="익명 결과에서 함께 읽을 것">
            <a:extLst xmlns:a="http://schemas.openxmlformats.org/drawingml/2006/main">
              <a:ext uri="{FF2B5EF4-FFF2-40B4-BE49-F238E27FC236}">
                <a16:creationId xmlns:a16="http://schemas.microsoft.com/office/drawing/2014/main" id="{6221870C-CE6B-4C5E-AAAA-4CE315BA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익명 결과에서 함께 읽을 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E940A-44CB-4AF5-8361-EDC1B8AB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공유 방식 예시 · 실제 참여자 결과나 통계가 아닙니다.">
            <a:extLst xmlns:a="http://schemas.openxmlformats.org/drawingml/2006/main">
              <a:ext uri="{FF2B5EF4-FFF2-40B4-BE49-F238E27FC236}">
                <a16:creationId xmlns:a16="http://schemas.microsoft.com/office/drawing/2014/main" id="{1C5603C1-1087-4FED-9A54-BA9B7967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공유 방식 예시 · 실제 참여자 결과나 통계가 아닙니다.</a:t>
            </a:r>
          </a:p>
        </p:txBody>
      </p:sp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0ABC46BC-D348-46E1-85DD-DC169F38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7" name="강사 화면에 공유">
            <a:extLst xmlns:a="http://schemas.openxmlformats.org/drawingml/2006/main">
              <a:ext uri="{FF2B5EF4-FFF2-40B4-BE49-F238E27FC236}">
                <a16:creationId xmlns:a16="http://schemas.microsoft.com/office/drawing/2014/main" id="{A291D856-F740-4329-9D5C-099FB56D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강사 화면에 공유</a:t>
            </a:r>
          </a:p>
        </p:txBody>
      </p:sp>
      <p:sp>
        <p:nvSpPr>
          <p:cNvPr id="8" name="개인 화면에 보관">
            <a:extLst xmlns:a="http://schemas.openxmlformats.org/drawingml/2006/main">
              <a:ext uri="{FF2B5EF4-FFF2-40B4-BE49-F238E27FC236}">
                <a16:creationId xmlns:a16="http://schemas.microsoft.com/office/drawing/2014/main" id="{8643672E-5EA8-4E37-A262-6FF50EAA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733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개인 화면에 보관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C93A1-E5FF-4256-8CB1-C0B0B5FF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9525" cy="4905375"/>
          </a:xfrm>
          <a:custGeom xmlns:a="http://schemas.openxmlformats.org/drawingml/2006/main">
            <a:pathLst>
              <a:path w="9525" h="4905375">
                <a:moveTo>
                  <a:pt x="0" y="0"/>
                </a:moveTo>
                <a:lnTo>
                  <a:pt x="0" y="4905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0" name="선택된 기준의 전체 빈도&#10;공통으로 더 알고 싶은 정보&#10;수업에서 필요한 지원">
            <a:extLst xmlns:a="http://schemas.openxmlformats.org/drawingml/2006/main">
              <a:ext uri="{FF2B5EF4-FFF2-40B4-BE49-F238E27FC236}">
                <a16:creationId xmlns:a16="http://schemas.microsoft.com/office/drawing/2014/main" id="{349A94D3-FEC4-4A7F-A7E8-B1F5441C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7334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선택된 기준의 전체 빈도</a:t>
            </a:r>
          </a:p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공통으로 더 알고 싶은 정보</a:t>
            </a:r>
          </a:p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수업에서 필요한 지원</a:t>
            </a:r>
          </a:p>
        </p:txBody>
      </p:sp>
      <p:sp>
        <p:nvSpPr>
          <p:cNvPr id="11" name="개인의 선택 조합&#10;선택 이유와 사적인 조건&#10;AI가 정리한 개인 문장">
            <a:extLst xmlns:a="http://schemas.openxmlformats.org/drawingml/2006/main">
              <a:ext uri="{FF2B5EF4-FFF2-40B4-BE49-F238E27FC236}">
                <a16:creationId xmlns:a16="http://schemas.microsoft.com/office/drawing/2014/main" id="{E7412A76-B128-4E72-988B-CD290F65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90950"/>
            <a:ext cx="7524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개인의 선택 조합</a:t>
            </a:r>
          </a:p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선택 이유와 사적인 조건</a:t>
            </a:r>
          </a:p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AI가 정리한 개인 문장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2B453-8ECB-43DE-8F9B-EB7C69EB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3" name="강사 해설: “많이 고른 기준도, 적게 고른 기준도 존중합니다.”">
            <a:extLst xmlns:a="http://schemas.openxmlformats.org/drawingml/2006/main">
              <a:ext uri="{FF2B5EF4-FFF2-40B4-BE49-F238E27FC236}">
                <a16:creationId xmlns:a16="http://schemas.microsoft.com/office/drawing/2014/main" id="{8D1A2385-63D3-4B18-A35C-35A66612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강사 해설: “많이 고른 기준도, 적게 고른 기준도 존중합니다.”</a:t>
            </a:r>
          </a:p>
        </p:txBody>
      </p:sp>
      <p:sp xmlns:a="http://schemas.openxmlformats.org/drawingml/2006/main">
        <p:nvSpPr>
          <p:cNvPr id="15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6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1664374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휴식">
            <a:extLst xmlns:a="http://schemas.openxmlformats.org/drawingml/2006/main">
              <a:ext uri="{FF2B5EF4-FFF2-40B4-BE49-F238E27FC236}">
                <a16:creationId xmlns:a16="http://schemas.microsoft.com/office/drawing/2014/main" id="{99C2F382-4154-4053-87D2-D49B0017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휴식</a:t>
            </a:r>
          </a:p>
        </p:txBody>
      </p:sp>
      <p:sp>
        <p:nvSpPr>
          <p:cNvPr id="2" name="00:50–01:00  ·  10분">
            <a:extLst xmlns:a="http://schemas.openxmlformats.org/drawingml/2006/main">
              <a:ext uri="{FF2B5EF4-FFF2-40B4-BE49-F238E27FC236}">
                <a16:creationId xmlns:a16="http://schemas.microsoft.com/office/drawing/2014/main" id="{8AB356A6-914E-4248-AFF6-FA3DD0E9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00:50–01:00  ·  10분</a:t>
            </a:r>
          </a:p>
        </p:txBody>
      </p:sp>
      <p:sp>
        <p:nvSpPr>
          <p:cNvPr id="3" name="잠시 쉬어갑니다">
            <a:extLst xmlns:a="http://schemas.openxmlformats.org/drawingml/2006/main">
              <a:ext uri="{FF2B5EF4-FFF2-40B4-BE49-F238E27FC236}">
                <a16:creationId xmlns:a16="http://schemas.microsoft.com/office/drawing/2014/main" id="{DD1CB811-1B83-43FB-B0E9-89E086D2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잠시 쉬어갑니다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93806-360D-43F1-BF89-81E3B3C8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07284"/>
            </a:solidFill>
          </a:ln>
        </p:spPr>
      </p:sp>
      <p:sp>
        <p:nvSpPr>
          <p:cNvPr id="5" name="개인 PC 활동과 강의 해설">
            <a:extLst xmlns:a="http://schemas.openxmlformats.org/drawingml/2006/main">
              <a:ext uri="{FF2B5EF4-FFF2-40B4-BE49-F238E27FC236}">
                <a16:creationId xmlns:a16="http://schemas.microsoft.com/office/drawing/2014/main" id="{71A941E3-8DCA-40A7-8929-53A13165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개인 PC 활동과 강의 해설</a:t>
            </a:r>
          </a:p>
        </p:txBody>
      </p:sp>
      <p:sp>
        <p:nvSpPr>
          <p:cNvPr id="6" name="14">
            <a:extLst xmlns:a="http://schemas.openxmlformats.org/drawingml/2006/main">
              <a:ext uri="{FF2B5EF4-FFF2-40B4-BE49-F238E27FC236}">
                <a16:creationId xmlns:a16="http://schemas.microsoft.com/office/drawing/2014/main" id="{44ED3809-4AD7-4126-8F3C-B1BBB451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7" name="10">
            <a:extLst xmlns:a="http://schemas.openxmlformats.org/drawingml/2006/main">
              <a:ext uri="{FF2B5EF4-FFF2-40B4-BE49-F238E27FC236}">
                <a16:creationId xmlns:a16="http://schemas.microsoft.com/office/drawing/2014/main" id="{BC83AB7B-C5AD-430F-9C2F-F606998F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5715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8" name="분">
            <a:extLst xmlns:a="http://schemas.openxmlformats.org/drawingml/2006/main">
              <a:ext uri="{FF2B5EF4-FFF2-40B4-BE49-F238E27FC236}">
                <a16:creationId xmlns:a16="http://schemas.microsoft.com/office/drawing/2014/main" id="{0DEB061D-7D34-439B-9E56-5A117D35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171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600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9" name="다음 시간">
            <a:extLst xmlns:a="http://schemas.openxmlformats.org/drawingml/2006/main">
              <a:ext uri="{FF2B5EF4-FFF2-40B4-BE49-F238E27FC236}">
                <a16:creationId xmlns:a16="http://schemas.microsoft.com/office/drawing/2014/main" id="{F83BD328-B475-417A-8E52-432518C1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838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다음 시간</a:t>
            </a:r>
          </a:p>
        </p:txBody>
      </p:sp>
      <p:sp>
        <p:nvSpPr>
          <p:cNvPr id="10" name="경험 속에서 찾는&#10;내가 해본 일">
            <a:extLst xmlns:a="http://schemas.openxmlformats.org/drawingml/2006/main">
              <a:ext uri="{FF2B5EF4-FFF2-40B4-BE49-F238E27FC236}">
                <a16:creationId xmlns:a16="http://schemas.microsoft.com/office/drawing/2014/main" id="{27FD23AE-7BE7-4045-8C84-4B7E32BD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857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경험 속에서 찾는</a:t>
            </a:r>
          </a:p>
          <a:p xmlns:a="http://schemas.openxmlformats.org/drawingml/2006/main">
            <a:pPr algn="l">
              <a:defRPr sz="4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내가 해본 일</a:t>
            </a:r>
          </a:p>
        </p:txBody>
      </p:sp>
      <p:sp xmlns:a="http://schemas.openxmlformats.org/drawingml/2006/main">
        <p:nvSpPr>
          <p:cNvPr id="12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3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2607410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2교시">
            <a:extLst xmlns:a="http://schemas.openxmlformats.org/drawingml/2006/main">
              <a:ext uri="{FF2B5EF4-FFF2-40B4-BE49-F238E27FC236}">
                <a16:creationId xmlns:a16="http://schemas.microsoft.com/office/drawing/2014/main" id="{7E20BB0D-0B77-42CF-9E30-ED33E5AD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2교시</a:t>
            </a:r>
          </a:p>
        </p:txBody>
      </p:sp>
      <p:sp>
        <p:nvSpPr>
          <p:cNvPr id="2" name="01:00–01:02  ·  2분">
            <a:extLst xmlns:a="http://schemas.openxmlformats.org/drawingml/2006/main">
              <a:ext uri="{FF2B5EF4-FFF2-40B4-BE49-F238E27FC236}">
                <a16:creationId xmlns:a16="http://schemas.microsoft.com/office/drawing/2014/main" id="{9EB78874-EB5F-4517-BF40-B837FC82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01:00–01:02  ·  2분</a:t>
            </a:r>
          </a:p>
        </p:txBody>
      </p:sp>
      <p:sp>
        <p:nvSpPr>
          <p:cNvPr id="3" name="경험 속에서 찾는 나의 강점">
            <a:extLst xmlns:a="http://schemas.openxmlformats.org/drawingml/2006/main">
              <a:ext uri="{FF2B5EF4-FFF2-40B4-BE49-F238E27FC236}">
                <a16:creationId xmlns:a16="http://schemas.microsoft.com/office/drawing/2014/main" id="{73F69BE5-9736-449D-8A1F-ABE1D3B6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경험 속에서 찾는 나의 강점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12B41-0BE7-43D0-AD58-3C2F62C3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07284"/>
            </a:solidFill>
          </a:ln>
        </p:spPr>
      </p:sp>
      <p:sp>
        <p:nvSpPr>
          <p:cNvPr id="5" name="개인 PC 활동과 강의 해설">
            <a:extLst xmlns:a="http://schemas.openxmlformats.org/drawingml/2006/main">
              <a:ext uri="{FF2B5EF4-FFF2-40B4-BE49-F238E27FC236}">
                <a16:creationId xmlns:a16="http://schemas.microsoft.com/office/drawing/2014/main" id="{FAD74C31-8C59-48EA-90ED-B7B61729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개인 PC 활동과 강의 해설</a:t>
            </a:r>
          </a:p>
        </p:txBody>
      </p:sp>
      <p:sp>
        <p:nvSpPr>
          <p:cNvPr id="6" name="15">
            <a:extLst xmlns:a="http://schemas.openxmlformats.org/drawingml/2006/main">
              <a:ext uri="{FF2B5EF4-FFF2-40B4-BE49-F238E27FC236}">
                <a16:creationId xmlns:a16="http://schemas.microsoft.com/office/drawing/2014/main" id="{A7EE9D19-C1C7-49B3-B3B7-73DCFD02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AE85393F-68E1-4340-AC1D-D231BA86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4191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8" name="일상·훈련·일 경험에서&#10;내가 한 행동을 확인합니다.">
            <a:extLst xmlns:a="http://schemas.openxmlformats.org/drawingml/2006/main">
              <a:ext uri="{FF2B5EF4-FFF2-40B4-BE49-F238E27FC236}">
                <a16:creationId xmlns:a16="http://schemas.microsoft.com/office/drawing/2014/main" id="{A21112D8-25C5-4631-B9E3-233A1A8F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7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일상·훈련·일 경험에서</a:t>
            </a:r>
          </a:p>
          <a:p xmlns:a="http://schemas.openxmlformats.org/drawingml/2006/main">
            <a:pPr algn="l">
              <a:defRPr sz="37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내가 한 행동을 확인합니다.</a:t>
            </a:r>
          </a:p>
        </p:txBody>
      </p:sp>
      <p:sp>
        <p:nvSpPr>
          <p:cNvPr id="9" name="“잘한다”는 말의 근거는 무엇일까요?">
            <a:extLst xmlns:a="http://schemas.openxmlformats.org/drawingml/2006/main">
              <a:ext uri="{FF2B5EF4-FFF2-40B4-BE49-F238E27FC236}">
                <a16:creationId xmlns:a16="http://schemas.microsoft.com/office/drawing/2014/main" id="{06571B4B-5134-4499-9230-9A2ABAF7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“잘한다”는 말의 근거는 무엇일까요?</a:t>
            </a:r>
          </a:p>
        </p:txBody>
      </p:sp>
      <p:sp xmlns:a="http://schemas.openxmlformats.org/drawingml/2006/main">
        <p:nvSpPr>
          <p:cNvPr id="11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2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1446628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2교시 · 나의 경험">
            <a:extLst xmlns:a="http://schemas.openxmlformats.org/drawingml/2006/main">
              <a:ext uri="{FF2B5EF4-FFF2-40B4-BE49-F238E27FC236}">
                <a16:creationId xmlns:a16="http://schemas.microsoft.com/office/drawing/2014/main" id="{D1769A15-1937-435B-BD5C-C2892214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2교시 · 나의 경험</a:t>
            </a:r>
          </a:p>
        </p:txBody>
      </p:sp>
      <p:sp>
        <p:nvSpPr>
          <p:cNvPr id="2" name="01:02–01:05  ·  3분">
            <a:extLst xmlns:a="http://schemas.openxmlformats.org/drawingml/2006/main">
              <a:ext uri="{FF2B5EF4-FFF2-40B4-BE49-F238E27FC236}">
                <a16:creationId xmlns:a16="http://schemas.microsoft.com/office/drawing/2014/main" id="{4398F334-674E-43CF-9865-0C467A12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01:02–01:05  ·  3분</a:t>
            </a:r>
          </a:p>
        </p:txBody>
      </p:sp>
      <p:sp>
        <p:nvSpPr>
          <p:cNvPr id="3" name="내가 움직이기 쉬운 조건">
            <a:extLst xmlns:a="http://schemas.openxmlformats.org/drawingml/2006/main">
              <a:ext uri="{FF2B5EF4-FFF2-40B4-BE49-F238E27FC236}">
                <a16:creationId xmlns:a16="http://schemas.microsoft.com/office/drawing/2014/main" id="{E614F2D8-879C-4314-8924-01C7213B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내가 움직이기 쉬운 조건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5E474-6CB3-458C-A69E-7123B08C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Ryan &amp; Deci (2020), 자기결정성이론">
            <a:extLst xmlns:a="http://schemas.openxmlformats.org/drawingml/2006/main">
              <a:ext uri="{FF2B5EF4-FFF2-40B4-BE49-F238E27FC236}">
                <a16:creationId xmlns:a16="http://schemas.microsoft.com/office/drawing/2014/main" id="{07C5EE01-182D-4205-8140-05C5E777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Ryan &amp; Deci (2020), 자기결정성이론</a:t>
            </a:r>
          </a:p>
        </p:txBody>
      </p:sp>
      <p:sp>
        <p:nvSpPr>
          <p:cNvPr id="6" name="16">
            <a:extLst xmlns:a="http://schemas.openxmlformats.org/drawingml/2006/main">
              <a:ext uri="{FF2B5EF4-FFF2-40B4-BE49-F238E27FC236}">
                <a16:creationId xmlns:a16="http://schemas.microsoft.com/office/drawing/2014/main" id="{ACCA4B35-9097-4CEA-8AD3-BDC4893A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CD1AB-9DD7-4764-BC7C-812BF4D7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19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8" name="완료된 예시를 먼저 보면 시작하기 쉬워요.">
            <a:extLst xmlns:a="http://schemas.openxmlformats.org/drawingml/2006/main">
              <a:ext uri="{FF2B5EF4-FFF2-40B4-BE49-F238E27FC236}">
                <a16:creationId xmlns:a16="http://schemas.microsoft.com/office/drawing/2014/main" id="{8AF82E8E-7AA2-41BE-8506-FF6B628C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52750"/>
            <a:ext cx="14916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완료된 예시를 먼저 보면 시작하기 쉬워요.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0ABEE-5FEF-479A-A4C7-9A448FEB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62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10" name="전체 목표를 알면 방법을 찾아볼 수 있어요.">
            <a:extLst xmlns:a="http://schemas.openxmlformats.org/drawingml/2006/main">
              <a:ext uri="{FF2B5EF4-FFF2-40B4-BE49-F238E27FC236}">
                <a16:creationId xmlns:a16="http://schemas.microsoft.com/office/drawing/2014/main" id="{5169D206-F6F7-4BE8-9285-4B3CCAFB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4916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전체 목표를 알면 방법을 찾아볼 수 있어요.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02407-B712-4EC7-8BBB-8407F18E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05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12" name="작게 나누어 순서대로 하면 편해요.">
            <a:extLst xmlns:a="http://schemas.openxmlformats.org/drawingml/2006/main">
              <a:ext uri="{FF2B5EF4-FFF2-40B4-BE49-F238E27FC236}">
                <a16:creationId xmlns:a16="http://schemas.microsoft.com/office/drawing/2014/main" id="{DF1A5361-DCDC-462C-B4B5-D5AEEA0F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38750"/>
            <a:ext cx="14916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작게 나누어 순서대로 하면 편해요.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49D6B-67D1-4EF2-B98E-BB970885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48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14" name="질문할 곳과 피드백이 있으면 시도하기 쉬워요.">
            <a:extLst xmlns:a="http://schemas.openxmlformats.org/drawingml/2006/main">
              <a:ext uri="{FF2B5EF4-FFF2-40B4-BE49-F238E27FC236}">
                <a16:creationId xmlns:a16="http://schemas.microsoft.com/office/drawing/2014/main" id="{3C734F5D-9F56-46B9-8B2E-37DBAFC0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381750"/>
            <a:ext cx="14916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질문할 곳과 피드백이 있으면 시도하기 쉬워요.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91DE3-E951-48C5-BBF6-87B3B406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6" name="나에게 필요한 조건을 알면 연습 방법도 선택할 수 있습니다.">
            <a:extLst xmlns:a="http://schemas.openxmlformats.org/drawingml/2006/main">
              <a:ext uri="{FF2B5EF4-FFF2-40B4-BE49-F238E27FC236}">
                <a16:creationId xmlns:a16="http://schemas.microsoft.com/office/drawing/2014/main" id="{1EF3DBA7-48A4-4E78-B224-F87B4F01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나에게 필요한 조건을 알면 연습 방법도 선택할 수 있습니다.</a:t>
            </a:r>
          </a:p>
        </p:txBody>
      </p:sp>
      <p:sp xmlns:a="http://schemas.openxmlformats.org/drawingml/2006/main">
        <p:nvSpPr>
          <p:cNvPr id="18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9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2525048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2교시 · 나의 경험">
            <a:extLst xmlns:a="http://schemas.openxmlformats.org/drawingml/2006/main">
              <a:ext uri="{FF2B5EF4-FFF2-40B4-BE49-F238E27FC236}">
                <a16:creationId xmlns:a16="http://schemas.microsoft.com/office/drawing/2014/main" id="{89444776-82B0-427B-86A7-C825DD63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2교시 · 나의 경험</a:t>
            </a:r>
          </a:p>
        </p:txBody>
      </p:sp>
      <p:sp>
        <p:nvSpPr>
          <p:cNvPr id="2" name="01:05–01:09  ·  4분">
            <a:extLst xmlns:a="http://schemas.openxmlformats.org/drawingml/2006/main">
              <a:ext uri="{FF2B5EF4-FFF2-40B4-BE49-F238E27FC236}">
                <a16:creationId xmlns:a16="http://schemas.microsoft.com/office/drawing/2014/main" id="{4C7C2777-15C9-45A3-9835-62637D7E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01:05–01:09  ·  4분</a:t>
            </a:r>
          </a:p>
        </p:txBody>
      </p:sp>
      <p:sp>
        <p:nvSpPr>
          <p:cNvPr id="3" name="행동 경향을 일의 조건과 연결하기">
            <a:extLst xmlns:a="http://schemas.openxmlformats.org/drawingml/2006/main">
              <a:ext uri="{FF2B5EF4-FFF2-40B4-BE49-F238E27FC236}">
                <a16:creationId xmlns:a16="http://schemas.microsoft.com/office/drawing/2014/main" id="{EDC58B1A-4E4D-49E6-8BF3-18D9D1BE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행동 경향을 일의 조건과 연결하기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66988-F8D5-47B3-B5A5-57FC9E0A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자기이해 활동 · 정식 DISC 검사나 직무 적합성 진단이 아닙니다.">
            <a:extLst xmlns:a="http://schemas.openxmlformats.org/drawingml/2006/main">
              <a:ext uri="{FF2B5EF4-FFF2-40B4-BE49-F238E27FC236}">
                <a16:creationId xmlns:a16="http://schemas.microsoft.com/office/drawing/2014/main" id="{3AE9CC24-D89E-4F1C-8368-06EF209F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자기이해 활동 · 정식 DISC 검사나 직무 적합성 진단이 아닙니다.</a:t>
            </a:r>
          </a:p>
        </p:txBody>
      </p:sp>
      <p:sp>
        <p:nvSpPr>
          <p:cNvPr id="6" name="17">
            <a:extLst xmlns:a="http://schemas.openxmlformats.org/drawingml/2006/main">
              <a:ext uri="{FF2B5EF4-FFF2-40B4-BE49-F238E27FC236}">
                <a16:creationId xmlns:a16="http://schemas.microsoft.com/office/drawing/2014/main" id="{AACB0069-1B7F-4156-AF0A-932508C3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629BC-C73E-409C-A9DF-D026F6FE7594}"/>
              </a:ext>
            </a:extLst>
          </p:cNvPr>
          <p:cNvGraphicFramePr/>
          <p:nvPr/>
        </p:nvGraphicFramePr>
        <p:xfrm>
          <a:off xmlns:a="http://schemas.openxmlformats.org/drawingml/2006/main" x="952500" y="2762250"/>
          <a:ext xmlns:a="http://schemas.openxmlformats.org/drawingml/2006/main" cx="163830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191250"/>
                <a:gridCol w="6096000"/>
              </a:tblGrid>
              <a:tr h="1226344">
                <a:tc>
                  <a:txBody>
                    <a:bodyPr wrap="square"/>
                    <a:lstStyle/>
                    <a:p>
                      <a:r>
                        <a:rPr sz="270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내가 떠올린 행동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구체적 상황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도움이 되었던 조건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226344"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시작이 빨랐음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익숙한 과제였는가?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목표와 완료 기준이 분명함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226344"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꼼꼼하게 확인했음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기준을 알고 있었는가?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체크 목록과 시간이 있었음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226344"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질문하며 진행했음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질문이 가능한 분위기였는가?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담당자와 질문 창구가 있었음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D12CD-837E-479F-95EF-F5F07075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9" name="행동 경향은 참고 정보입니다. 실제로 한 일과 결과를 함께 봅니다.">
            <a:extLst xmlns:a="http://schemas.openxmlformats.org/drawingml/2006/main">
              <a:ext uri="{FF2B5EF4-FFF2-40B4-BE49-F238E27FC236}">
                <a16:creationId xmlns:a16="http://schemas.microsoft.com/office/drawing/2014/main" id="{2A2E997E-71C1-42F2-8C31-DC067C91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행동 경향은 참고 정보입니다. 실제로 한 일과 결과를 함께 봅니다.</a:t>
            </a:r>
          </a:p>
        </p:txBody>
      </p:sp>
      <p:sp xmlns:a="http://schemas.openxmlformats.org/drawingml/2006/main">
        <p:nvSpPr>
          <p:cNvPr id="11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2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5496537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2교시 · 나의 경험">
            <a:extLst xmlns:a="http://schemas.openxmlformats.org/drawingml/2006/main">
              <a:ext uri="{FF2B5EF4-FFF2-40B4-BE49-F238E27FC236}">
                <a16:creationId xmlns:a16="http://schemas.microsoft.com/office/drawing/2014/main" id="{06BFCB4A-9952-4251-9C9F-626E2B11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2교시 · 나의 경험</a:t>
            </a:r>
          </a:p>
        </p:txBody>
      </p:sp>
      <p:sp>
        <p:nvSpPr>
          <p:cNvPr id="2" name="01:09–01:13  ·  4분">
            <a:extLst xmlns:a="http://schemas.openxmlformats.org/drawingml/2006/main">
              <a:ext uri="{FF2B5EF4-FFF2-40B4-BE49-F238E27FC236}">
                <a16:creationId xmlns:a16="http://schemas.microsoft.com/office/drawing/2014/main" id="{786F543A-AC60-4D99-9BE3-9D9DFAC1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01:09–01:13  ·  4분</a:t>
            </a:r>
          </a:p>
        </p:txBody>
      </p:sp>
      <p:sp>
        <p:nvSpPr>
          <p:cNvPr id="3" name="“경험이 없다”를 조금 더 구체적으로 보기">
            <a:extLst xmlns:a="http://schemas.openxmlformats.org/drawingml/2006/main">
              <a:ext uri="{FF2B5EF4-FFF2-40B4-BE49-F238E27FC236}">
                <a16:creationId xmlns:a16="http://schemas.microsoft.com/office/drawing/2014/main" id="{C29AB150-FFD0-4CC3-ABFB-C2AB76F5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“경험이 없다”를 조금 더 구체적으로 보기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9DDE6-4A91-4CC8-9121-53A1B5E7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Lent &amp; Brown (2019), 사회인지진로이론">
            <a:extLst xmlns:a="http://schemas.openxmlformats.org/drawingml/2006/main">
              <a:ext uri="{FF2B5EF4-FFF2-40B4-BE49-F238E27FC236}">
                <a16:creationId xmlns:a16="http://schemas.microsoft.com/office/drawing/2014/main" id="{05CCF472-2A02-4AB2-A0B6-D4F18CC7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Lent &amp; Brown (2019), 사회인지진로이론</a:t>
            </a:r>
          </a:p>
        </p:txBody>
      </p:sp>
      <p:sp>
        <p:nvSpPr>
          <p:cNvPr id="6" name="18">
            <a:extLst xmlns:a="http://schemas.openxmlformats.org/drawingml/2006/main">
              <a:ext uri="{FF2B5EF4-FFF2-40B4-BE49-F238E27FC236}">
                <a16:creationId xmlns:a16="http://schemas.microsoft.com/office/drawing/2014/main" id="{103806BC-4B79-4F44-9B18-AB04AC24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7" name="넓고 모호한 표현">
            <a:extLst xmlns:a="http://schemas.openxmlformats.org/drawingml/2006/main">
              <a:ext uri="{FF2B5EF4-FFF2-40B4-BE49-F238E27FC236}">
                <a16:creationId xmlns:a16="http://schemas.microsoft.com/office/drawing/2014/main" id="{3C7C851B-7F24-4249-AFA2-408B8883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넓고 모호한 표현</a:t>
            </a:r>
          </a:p>
        </p:txBody>
      </p:sp>
      <p:sp>
        <p:nvSpPr>
          <p:cNvPr id="8" name="확인할 수 있는 표현">
            <a:extLst xmlns:a="http://schemas.openxmlformats.org/drawingml/2006/main">
              <a:ext uri="{FF2B5EF4-FFF2-40B4-BE49-F238E27FC236}">
                <a16:creationId xmlns:a16="http://schemas.microsoft.com/office/drawing/2014/main" id="{1F775686-9393-4191-B39A-263C44CC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733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확인할 수 있는 표현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97950-227F-468E-B29E-6655770C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9525" cy="4905375"/>
          </a:xfrm>
          <a:custGeom xmlns:a="http://schemas.openxmlformats.org/drawingml/2006/main">
            <a:pathLst>
              <a:path w="9525" h="4905375">
                <a:moveTo>
                  <a:pt x="0" y="0"/>
                </a:moveTo>
                <a:lnTo>
                  <a:pt x="0" y="4905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0" name="“저는 성실해요.”&#10;&#10;“경력이 없어요.”">
            <a:extLst xmlns:a="http://schemas.openxmlformats.org/drawingml/2006/main">
              <a:ext uri="{FF2B5EF4-FFF2-40B4-BE49-F238E27FC236}">
                <a16:creationId xmlns:a16="http://schemas.microsoft.com/office/drawing/2014/main" id="{94007164-9F4B-48B5-B983-0890A02C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7334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“저는 성실해요.”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“경력이 없어요.”</a:t>
            </a:r>
          </a:p>
        </p:txBody>
      </p:sp>
      <p:sp>
        <p:nvSpPr>
          <p:cNvPr id="11" name="“4주 동안 과제를 제출했고&#10;오류 피드백을 반영했어요.”&#10;&#10;“훈련에서 명단 정리 과제를&#10;한">
            <a:extLst xmlns:a="http://schemas.openxmlformats.org/drawingml/2006/main">
              <a:ext uri="{FF2B5EF4-FFF2-40B4-BE49-F238E27FC236}">
                <a16:creationId xmlns:a16="http://schemas.microsoft.com/office/drawing/2014/main" id="{06DA7F49-8E3B-48CC-B77A-19F4D930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90950"/>
            <a:ext cx="7524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“4주 동안 과제를 제출했고</a:t>
            </a:r>
          </a:p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오류 피드백을 반영했어요.”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“훈련에서 명단 정리 과제를</a:t>
            </a:r>
          </a:p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한 번 해봤어요.”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78459-2AFA-4D97-80F0-2A039740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3" name="강점은 행동과 결과를 살펴본 뒤에 붙이는 설명입니다.">
            <a:extLst xmlns:a="http://schemas.openxmlformats.org/drawingml/2006/main">
              <a:ext uri="{FF2B5EF4-FFF2-40B4-BE49-F238E27FC236}">
                <a16:creationId xmlns:a16="http://schemas.microsoft.com/office/drawing/2014/main" id="{A90F9E1E-1D26-40CE-BCA2-CE2AE0E2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강점은 행동과 결과를 살펴본 뒤에 붙이는 설명입니다.</a:t>
            </a:r>
          </a:p>
        </p:txBody>
      </p:sp>
      <p:sp xmlns:a="http://schemas.openxmlformats.org/drawingml/2006/main">
        <p:nvSpPr>
          <p:cNvPr id="15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6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2387552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2교시 · 나의 경험">
            <a:extLst xmlns:a="http://schemas.openxmlformats.org/drawingml/2006/main">
              <a:ext uri="{FF2B5EF4-FFF2-40B4-BE49-F238E27FC236}">
                <a16:creationId xmlns:a16="http://schemas.microsoft.com/office/drawing/2014/main" id="{CE12F295-4E24-4C96-8F4B-4497AD0A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2교시 · 나의 경험</a:t>
            </a:r>
          </a:p>
        </p:txBody>
      </p:sp>
      <p:sp>
        <p:nvSpPr>
          <p:cNvPr id="2" name="01:13–01:18  ·  5분">
            <a:extLst xmlns:a="http://schemas.openxmlformats.org/drawingml/2006/main">
              <a:ext uri="{FF2B5EF4-FFF2-40B4-BE49-F238E27FC236}">
                <a16:creationId xmlns:a16="http://schemas.microsoft.com/office/drawing/2014/main" id="{B415B3AB-9831-4993-B6B8-B8EAEECE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01:13–01:18  ·  5분</a:t>
            </a:r>
          </a:p>
        </p:txBody>
      </p:sp>
      <p:sp>
        <p:nvSpPr>
          <p:cNvPr id="3" name="A의 경험을 사실 단위로 살펴보면">
            <a:extLst xmlns:a="http://schemas.openxmlformats.org/drawingml/2006/main">
              <a:ext uri="{FF2B5EF4-FFF2-40B4-BE49-F238E27FC236}">
                <a16:creationId xmlns:a16="http://schemas.microsoft.com/office/drawing/2014/main" id="{CEA38550-F13F-4269-9D96-12ED85E6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A의 경험을 사실 단위로 살펴보면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876FE-D29B-4175-BB57-6066810B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교육용 가상 사례 · 첫 취업 준비자 A의 모임 운영 경험">
            <a:extLst xmlns:a="http://schemas.openxmlformats.org/drawingml/2006/main">
              <a:ext uri="{FF2B5EF4-FFF2-40B4-BE49-F238E27FC236}">
                <a16:creationId xmlns:a16="http://schemas.microsoft.com/office/drawing/2014/main" id="{D6D47418-659C-4BA9-82D2-52EFAF2C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교육용 가상 사례 · 첫 취업 준비자 A의 모임 운영 경험</a:t>
            </a:r>
          </a:p>
        </p:txBody>
      </p:sp>
      <p:sp>
        <p:nvSpPr>
          <p:cNvPr id="6" name="19">
            <a:extLst xmlns:a="http://schemas.openxmlformats.org/drawingml/2006/main">
              <a:ext uri="{FF2B5EF4-FFF2-40B4-BE49-F238E27FC236}">
                <a16:creationId xmlns:a16="http://schemas.microsoft.com/office/drawing/2014/main" id="{917579BB-3256-4FC7-89F0-0B8588C7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C49E9-9994-4C7B-A897-A75BFC6C541B}"/>
              </a:ext>
            </a:extLst>
          </p:cNvPr>
          <p:cNvGraphicFramePr/>
          <p:nvPr/>
        </p:nvGraphicFramePr>
        <p:xfrm>
          <a:off xmlns:a="http://schemas.openxmlformats.org/drawingml/2006/main" x="952500" y="2762250"/>
          <a:ext xmlns:a="http://schemas.openxmlformats.org/drawingml/2006/main" cx="16383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6477000"/>
                <a:gridCol w="5524500"/>
              </a:tblGrid>
              <a:tr h="1190625">
                <a:tc>
                  <a:txBody>
                    <a:bodyPr wrap="square"/>
                    <a:lstStyle/>
                    <a:p>
                      <a:r>
                        <a:rPr sz="285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85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한 행동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85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근거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190625">
                <a:tc>
                  <a:txBody>
                    <a:bodyPr wrap="square"/>
                    <a:lstStyle/>
                    <a:p>
                      <a:r>
                        <a:rPr sz="28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소규모 모임 신청 관리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8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내역을 표로 정리함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8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본인이 만든 명단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190625">
                <a:tc>
                  <a:txBody>
                    <a:bodyPr wrap="square"/>
                    <a:lstStyle/>
                    <a:p>
                      <a:r>
                        <a:rPr sz="28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일정 변경 발생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8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바뀐 시간과 장소를 안내함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8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보낸 안내문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190625">
                <a:tc>
                  <a:txBody>
                    <a:bodyPr wrap="square"/>
                    <a:lstStyle/>
                    <a:p>
                      <a:r>
                        <a:rPr sz="28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참가자 문의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8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질문을 모아 담당자에게 전달함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8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정리한 질문 목록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07134-0346-4E5E-BE23-194AA3BE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9" name="“사무 능력이 뛰어나다”는 결론까지 자동으로 뛰어가지는 않습니다.">
            <a:extLst xmlns:a="http://schemas.openxmlformats.org/drawingml/2006/main">
              <a:ext uri="{FF2B5EF4-FFF2-40B4-BE49-F238E27FC236}">
                <a16:creationId xmlns:a16="http://schemas.microsoft.com/office/drawing/2014/main" id="{6C4CB6C1-590C-4236-B41E-197039EA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“사무 능력이 뛰어나다”는 결론까지 자동으로 뛰어가지는 않습니다.</a:t>
            </a:r>
          </a:p>
        </p:txBody>
      </p:sp>
      <p:sp xmlns:a="http://schemas.openxmlformats.org/drawingml/2006/main">
        <p:nvSpPr>
          <p:cNvPr id="11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2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5888888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2교시 · 나의 경험">
            <a:extLst xmlns:a="http://schemas.openxmlformats.org/drawingml/2006/main">
              <a:ext uri="{FF2B5EF4-FFF2-40B4-BE49-F238E27FC236}">
                <a16:creationId xmlns:a16="http://schemas.microsoft.com/office/drawing/2014/main" id="{6D20B8BE-2723-4C65-80AC-CB865E6E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2교시 · 나의 경험</a:t>
            </a:r>
          </a:p>
        </p:txBody>
      </p:sp>
      <p:sp>
        <p:nvSpPr>
          <p:cNvPr id="2" name="01:18–01:24  ·  6분">
            <a:extLst xmlns:a="http://schemas.openxmlformats.org/drawingml/2006/main">
              <a:ext uri="{FF2B5EF4-FFF2-40B4-BE49-F238E27FC236}">
                <a16:creationId xmlns:a16="http://schemas.microsoft.com/office/drawing/2014/main" id="{4CE60A96-1177-4CE9-96C4-21857C5F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01:18–01:24  ·  6분</a:t>
            </a:r>
          </a:p>
        </p:txBody>
      </p:sp>
      <p:sp>
        <p:nvSpPr>
          <p:cNvPr id="3" name="내 경험 하나를 고르는 순서">
            <a:extLst xmlns:a="http://schemas.openxmlformats.org/drawingml/2006/main">
              <a:ext uri="{FF2B5EF4-FFF2-40B4-BE49-F238E27FC236}">
                <a16:creationId xmlns:a16="http://schemas.microsoft.com/office/drawing/2014/main" id="{A8F88047-D377-469C-935F-FA56B98B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내 경험 하나를 고르는 순서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B3DB5-7D24-4DDE-BEE3-31EC3164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Lent &amp; Brown (2019), 사회인지진로이론">
            <a:extLst xmlns:a="http://schemas.openxmlformats.org/drawingml/2006/main">
              <a:ext uri="{FF2B5EF4-FFF2-40B4-BE49-F238E27FC236}">
                <a16:creationId xmlns:a16="http://schemas.microsoft.com/office/drawing/2014/main" id="{C50881AA-BDF2-4CC9-BB79-8AE50C1B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Lent &amp; Brown (2019), 사회인지진로이론</a:t>
            </a:r>
          </a:p>
        </p:txBody>
      </p:sp>
      <p:sp>
        <p:nvSpPr>
          <p:cNvPr id="6" name="20">
            <a:extLst xmlns:a="http://schemas.openxmlformats.org/drawingml/2006/main">
              <a:ext uri="{FF2B5EF4-FFF2-40B4-BE49-F238E27FC236}">
                <a16:creationId xmlns:a16="http://schemas.microsoft.com/office/drawing/2014/main" id="{A624FCCC-7CAB-47AA-B5F6-026817B7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ED68B0B3-B193-4D85-92B4-B9744C42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5032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어디에서">
            <a:extLst xmlns:a="http://schemas.openxmlformats.org/drawingml/2006/main">
              <a:ext uri="{FF2B5EF4-FFF2-40B4-BE49-F238E27FC236}">
                <a16:creationId xmlns:a16="http://schemas.microsoft.com/office/drawing/2014/main" id="{D9DC3513-8208-43D0-9577-CFD5A126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503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어디에서</a:t>
            </a:r>
          </a:p>
        </p:txBody>
      </p:sp>
      <p:sp>
        <p:nvSpPr>
          <p:cNvPr id="9" name="훈련 · 아르바이트&#10;직장 · 모임 · 봉사">
            <a:extLst xmlns:a="http://schemas.openxmlformats.org/drawingml/2006/main">
              <a:ext uri="{FF2B5EF4-FFF2-40B4-BE49-F238E27FC236}">
                <a16:creationId xmlns:a16="http://schemas.microsoft.com/office/drawing/2014/main" id="{DE6A8AA1-1A6C-4504-A574-C2473BB7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50323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훈련 · 아르바이트</a:t>
            </a:r>
          </a:p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직장 · 모임 · 봉사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A326F-DFD8-4D6B-BE8B-20B7F97D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950" y="4543425"/>
            <a:ext cx="41910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</a:ln>
        </p:spPr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2215D5BF-FFC8-4AAC-B764-2619EFA1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3238500"/>
            <a:ext cx="5032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무엇을 했나">
            <a:extLst xmlns:a="http://schemas.openxmlformats.org/drawingml/2006/main">
              <a:ext uri="{FF2B5EF4-FFF2-40B4-BE49-F238E27FC236}">
                <a16:creationId xmlns:a16="http://schemas.microsoft.com/office/drawing/2014/main" id="{C3488B1C-A32C-4961-BFC2-053F0EA7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4333875"/>
            <a:ext cx="503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무엇을 했나</a:t>
            </a:r>
          </a:p>
        </p:txBody>
      </p:sp>
      <p:sp>
        <p:nvSpPr>
          <p:cNvPr id="13" name="입력 · 확인 · 설명&#10;조율 · 제작 · 정리">
            <a:extLst xmlns:a="http://schemas.openxmlformats.org/drawingml/2006/main">
              <a:ext uri="{FF2B5EF4-FFF2-40B4-BE49-F238E27FC236}">
                <a16:creationId xmlns:a16="http://schemas.microsoft.com/office/drawing/2014/main" id="{B213BB9B-2CA5-4CE9-87B2-F0E2A0FA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5810250"/>
            <a:ext cx="50323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입력 · 확인 · 설명</a:t>
            </a:r>
          </a:p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조율 · 제작 · 정리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4BDB2-D326-4BC1-B86D-8C57DDB9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950" y="4543425"/>
            <a:ext cx="41910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</a:ln>
        </p:spPr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2D710FCA-FFA6-4D33-BD8F-351B4189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500" y="3238500"/>
            <a:ext cx="5032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무엇이 남았나">
            <a:extLst xmlns:a="http://schemas.openxmlformats.org/drawingml/2006/main">
              <a:ext uri="{FF2B5EF4-FFF2-40B4-BE49-F238E27FC236}">
                <a16:creationId xmlns:a16="http://schemas.microsoft.com/office/drawing/2014/main" id="{B68A6065-E776-4A9F-BB24-4AEEBDF4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500" y="4333875"/>
            <a:ext cx="503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무엇이 남았나</a:t>
            </a:r>
          </a:p>
        </p:txBody>
      </p:sp>
      <p:sp>
        <p:nvSpPr>
          <p:cNvPr id="17" name="완성 자료&#10;관찰된 결과&#10;구체적인 피드백">
            <a:extLst xmlns:a="http://schemas.openxmlformats.org/drawingml/2006/main">
              <a:ext uri="{FF2B5EF4-FFF2-40B4-BE49-F238E27FC236}">
                <a16:creationId xmlns:a16="http://schemas.microsoft.com/office/drawing/2014/main" id="{B95165AF-9531-48B2-872B-45FA67CB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500" y="5810250"/>
            <a:ext cx="50323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완성 자료</a:t>
            </a:r>
          </a:p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관찰된 결과</a:t>
            </a:r>
          </a:p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구체적인 피드백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0B8AB0-2D70-4E68-A451-DD68A7B5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9" name="경험이 떠오르지 않으면 최근 훈련에서 해본 과제부터 시작합니다.">
            <a:extLst xmlns:a="http://schemas.openxmlformats.org/drawingml/2006/main">
              <a:ext uri="{FF2B5EF4-FFF2-40B4-BE49-F238E27FC236}">
                <a16:creationId xmlns:a16="http://schemas.microsoft.com/office/drawing/2014/main" id="{A66C2EF9-AD32-4B85-A85C-07D4B5FB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경험이 떠오르지 않으면 최근 훈련에서 해본 과제부터 시작합니다.</a:t>
            </a:r>
          </a:p>
        </p:txBody>
      </p:sp>
      <p:sp xmlns:a="http://schemas.openxmlformats.org/drawingml/2006/main">
        <p:nvSpPr>
          <p:cNvPr id="21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22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5933833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2교시 · 나의 경험">
            <a:extLst xmlns:a="http://schemas.openxmlformats.org/drawingml/2006/main">
              <a:ext uri="{FF2B5EF4-FFF2-40B4-BE49-F238E27FC236}">
                <a16:creationId xmlns:a16="http://schemas.microsoft.com/office/drawing/2014/main" id="{2B564BD9-3482-4906-BB92-75BC6436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2교시 · 나의 경험</a:t>
            </a:r>
          </a:p>
        </p:txBody>
      </p:sp>
      <p:sp>
        <p:nvSpPr>
          <p:cNvPr id="2" name="01:24–01:28  ·  4분">
            <a:extLst xmlns:a="http://schemas.openxmlformats.org/drawingml/2006/main">
              <a:ext uri="{FF2B5EF4-FFF2-40B4-BE49-F238E27FC236}">
                <a16:creationId xmlns:a16="http://schemas.microsoft.com/office/drawing/2014/main" id="{D90F7A5B-44DF-4B1E-8B98-E857682F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01:24–01:28  ·  4분</a:t>
            </a:r>
          </a:p>
        </p:txBody>
      </p:sp>
      <p:sp>
        <p:nvSpPr>
          <p:cNvPr id="3" name="AI가 쓴 문장도 사실 확인이 필요합니다">
            <a:extLst xmlns:a="http://schemas.openxmlformats.org/drawingml/2006/main">
              <a:ext uri="{FF2B5EF4-FFF2-40B4-BE49-F238E27FC236}">
                <a16:creationId xmlns:a16="http://schemas.microsoft.com/office/drawing/2014/main" id="{B586825C-1465-4291-B09B-FEBEC959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AI가 쓴 문장도 사실 확인이 필요합니다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5F296-81C5-4E7A-BCB2-E275E229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교육용 AI 응답 비교 예시 · AI의 추론을 경력 사실로 사용하지 않습니다.">
            <a:extLst xmlns:a="http://schemas.openxmlformats.org/drawingml/2006/main">
              <a:ext uri="{FF2B5EF4-FFF2-40B4-BE49-F238E27FC236}">
                <a16:creationId xmlns:a16="http://schemas.microsoft.com/office/drawing/2014/main" id="{D26DFEC6-D003-40E1-BCF7-2C81FEA0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교육용 AI 응답 비교 예시 · AI의 추론을 경력 사실로 사용하지 않습니다.</a:t>
            </a:r>
          </a:p>
        </p:txBody>
      </p:sp>
      <p:sp>
        <p:nvSpPr>
          <p:cNvPr id="6" name="21">
            <a:extLst xmlns:a="http://schemas.openxmlformats.org/drawingml/2006/main">
              <a:ext uri="{FF2B5EF4-FFF2-40B4-BE49-F238E27FC236}">
                <a16:creationId xmlns:a16="http://schemas.microsoft.com/office/drawing/2014/main" id="{7EDBEF44-B07E-406C-B55D-375159FA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7" name="입력한 사실">
            <a:extLst xmlns:a="http://schemas.openxmlformats.org/drawingml/2006/main">
              <a:ext uri="{FF2B5EF4-FFF2-40B4-BE49-F238E27FC236}">
                <a16:creationId xmlns:a16="http://schemas.microsoft.com/office/drawing/2014/main" id="{139323AC-855E-43D0-9FF1-81DFB86A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입력한 사실</a:t>
            </a:r>
          </a:p>
        </p:txBody>
      </p:sp>
      <p:sp>
        <p:nvSpPr>
          <p:cNvPr id="8" name="“모임 참가 신청을 표에 입력했어요.”">
            <a:extLst xmlns:a="http://schemas.openxmlformats.org/drawingml/2006/main">
              <a:ext uri="{FF2B5EF4-FFF2-40B4-BE49-F238E27FC236}">
                <a16:creationId xmlns:a16="http://schemas.microsoft.com/office/drawing/2014/main" id="{164F4C12-AA6A-41B2-8C03-DD8C23BF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14625"/>
            <a:ext cx="1200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“모임 참가 신청을 표에 입력했어요.”</a:t>
            </a:r>
          </a:p>
        </p:txBody>
      </p:sp>
      <p:sp>
        <p:nvSpPr>
          <p:cNvPr id="9" name="근거가 부족한 요약">
            <a:extLst xmlns:a="http://schemas.openxmlformats.org/drawingml/2006/main">
              <a:ext uri="{FF2B5EF4-FFF2-40B4-BE49-F238E27FC236}">
                <a16:creationId xmlns:a16="http://schemas.microsoft.com/office/drawing/2014/main" id="{EE81CB25-3979-48EB-BEB5-41587B12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근거가 부족한 요약</a:t>
            </a:r>
          </a:p>
        </p:txBody>
      </p:sp>
      <p:sp>
        <p:nvSpPr>
          <p:cNvPr id="10" name="사실에 맞춘 요약">
            <a:extLst xmlns:a="http://schemas.openxmlformats.org/drawingml/2006/main">
              <a:ext uri="{FF2B5EF4-FFF2-40B4-BE49-F238E27FC236}">
                <a16:creationId xmlns:a16="http://schemas.microsoft.com/office/drawing/2014/main" id="{4CEF1B16-3B39-4EC2-B76E-7862C42A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95750"/>
            <a:ext cx="733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사실에 맞춘 요약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55208C-7FD8-43D5-9B55-36E6991D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095750"/>
            <a:ext cx="9525" cy="3667125"/>
          </a:xfrm>
          <a:custGeom xmlns:a="http://schemas.openxmlformats.org/drawingml/2006/main">
            <a:pathLst>
              <a:path w="9525" h="3667125">
                <a:moveTo>
                  <a:pt x="0" y="0"/>
                </a:moveTo>
                <a:lnTo>
                  <a:pt x="0" y="36671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2" name="“데이터 분석 전문성을 발휘해&#10;운영 효율을 크게 높였다.”">
            <a:extLst xmlns:a="http://schemas.openxmlformats.org/drawingml/2006/main">
              <a:ext uri="{FF2B5EF4-FFF2-40B4-BE49-F238E27FC236}">
                <a16:creationId xmlns:a16="http://schemas.microsoft.com/office/drawing/2014/main" id="{21E581BA-3B36-4FCF-B96C-B9C3DEFD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29200"/>
            <a:ext cx="7334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“데이터 분석 전문성을 발휘해</a:t>
            </a:r>
          </a:p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운영 효율을 크게 높였다.”</a:t>
            </a:r>
          </a:p>
        </p:txBody>
      </p:sp>
      <p:sp>
        <p:nvSpPr>
          <p:cNvPr id="13" name="“참가 신청 정보를&#10;표에 입력하고 정리했다.”">
            <a:extLst xmlns:a="http://schemas.openxmlformats.org/drawingml/2006/main">
              <a:ext uri="{FF2B5EF4-FFF2-40B4-BE49-F238E27FC236}">
                <a16:creationId xmlns:a16="http://schemas.microsoft.com/office/drawing/2014/main" id="{9D9D10AB-1DDF-47D3-9B6D-B3CF1E35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29200"/>
            <a:ext cx="7524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“참가 신청 정보를</a:t>
            </a:r>
          </a:p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표에 입력하고 정리했다.”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CB9E6-DADD-4AEB-9850-40CD9A97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5" name="AI는 정리와 질문을 돕고, 경험의 사실은 내가 확인합니다.">
            <a:extLst xmlns:a="http://schemas.openxmlformats.org/drawingml/2006/main">
              <a:ext uri="{FF2B5EF4-FFF2-40B4-BE49-F238E27FC236}">
                <a16:creationId xmlns:a16="http://schemas.microsoft.com/office/drawing/2014/main" id="{66E6F7E0-FBDF-4BA1-89FF-D1626E01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AI는 정리와 질문을 돕고, 경험의 사실은 내가 확인합니다.</a:t>
            </a:r>
          </a:p>
        </p:txBody>
      </p:sp>
      <p:sp xmlns:a="http://schemas.openxmlformats.org/drawingml/2006/main">
        <p:nvSpPr>
          <p:cNvPr id="17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8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3180495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2교시 · 나의 경험">
            <a:extLst xmlns:a="http://schemas.openxmlformats.org/drawingml/2006/main">
              <a:ext uri="{FF2B5EF4-FFF2-40B4-BE49-F238E27FC236}">
                <a16:creationId xmlns:a16="http://schemas.microsoft.com/office/drawing/2014/main" id="{311EB069-F4DB-4E6B-BD26-C1122AA9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2교시 · 나의 경험</a:t>
            </a:r>
          </a:p>
        </p:txBody>
      </p:sp>
      <p:sp>
        <p:nvSpPr>
          <p:cNvPr id="2" name="01:28–01:32  ·  4분">
            <a:extLst xmlns:a="http://schemas.openxmlformats.org/drawingml/2006/main">
              <a:ext uri="{FF2B5EF4-FFF2-40B4-BE49-F238E27FC236}">
                <a16:creationId xmlns:a16="http://schemas.microsoft.com/office/drawing/2014/main" id="{965F1732-C40D-4CA8-B65A-F74D30E1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01:28–01:32  ·  4분</a:t>
            </a:r>
          </a:p>
        </p:txBody>
      </p:sp>
      <p:sp>
        <p:nvSpPr>
          <p:cNvPr id="3" name="“해볼 수 있겠다”는 생각의 근거">
            <a:extLst xmlns:a="http://schemas.openxmlformats.org/drawingml/2006/main">
              <a:ext uri="{FF2B5EF4-FFF2-40B4-BE49-F238E27FC236}">
                <a16:creationId xmlns:a16="http://schemas.microsoft.com/office/drawing/2014/main" id="{F16B9F02-0800-4A23-9E0F-084B4A7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“해볼 수 있겠다”는 생각의 근거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E6556-49F7-4820-B88C-6D7B64DF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Lent &amp; Brown (2019), 사회인지진로이론 / Ryan &amp; Dec">
            <a:extLst xmlns:a="http://schemas.openxmlformats.org/drawingml/2006/main">
              <a:ext uri="{FF2B5EF4-FFF2-40B4-BE49-F238E27FC236}">
                <a16:creationId xmlns:a16="http://schemas.microsoft.com/office/drawing/2014/main" id="{63EB1F55-1035-449B-9DFA-75DA632C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Lent &amp; Brown (2019), 사회인지진로이론 / Ryan &amp; Deci (2020), 자기결정성이론</a:t>
            </a:r>
          </a:p>
        </p:txBody>
      </p:sp>
      <p:sp>
        <p:nvSpPr>
          <p:cNvPr id="6" name="22">
            <a:extLst xmlns:a="http://schemas.openxmlformats.org/drawingml/2006/main">
              <a:ext uri="{FF2B5EF4-FFF2-40B4-BE49-F238E27FC236}">
                <a16:creationId xmlns:a16="http://schemas.microsoft.com/office/drawing/2014/main" id="{AF44E630-CA46-4E0C-8149-0F41F911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38C43676-64D4-41B5-B61D-D3058AC5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5032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해본 경험">
            <a:extLst xmlns:a="http://schemas.openxmlformats.org/drawingml/2006/main">
              <a:ext uri="{FF2B5EF4-FFF2-40B4-BE49-F238E27FC236}">
                <a16:creationId xmlns:a16="http://schemas.microsoft.com/office/drawing/2014/main" id="{E6108A9A-F72A-4565-9564-40C82EC2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503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해본 경험</a:t>
            </a:r>
          </a:p>
        </p:txBody>
      </p:sp>
      <p:sp>
        <p:nvSpPr>
          <p:cNvPr id="9" name="내가 한 행동과&#10;결과를 확인">
            <a:extLst xmlns:a="http://schemas.openxmlformats.org/drawingml/2006/main">
              <a:ext uri="{FF2B5EF4-FFF2-40B4-BE49-F238E27FC236}">
                <a16:creationId xmlns:a16="http://schemas.microsoft.com/office/drawing/2014/main" id="{20BEDDB8-86E0-469E-B7F9-1AC08328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50323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내가 한 행동과</a:t>
            </a:r>
          </a:p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결과를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133D4-38F5-4D6F-BC6B-425924CE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950" y="4543425"/>
            <a:ext cx="41910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</a:ln>
        </p:spPr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7ED9A88C-65BF-420D-8329-FC65EC24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3238500"/>
            <a:ext cx="5032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적절한 연습">
            <a:extLst xmlns:a="http://schemas.openxmlformats.org/drawingml/2006/main">
              <a:ext uri="{FF2B5EF4-FFF2-40B4-BE49-F238E27FC236}">
                <a16:creationId xmlns:a16="http://schemas.microsoft.com/office/drawing/2014/main" id="{9499935A-DC3C-445A-BA93-C37EB54F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4333875"/>
            <a:ext cx="503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적절한 연습</a:t>
            </a:r>
          </a:p>
        </p:txBody>
      </p:sp>
      <p:sp>
        <p:nvSpPr>
          <p:cNvPr id="13" name="부담을 조정한&#10;과제를 수행">
            <a:extLst xmlns:a="http://schemas.openxmlformats.org/drawingml/2006/main">
              <a:ext uri="{FF2B5EF4-FFF2-40B4-BE49-F238E27FC236}">
                <a16:creationId xmlns:a16="http://schemas.microsoft.com/office/drawing/2014/main" id="{25A46825-8A3C-405A-98E1-4E908D8D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5810250"/>
            <a:ext cx="50323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부담을 조정한</a:t>
            </a:r>
          </a:p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과제를 수행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3DFFF-8AEF-44A2-9F13-73F149BD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950" y="4543425"/>
            <a:ext cx="41910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</a:ln>
        </p:spPr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91860760-C78B-4555-BC67-E421BB82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500" y="3238500"/>
            <a:ext cx="5032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구체적 피드백">
            <a:extLst xmlns:a="http://schemas.openxmlformats.org/drawingml/2006/main">
              <a:ext uri="{FF2B5EF4-FFF2-40B4-BE49-F238E27FC236}">
                <a16:creationId xmlns:a16="http://schemas.microsoft.com/office/drawing/2014/main" id="{8B71594B-D672-4FA6-A661-EBA0CCB0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500" y="4333875"/>
            <a:ext cx="503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구체적 피드백</a:t>
            </a:r>
          </a:p>
        </p:txBody>
      </p:sp>
      <p:sp>
        <p:nvSpPr>
          <p:cNvPr id="17" name="잘된 행동과&#10;다음 시도를 확인">
            <a:extLst xmlns:a="http://schemas.openxmlformats.org/drawingml/2006/main">
              <a:ext uri="{FF2B5EF4-FFF2-40B4-BE49-F238E27FC236}">
                <a16:creationId xmlns:a16="http://schemas.microsoft.com/office/drawing/2014/main" id="{5CB3A586-A0BE-4B9B-92B2-9C09D24E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500" y="5810250"/>
            <a:ext cx="50323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잘된 행동과</a:t>
            </a:r>
          </a:p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다음 시도를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949F1A-11A4-4F92-84E4-A0E029E2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9" name="유능감과 자기효능감은 관련되지만 서로 다른 개념입니다.">
            <a:extLst xmlns:a="http://schemas.openxmlformats.org/drawingml/2006/main">
              <a:ext uri="{FF2B5EF4-FFF2-40B4-BE49-F238E27FC236}">
                <a16:creationId xmlns:a16="http://schemas.microsoft.com/office/drawing/2014/main" id="{77F00233-2444-4A82-9BF8-E206BC0D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유능감과 자기효능감은 관련되지만 서로 다른 개념입니다.</a:t>
            </a:r>
          </a:p>
        </p:txBody>
      </p:sp>
      <p:sp xmlns:a="http://schemas.openxmlformats.org/drawingml/2006/main">
        <p:nvSpPr>
          <p:cNvPr id="21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22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3271216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2교시 · 나의 경험">
            <a:extLst xmlns:a="http://schemas.openxmlformats.org/drawingml/2006/main">
              <a:ext uri="{FF2B5EF4-FFF2-40B4-BE49-F238E27FC236}">
                <a16:creationId xmlns:a16="http://schemas.microsoft.com/office/drawing/2014/main" id="{CB44912D-8B9B-4E1B-865F-6DA0F6D6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2교시 · 나의 경험</a:t>
            </a:r>
          </a:p>
        </p:txBody>
      </p:sp>
      <p:sp>
        <p:nvSpPr>
          <p:cNvPr id="2" name="01:32–01:37  ·  5분">
            <a:extLst xmlns:a="http://schemas.openxmlformats.org/drawingml/2006/main">
              <a:ext uri="{FF2B5EF4-FFF2-40B4-BE49-F238E27FC236}">
                <a16:creationId xmlns:a16="http://schemas.microsoft.com/office/drawing/2014/main" id="{8317825F-A58D-4208-8764-646F33DE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01:32–01:37  ·  5분</a:t>
            </a:r>
          </a:p>
        </p:txBody>
      </p:sp>
      <p:sp>
        <p:nvSpPr>
          <p:cNvPr id="3" name="같은 경험도 연결되는 업무는 다를 수 있습니다">
            <a:extLst xmlns:a="http://schemas.openxmlformats.org/drawingml/2006/main">
              <a:ext uri="{FF2B5EF4-FFF2-40B4-BE49-F238E27FC236}">
                <a16:creationId xmlns:a16="http://schemas.microsoft.com/office/drawing/2014/main" id="{F2D9C81C-C6DC-4FE6-863F-A4833C12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같은 경험도 연결되는 업무는 다를 수 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CBDF2-E782-4C82-97D6-A3DBF5D0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교육용 가상 직무 비교 · 실제 채용 기준이 아닙니다.">
            <a:extLst xmlns:a="http://schemas.openxmlformats.org/drawingml/2006/main">
              <a:ext uri="{FF2B5EF4-FFF2-40B4-BE49-F238E27FC236}">
                <a16:creationId xmlns:a16="http://schemas.microsoft.com/office/drawing/2014/main" id="{A13C7E12-0D7E-4E36-A793-FE9A9505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교육용 가상 직무 비교 · 실제 채용 기준이 아닙니다.</a:t>
            </a:r>
          </a:p>
        </p:txBody>
      </p:sp>
      <p:sp>
        <p:nvSpPr>
          <p:cNvPr id="6" name="23">
            <a:extLst xmlns:a="http://schemas.openxmlformats.org/drawingml/2006/main">
              <a:ext uri="{FF2B5EF4-FFF2-40B4-BE49-F238E27FC236}">
                <a16:creationId xmlns:a16="http://schemas.microsoft.com/office/drawing/2014/main" id="{A81357C0-793D-4E55-B170-F2EEF43A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BC809-6F2B-4BF7-9FCB-273D97C5CFA7}"/>
              </a:ext>
            </a:extLst>
          </p:cNvPr>
          <p:cNvGraphicFramePr/>
          <p:nvPr/>
        </p:nvGraphicFramePr>
        <p:xfrm>
          <a:off xmlns:a="http://schemas.openxmlformats.org/drawingml/2006/main" x="952500" y="2762250"/>
          <a:ext xmlns:a="http://schemas.openxmlformats.org/drawingml/2006/main" cx="163830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5905500"/>
                <a:gridCol w="5905500"/>
              </a:tblGrid>
              <a:tr h="1238250">
                <a:tc>
                  <a:txBody>
                    <a:bodyPr wrap="square"/>
                    <a:lstStyle/>
                    <a:p>
                      <a:r>
                        <a:rPr sz="262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경험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교육운영 사무보조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 안내 업무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238250"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정보를 정리함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참가자 명단 관리와 연결 가능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기록 정리와 연결 가능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238250"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일정 변경을 안내함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교육 일정 안내와 연결 가능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일정 안내와 연결 가능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238250"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더 확인할 것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프로그램과 자료 정확도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응대 방식과 어려운 문의 처리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F4D39-F02C-4992-B244-9AA4FA29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9" name="직무명보다 실제로 반복하는 행동을 비교합니다.">
            <a:extLst xmlns:a="http://schemas.openxmlformats.org/drawingml/2006/main">
              <a:ext uri="{FF2B5EF4-FFF2-40B4-BE49-F238E27FC236}">
                <a16:creationId xmlns:a16="http://schemas.microsoft.com/office/drawing/2014/main" id="{66BA327A-3E28-40CB-9DA6-669E63ED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직무명보다 실제로 반복하는 행동을 비교합니다.</a:t>
            </a:r>
          </a:p>
        </p:txBody>
      </p:sp>
      <p:sp xmlns:a="http://schemas.openxmlformats.org/drawingml/2006/main">
        <p:nvSpPr>
          <p:cNvPr id="11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2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63899147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2교시 · 나의 경험">
            <a:extLst xmlns:a="http://schemas.openxmlformats.org/drawingml/2006/main">
              <a:ext uri="{FF2B5EF4-FFF2-40B4-BE49-F238E27FC236}">
                <a16:creationId xmlns:a16="http://schemas.microsoft.com/office/drawing/2014/main" id="{DA6E4E87-B305-4CC5-A410-4D5AA838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2교시 · 나의 경험</a:t>
            </a:r>
          </a:p>
        </p:txBody>
      </p:sp>
      <p:sp>
        <p:nvSpPr>
          <p:cNvPr id="2" name="01:37–01:41  ·  4분">
            <a:extLst xmlns:a="http://schemas.openxmlformats.org/drawingml/2006/main">
              <a:ext uri="{FF2B5EF4-FFF2-40B4-BE49-F238E27FC236}">
                <a16:creationId xmlns:a16="http://schemas.microsoft.com/office/drawing/2014/main" id="{0001928A-9FEA-4349-B865-B32A97A4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01:37–01:41  ·  4분</a:t>
            </a:r>
          </a:p>
        </p:txBody>
      </p:sp>
      <p:sp>
        <p:nvSpPr>
          <p:cNvPr id="3" name="준비가 필요한 이유를 구분하기">
            <a:extLst xmlns:a="http://schemas.openxmlformats.org/drawingml/2006/main">
              <a:ext uri="{FF2B5EF4-FFF2-40B4-BE49-F238E27FC236}">
                <a16:creationId xmlns:a16="http://schemas.microsoft.com/office/drawing/2014/main" id="{D575463B-C206-48F9-A314-519FCD63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준비가 필요한 이유를 구분하기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28F34-4EC5-4FC7-A0F0-17F6B89B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Lent &amp; Brown (2019), 사회인지진로이론 / Ryan &amp; Dec">
            <a:extLst xmlns:a="http://schemas.openxmlformats.org/drawingml/2006/main">
              <a:ext uri="{FF2B5EF4-FFF2-40B4-BE49-F238E27FC236}">
                <a16:creationId xmlns:a16="http://schemas.microsoft.com/office/drawing/2014/main" id="{E22609FC-17B5-4970-87EF-4CC36FAB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Lent &amp; Brown (2019), 사회인지진로이론 / Ryan &amp; Deci (2020), 자기결정성이론</a:t>
            </a:r>
          </a:p>
        </p:txBody>
      </p:sp>
      <p:sp>
        <p:nvSpPr>
          <p:cNvPr id="6" name="24">
            <a:extLst xmlns:a="http://schemas.openxmlformats.org/drawingml/2006/main">
              <a:ext uri="{FF2B5EF4-FFF2-40B4-BE49-F238E27FC236}">
                <a16:creationId xmlns:a16="http://schemas.microsoft.com/office/drawing/2014/main" id="{4FC13E53-CE62-4ABC-B8A0-A695BB10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7" name="경험으로 확인함">
            <a:extLst xmlns:a="http://schemas.openxmlformats.org/drawingml/2006/main">
              <a:ext uri="{FF2B5EF4-FFF2-40B4-BE49-F238E27FC236}">
                <a16:creationId xmlns:a16="http://schemas.microsoft.com/office/drawing/2014/main" id="{BC932B17-C932-4804-8B11-B18E5923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3857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경험으로 확인함</a:t>
            </a:r>
          </a:p>
        </p:txBody>
      </p:sp>
      <p:sp>
        <p:nvSpPr>
          <p:cNvPr id="8" name="해본 행동과 결과가 있어요.">
            <a:extLst xmlns:a="http://schemas.openxmlformats.org/drawingml/2006/main">
              <a:ext uri="{FF2B5EF4-FFF2-40B4-BE49-F238E27FC236}">
                <a16:creationId xmlns:a16="http://schemas.microsoft.com/office/drawing/2014/main" id="{502AFDB2-8B3B-4867-92A3-03D05291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62250"/>
            <a:ext cx="120491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해본 행동과 결과가 있어요.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12C3D-3E94-4317-B16F-C3D5DA68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38575"/>
            <a:ext cx="16287750" cy="9525"/>
          </a:xfrm>
          <a:custGeom xmlns:a="http://schemas.openxmlformats.org/drawingml/2006/main">
            <a:pathLst>
              <a:path w="16287750" h="9525">
                <a:moveTo>
                  <a:pt x="0" y="0"/>
                </a:moveTo>
                <a:lnTo>
                  <a:pt x="1628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6DB"/>
            </a:solidFill>
          </a:ln>
        </p:spPr>
      </p:sp>
      <p:sp>
        <p:nvSpPr>
          <p:cNvPr id="10" name="연습이 필요함">
            <a:extLst xmlns:a="http://schemas.openxmlformats.org/drawingml/2006/main">
              <a:ext uri="{FF2B5EF4-FFF2-40B4-BE49-F238E27FC236}">
                <a16:creationId xmlns:a16="http://schemas.microsoft.com/office/drawing/2014/main" id="{B31363C0-58E4-4317-A96D-B45D55D1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76700"/>
            <a:ext cx="3857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연습이 필요함</a:t>
            </a:r>
          </a:p>
        </p:txBody>
      </p:sp>
      <p:sp>
        <p:nvSpPr>
          <p:cNvPr id="11" name="사용 도구나 수행 절차를 더 익혀야 해요.">
            <a:extLst xmlns:a="http://schemas.openxmlformats.org/drawingml/2006/main">
              <a:ext uri="{FF2B5EF4-FFF2-40B4-BE49-F238E27FC236}">
                <a16:creationId xmlns:a16="http://schemas.microsoft.com/office/drawing/2014/main" id="{A4EB0C75-2970-4521-8EBE-CC17E440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76700"/>
            <a:ext cx="120491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사용 도구나 수행 절차를 더 익혀야 해요.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3BFD3-323D-463B-913B-C83EA835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53025"/>
            <a:ext cx="16287750" cy="9525"/>
          </a:xfrm>
          <a:custGeom xmlns:a="http://schemas.openxmlformats.org/drawingml/2006/main">
            <a:pathLst>
              <a:path w="16287750" h="9525">
                <a:moveTo>
                  <a:pt x="0" y="0"/>
                </a:moveTo>
                <a:lnTo>
                  <a:pt x="1628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6DB"/>
            </a:solidFill>
          </a:ln>
        </p:spPr>
      </p:sp>
      <p:sp>
        <p:nvSpPr>
          <p:cNvPr id="13" name="정보가 필요함">
            <a:extLst xmlns:a="http://schemas.openxmlformats.org/drawingml/2006/main">
              <a:ext uri="{FF2B5EF4-FFF2-40B4-BE49-F238E27FC236}">
                <a16:creationId xmlns:a16="http://schemas.microsoft.com/office/drawing/2014/main" id="{AA9BE8D3-6F0F-4D32-A2D1-3BDCA55D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91150"/>
            <a:ext cx="3857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정보가 필요함</a:t>
            </a:r>
          </a:p>
        </p:txBody>
      </p:sp>
      <p:sp>
        <p:nvSpPr>
          <p:cNvPr id="14" name="업무 범위나 필수 조건이 아직 불분명해요.">
            <a:extLst xmlns:a="http://schemas.openxmlformats.org/drawingml/2006/main">
              <a:ext uri="{FF2B5EF4-FFF2-40B4-BE49-F238E27FC236}">
                <a16:creationId xmlns:a16="http://schemas.microsoft.com/office/drawing/2014/main" id="{4FF58BFA-30EE-4341-882A-24A1EA60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391150"/>
            <a:ext cx="120491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업무 범위나 필수 조건이 아직 불분명해요.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A8847-BAD4-405F-873D-97B13461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6287750" cy="9525"/>
          </a:xfrm>
          <a:custGeom xmlns:a="http://schemas.openxmlformats.org/drawingml/2006/main">
            <a:pathLst>
              <a:path w="16287750" h="9525">
                <a:moveTo>
                  <a:pt x="0" y="0"/>
                </a:moveTo>
                <a:lnTo>
                  <a:pt x="1628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6DB"/>
            </a:solidFill>
          </a:ln>
        </p:spPr>
      </p:sp>
      <p:sp>
        <p:nvSpPr>
          <p:cNvPr id="16" name="지원이 필요함">
            <a:extLst xmlns:a="http://schemas.openxmlformats.org/drawingml/2006/main">
              <a:ext uri="{FF2B5EF4-FFF2-40B4-BE49-F238E27FC236}">
                <a16:creationId xmlns:a16="http://schemas.microsoft.com/office/drawing/2014/main" id="{0A4325C5-FDD1-4C1D-9F50-03A72BC4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05600"/>
            <a:ext cx="3857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지원이 필요함</a:t>
            </a:r>
          </a:p>
        </p:txBody>
      </p:sp>
      <p:sp>
        <p:nvSpPr>
          <p:cNvPr id="17" name="시간·이동·돌봄 등 여건을 확인해야 해요.">
            <a:extLst xmlns:a="http://schemas.openxmlformats.org/drawingml/2006/main">
              <a:ext uri="{FF2B5EF4-FFF2-40B4-BE49-F238E27FC236}">
                <a16:creationId xmlns:a16="http://schemas.microsoft.com/office/drawing/2014/main" id="{BB08E901-7898-4667-B38A-80E6097C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705600"/>
            <a:ext cx="120491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시간·이동·돌봄 등 여건을 확인해야 해요.</a:t>
            </a:r>
          </a:p>
        </p:txBody>
      </p:sp>
      <p:sp xmlns:a="http://schemas.openxmlformats.org/drawingml/2006/main">
        <p:nvSpPr>
          <p:cNvPr id="19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20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1169364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2교시 · 나의 경험">
            <a:extLst xmlns:a="http://schemas.openxmlformats.org/drawingml/2006/main">
              <a:ext uri="{FF2B5EF4-FFF2-40B4-BE49-F238E27FC236}">
                <a16:creationId xmlns:a16="http://schemas.microsoft.com/office/drawing/2014/main" id="{F9BF1C44-6AED-42DE-BDD9-15C27B04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2교시 · 나의 경험</a:t>
            </a:r>
          </a:p>
        </p:txBody>
      </p:sp>
      <p:sp>
        <p:nvSpPr>
          <p:cNvPr id="2" name="01:41–01:46  ·  5분">
            <a:extLst xmlns:a="http://schemas.openxmlformats.org/drawingml/2006/main">
              <a:ext uri="{FF2B5EF4-FFF2-40B4-BE49-F238E27FC236}">
                <a16:creationId xmlns:a16="http://schemas.microsoft.com/office/drawing/2014/main" id="{71B0BF6F-90B3-4AB9-B4F2-D2B6FDB4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01:41–01:46  ·  5분</a:t>
            </a:r>
          </a:p>
        </p:txBody>
      </p:sp>
      <p:sp>
        <p:nvSpPr>
          <p:cNvPr id="3" name="지금 내가 가진 근거 하나">
            <a:extLst xmlns:a="http://schemas.openxmlformats.org/drawingml/2006/main">
              <a:ext uri="{FF2B5EF4-FFF2-40B4-BE49-F238E27FC236}">
                <a16:creationId xmlns:a16="http://schemas.microsoft.com/office/drawing/2014/main" id="{04392224-36CA-49CE-8ECC-1D1D9376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지금 내가 가진 근거 하나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EA1B1-B042-40A5-A769-609A2563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개인 화면 설계 예시 · 경험을 과장하거나 취업 가능성을 점수화하지 않습니다.">
            <a:extLst xmlns:a="http://schemas.openxmlformats.org/drawingml/2006/main">
              <a:ext uri="{FF2B5EF4-FFF2-40B4-BE49-F238E27FC236}">
                <a16:creationId xmlns:a16="http://schemas.microsoft.com/office/drawing/2014/main" id="{064D8A77-7916-4781-8EC9-0421CE8A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개인 화면 설계 예시 · 경험을 과장하거나 취업 가능성을 점수화하지 않습니다.</a:t>
            </a:r>
          </a:p>
        </p:txBody>
      </p:sp>
      <p:sp>
        <p:nvSpPr>
          <p:cNvPr id="6" name="25">
            <a:extLst xmlns:a="http://schemas.openxmlformats.org/drawingml/2006/main">
              <a:ext uri="{FF2B5EF4-FFF2-40B4-BE49-F238E27FC236}">
                <a16:creationId xmlns:a16="http://schemas.microsoft.com/office/drawing/2014/main" id="{39FF6E20-2EA5-40BB-A6DF-8CB92CC6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026B0-04C5-4AF8-BC64-103D0CD0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6383000" cy="4953000"/>
          </a:xfrm>
          <a:prstGeom xmlns:a="http://schemas.openxmlformats.org/drawingml/2006/main" prst="rect">
            <a:avLst/>
          </a:prstGeom>
          <ns0:noFill xmlns:ns0="http://schemas.openxmlformats.org/drawingml/2006/main"/>
          <a:ln xmlns:a="http://schemas.openxmlformats.org/drawingml/2006/main" w="1905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82FF1-7335-49D1-A601-F56B5D3C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6383000" cy="619125"/>
          </a:xfrm>
          <a:prstGeom xmlns:a="http://schemas.openxmlformats.org/drawingml/2006/main" prst="rect">
            <a:avLst/>
          </a:prstGeom>
          <ns0:noFill xmlns:ns0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개인 화면 · 나의 경험 확인">
            <a:extLst xmlns:a="http://schemas.openxmlformats.org/drawingml/2006/main">
              <a:ext uri="{FF2B5EF4-FFF2-40B4-BE49-F238E27FC236}">
                <a16:creationId xmlns:a16="http://schemas.microsoft.com/office/drawing/2014/main" id="{22BE4529-FBDB-45D9-9572-2BD5C4FF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05125"/>
            <a:ext cx="1592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개인 화면 · 나의 경험 확인</a:t>
            </a:r>
          </a:p>
        </p:txBody>
      </p:sp>
      <p:sp>
        <p:nvSpPr>
          <p:cNvPr id="10" name="내가 해본 행동">
            <a:extLst xmlns:a="http://schemas.openxmlformats.org/drawingml/2006/main">
              <a:ext uri="{FF2B5EF4-FFF2-40B4-BE49-F238E27FC236}">
                <a16:creationId xmlns:a16="http://schemas.microsoft.com/office/drawing/2014/main" id="{745407C5-18C5-4240-AF3F-41E157AE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3571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내가 해본 행동</a:t>
            </a:r>
          </a:p>
        </p:txBody>
      </p:sp>
      <p:sp>
        <p:nvSpPr>
          <p:cNvPr id="11" name="훈련 과제에서 신청 정보를 표로 정리했다.">
            <a:extLst xmlns:a="http://schemas.openxmlformats.org/drawingml/2006/main">
              <a:ext uri="{FF2B5EF4-FFF2-40B4-BE49-F238E27FC236}">
                <a16:creationId xmlns:a16="http://schemas.microsoft.com/office/drawing/2014/main" id="{16ED2C37-4319-448A-8B27-80DE7897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12334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훈련 과제에서 신청 정보를 표로 정리했다.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14269-66F2-4853-B859-DF8D6240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48175"/>
            <a:ext cx="16287750" cy="9525"/>
          </a:xfrm>
          <a:custGeom xmlns:a="http://schemas.openxmlformats.org/drawingml/2006/main">
            <a:pathLst>
              <a:path w="16287750" h="9525">
                <a:moveTo>
                  <a:pt x="0" y="0"/>
                </a:moveTo>
                <a:lnTo>
                  <a:pt x="1628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6DB"/>
            </a:solidFill>
          </a:ln>
        </p:spPr>
      </p:sp>
      <p:sp>
        <p:nvSpPr>
          <p:cNvPr id="13" name="남은 결과">
            <a:extLst xmlns:a="http://schemas.openxmlformats.org/drawingml/2006/main">
              <a:ext uri="{FF2B5EF4-FFF2-40B4-BE49-F238E27FC236}">
                <a16:creationId xmlns:a16="http://schemas.microsoft.com/office/drawing/2014/main" id="{518EEAFA-5876-47B1-B02A-EBD1F707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3571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남은 결과</a:t>
            </a:r>
          </a:p>
        </p:txBody>
      </p:sp>
      <p:sp>
        <p:nvSpPr>
          <p:cNvPr id="14" name="내가 완성한 연습 파일이 있다.">
            <a:extLst xmlns:a="http://schemas.openxmlformats.org/drawingml/2006/main">
              <a:ext uri="{FF2B5EF4-FFF2-40B4-BE49-F238E27FC236}">
                <a16:creationId xmlns:a16="http://schemas.microsoft.com/office/drawing/2014/main" id="{F094E11F-714E-4003-96C0-82724D52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86300"/>
            <a:ext cx="12334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내가 완성한 연습 파일이 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F50EE6-FD83-4DAD-BF9E-0B973CA7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9725"/>
            <a:ext cx="16287750" cy="9525"/>
          </a:xfrm>
          <a:custGeom xmlns:a="http://schemas.openxmlformats.org/drawingml/2006/main">
            <a:pathLst>
              <a:path w="16287750" h="9525">
                <a:moveTo>
                  <a:pt x="0" y="0"/>
                </a:moveTo>
                <a:lnTo>
                  <a:pt x="1628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6DB"/>
            </a:solidFill>
          </a:ln>
        </p:spPr>
      </p:sp>
      <p:sp>
        <p:nvSpPr>
          <p:cNvPr id="16" name="연결할 업무 후보">
            <a:extLst xmlns:a="http://schemas.openxmlformats.org/drawingml/2006/main">
              <a:ext uri="{FF2B5EF4-FFF2-40B4-BE49-F238E27FC236}">
                <a16:creationId xmlns:a16="http://schemas.microsoft.com/office/drawing/2014/main" id="{07B810B7-1989-4A25-8B3A-0C8E2875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57850"/>
            <a:ext cx="3571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연결할 업무 후보</a:t>
            </a:r>
          </a:p>
        </p:txBody>
      </p:sp>
      <p:sp>
        <p:nvSpPr>
          <p:cNvPr id="17" name="명단 입력과 정리 업무">
            <a:extLst xmlns:a="http://schemas.openxmlformats.org/drawingml/2006/main">
              <a:ext uri="{FF2B5EF4-FFF2-40B4-BE49-F238E27FC236}">
                <a16:creationId xmlns:a16="http://schemas.microsoft.com/office/drawing/2014/main" id="{CC987423-E238-4769-AED2-AEA9AF68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657850"/>
            <a:ext cx="12334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명단 입력과 정리 업무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DF4162-7134-435B-A950-501BDFB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391275"/>
            <a:ext cx="16287750" cy="9525"/>
          </a:xfrm>
          <a:custGeom xmlns:a="http://schemas.openxmlformats.org/drawingml/2006/main">
            <a:pathLst>
              <a:path w="16287750" h="9525">
                <a:moveTo>
                  <a:pt x="0" y="0"/>
                </a:moveTo>
                <a:lnTo>
                  <a:pt x="1628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6DB"/>
            </a:solidFill>
          </a:ln>
        </p:spPr>
      </p:sp>
      <p:sp>
        <p:nvSpPr>
          <p:cNvPr id="19" name="추가 확인">
            <a:extLst xmlns:a="http://schemas.openxmlformats.org/drawingml/2006/main">
              <a:ext uri="{FF2B5EF4-FFF2-40B4-BE49-F238E27FC236}">
                <a16:creationId xmlns:a16="http://schemas.microsoft.com/office/drawing/2014/main" id="{8007C85D-0B91-4FCC-94D3-68EC6667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629400"/>
            <a:ext cx="3571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추가 확인</a:t>
            </a:r>
          </a:p>
        </p:txBody>
      </p:sp>
      <p:sp>
        <p:nvSpPr>
          <p:cNvPr id="20" name="오류 점검 절차는 더 연습하고 싶다.">
            <a:extLst xmlns:a="http://schemas.openxmlformats.org/drawingml/2006/main">
              <a:ext uri="{FF2B5EF4-FFF2-40B4-BE49-F238E27FC236}">
                <a16:creationId xmlns:a16="http://schemas.microsoft.com/office/drawing/2014/main" id="{B4C187AC-1E16-4C70-9CD1-B6FC8E26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629400"/>
            <a:ext cx="12334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오류 점검 절차는 더 연습하고 싶다.</a:t>
            </a:r>
          </a:p>
        </p:txBody>
      </p:sp>
      <p:sp xmlns:a="http://schemas.openxmlformats.org/drawingml/2006/main">
        <p:nvSpPr>
          <p:cNvPr id="22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23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72321997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2교시 · 나의 경험">
            <a:extLst xmlns:a="http://schemas.openxmlformats.org/drawingml/2006/main">
              <a:ext uri="{FF2B5EF4-FFF2-40B4-BE49-F238E27FC236}">
                <a16:creationId xmlns:a16="http://schemas.microsoft.com/office/drawing/2014/main" id="{2BCE3866-6CB0-478E-8E6D-45FD4D05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2교시 · 나의 경험</a:t>
            </a:r>
          </a:p>
        </p:txBody>
      </p:sp>
      <p:sp>
        <p:nvSpPr>
          <p:cNvPr id="2" name="01:46–01:50  ·  4분">
            <a:extLst xmlns:a="http://schemas.openxmlformats.org/drawingml/2006/main">
              <a:ext uri="{FF2B5EF4-FFF2-40B4-BE49-F238E27FC236}">
                <a16:creationId xmlns:a16="http://schemas.microsoft.com/office/drawing/2014/main" id="{5A96DEE7-F71C-44D7-BDA5-F3D1E186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01:46–01:50  ·  4분</a:t>
            </a:r>
          </a:p>
        </p:txBody>
      </p:sp>
      <p:sp>
        <p:nvSpPr>
          <p:cNvPr id="3" name="내 경험을 본 뒤 달라진 질문">
            <a:extLst xmlns:a="http://schemas.openxmlformats.org/drawingml/2006/main">
              <a:ext uri="{FF2B5EF4-FFF2-40B4-BE49-F238E27FC236}">
                <a16:creationId xmlns:a16="http://schemas.microsoft.com/office/drawing/2014/main" id="{A95A6DC7-D73F-4BBB-9BC8-DB1CD867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내 경험을 본 뒤 달라진 질문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FED91-69A6-47F9-A9E2-A6816D98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Lent &amp; Brown (2019), 사회인지진로이론">
            <a:extLst xmlns:a="http://schemas.openxmlformats.org/drawingml/2006/main">
              <a:ext uri="{FF2B5EF4-FFF2-40B4-BE49-F238E27FC236}">
                <a16:creationId xmlns:a16="http://schemas.microsoft.com/office/drawing/2014/main" id="{D4485542-3FAC-491A-A8B9-BE775989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Lent &amp; Brown (2019), 사회인지진로이론</a:t>
            </a:r>
          </a:p>
        </p:txBody>
      </p:sp>
      <p:sp>
        <p:nvSpPr>
          <p:cNvPr id="6" name="26">
            <a:extLst xmlns:a="http://schemas.openxmlformats.org/drawingml/2006/main">
              <a:ext uri="{FF2B5EF4-FFF2-40B4-BE49-F238E27FC236}">
                <a16:creationId xmlns:a16="http://schemas.microsoft.com/office/drawing/2014/main" id="{D906139F-B4DC-41D9-92E6-AAF81F90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7" name="“나는 할 수 있을까?”">
            <a:extLst xmlns:a="http://schemas.openxmlformats.org/drawingml/2006/main">
              <a:ext uri="{FF2B5EF4-FFF2-40B4-BE49-F238E27FC236}">
                <a16:creationId xmlns:a16="http://schemas.microsoft.com/office/drawing/2014/main" id="{A792D971-D419-46DE-8F6B-84DFD865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1619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75" b="1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5175" b="1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5175" b="1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“나는 할 수 있을까?”</a:t>
            </a:r>
          </a:p>
        </p:txBody>
      </p:sp>
      <p:sp>
        <p:nvSpPr>
          <p:cNvPr id="8" name="“이 업무의 어떤 부분은 해봤고,&#10;어떤 부분을 연습하면 될까?”">
            <a:extLst xmlns:a="http://schemas.openxmlformats.org/drawingml/2006/main">
              <a:ext uri="{FF2B5EF4-FFF2-40B4-BE49-F238E27FC236}">
                <a16:creationId xmlns:a16="http://schemas.microsoft.com/office/drawing/2014/main" id="{062BE8C2-9BCF-479F-8EC9-F1E15668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1619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02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502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502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“이 업무의 어떤 부분은 해봤고,</a:t>
            </a:r>
          </a:p>
          <a:p xmlns:a="http://schemas.openxmlformats.org/drawingml/2006/main">
            <a:pPr algn="l">
              <a:defRPr sz="502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502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어떤 부분을 연습하면 될까?”</a:t>
            </a:r>
          </a:p>
        </p:txBody>
      </p:sp>
      <p:sp xmlns:a="http://schemas.openxmlformats.org/drawingml/2006/main">
        <p:nvSpPr>
          <p:cNvPr id="10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1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4908011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휴식">
            <a:extLst xmlns:a="http://schemas.openxmlformats.org/drawingml/2006/main">
              <a:ext uri="{FF2B5EF4-FFF2-40B4-BE49-F238E27FC236}">
                <a16:creationId xmlns:a16="http://schemas.microsoft.com/office/drawing/2014/main" id="{D7ABE9F5-C4B7-46BD-B502-B4309322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휴식</a:t>
            </a:r>
          </a:p>
        </p:txBody>
      </p:sp>
      <p:sp>
        <p:nvSpPr>
          <p:cNvPr id="2" name="01:50–02:00  ·  10분">
            <a:extLst xmlns:a="http://schemas.openxmlformats.org/drawingml/2006/main">
              <a:ext uri="{FF2B5EF4-FFF2-40B4-BE49-F238E27FC236}">
                <a16:creationId xmlns:a16="http://schemas.microsoft.com/office/drawing/2014/main" id="{81867FC6-53BE-430B-8ADB-F340FF19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01:50–02:00  ·  10분</a:t>
            </a:r>
          </a:p>
        </p:txBody>
      </p:sp>
      <p:sp>
        <p:nvSpPr>
          <p:cNvPr id="3" name="잠시 쉬어갑니다">
            <a:extLst xmlns:a="http://schemas.openxmlformats.org/drawingml/2006/main">
              <a:ext uri="{FF2B5EF4-FFF2-40B4-BE49-F238E27FC236}">
                <a16:creationId xmlns:a16="http://schemas.microsoft.com/office/drawing/2014/main" id="{052C7F5A-D47A-4253-A216-9D4E68AE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잠시 쉬어갑니다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07FA7-1D0E-4C97-A811-EBDA57CE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07284"/>
            </a:solidFill>
          </a:ln>
        </p:spPr>
      </p:sp>
      <p:sp>
        <p:nvSpPr>
          <p:cNvPr id="5" name="개인 PC 활동과 강의 해설">
            <a:extLst xmlns:a="http://schemas.openxmlformats.org/drawingml/2006/main">
              <a:ext uri="{FF2B5EF4-FFF2-40B4-BE49-F238E27FC236}">
                <a16:creationId xmlns:a16="http://schemas.microsoft.com/office/drawing/2014/main" id="{14CF2959-6486-47BD-962F-68C1829A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개인 PC 활동과 강의 해설</a:t>
            </a:r>
          </a:p>
        </p:txBody>
      </p:sp>
      <p:sp>
        <p:nvSpPr>
          <p:cNvPr id="6" name="27">
            <a:extLst xmlns:a="http://schemas.openxmlformats.org/drawingml/2006/main">
              <a:ext uri="{FF2B5EF4-FFF2-40B4-BE49-F238E27FC236}">
                <a16:creationId xmlns:a16="http://schemas.microsoft.com/office/drawing/2014/main" id="{1FD64D78-C690-4791-980A-8DD42068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7" name="10">
            <a:extLst xmlns:a="http://schemas.openxmlformats.org/drawingml/2006/main">
              <a:ext uri="{FF2B5EF4-FFF2-40B4-BE49-F238E27FC236}">
                <a16:creationId xmlns:a16="http://schemas.microsoft.com/office/drawing/2014/main" id="{D7E9B621-4D24-4CA5-9236-7A7F6E46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5715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8" name="분">
            <a:extLst xmlns:a="http://schemas.openxmlformats.org/drawingml/2006/main">
              <a:ext uri="{FF2B5EF4-FFF2-40B4-BE49-F238E27FC236}">
                <a16:creationId xmlns:a16="http://schemas.microsoft.com/office/drawing/2014/main" id="{AADA142D-A528-4217-B8F6-2F2DCC84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171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600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9" name="다음 시간">
            <a:extLst xmlns:a="http://schemas.openxmlformats.org/drawingml/2006/main">
              <a:ext uri="{FF2B5EF4-FFF2-40B4-BE49-F238E27FC236}">
                <a16:creationId xmlns:a16="http://schemas.microsoft.com/office/drawing/2014/main" id="{6F6C0ABB-CFE9-4D6A-8E78-345851D3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838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다음 시간</a:t>
            </a:r>
          </a:p>
        </p:txBody>
      </p:sp>
      <p:sp>
        <p:nvSpPr>
          <p:cNvPr id="10" name="작은 직무 과제를&#10;직접 해보는 시간">
            <a:extLst xmlns:a="http://schemas.openxmlformats.org/drawingml/2006/main">
              <a:ext uri="{FF2B5EF4-FFF2-40B4-BE49-F238E27FC236}">
                <a16:creationId xmlns:a16="http://schemas.microsoft.com/office/drawing/2014/main" id="{594D3AFB-A9B0-414A-A60E-6511C9EA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857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작은 직무 과제를</a:t>
            </a:r>
          </a:p>
          <a:p xmlns:a="http://schemas.openxmlformats.org/drawingml/2006/main">
            <a:pPr algn="l">
              <a:defRPr sz="4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직접 해보는 시간</a:t>
            </a:r>
          </a:p>
        </p:txBody>
      </p:sp>
      <p:sp xmlns:a="http://schemas.openxmlformats.org/drawingml/2006/main">
        <p:nvSpPr>
          <p:cNvPr id="12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3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73198633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3교시">
            <a:extLst xmlns:a="http://schemas.openxmlformats.org/drawingml/2006/main">
              <a:ext uri="{FF2B5EF4-FFF2-40B4-BE49-F238E27FC236}">
                <a16:creationId xmlns:a16="http://schemas.microsoft.com/office/drawing/2014/main" id="{259EDD1B-BDB8-45D0-ADAD-B496A50D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3교시</a:t>
            </a:r>
          </a:p>
        </p:txBody>
      </p:sp>
      <p:sp>
        <p:nvSpPr>
          <p:cNvPr id="2" name="02:00–02:02  ·  2분">
            <a:extLst xmlns:a="http://schemas.openxmlformats.org/drawingml/2006/main">
              <a:ext uri="{FF2B5EF4-FFF2-40B4-BE49-F238E27FC236}">
                <a16:creationId xmlns:a16="http://schemas.microsoft.com/office/drawing/2014/main" id="{1C57E394-7CC0-4C84-A1A6-6B4BBBA5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02:00–02:02  ·  2분</a:t>
            </a:r>
          </a:p>
        </p:txBody>
      </p:sp>
      <p:sp>
        <p:nvSpPr>
          <p:cNvPr id="3" name="직무를 작게 경험하기">
            <a:extLst xmlns:a="http://schemas.openxmlformats.org/drawingml/2006/main">
              <a:ext uri="{FF2B5EF4-FFF2-40B4-BE49-F238E27FC236}">
                <a16:creationId xmlns:a16="http://schemas.microsoft.com/office/drawing/2014/main" id="{5E9A253A-7D25-4EE3-97D4-BE151818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직무를 작게 경험하기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A3915-BC00-40C3-8B2C-4F54D5B0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07284"/>
            </a:solidFill>
          </a:ln>
        </p:spPr>
      </p:sp>
      <p:sp>
        <p:nvSpPr>
          <p:cNvPr id="5" name="개인 PC 활동과 강의 해설">
            <a:extLst xmlns:a="http://schemas.openxmlformats.org/drawingml/2006/main">
              <a:ext uri="{FF2B5EF4-FFF2-40B4-BE49-F238E27FC236}">
                <a16:creationId xmlns:a16="http://schemas.microsoft.com/office/drawing/2014/main" id="{F0B8C977-73AD-4E3E-AA03-8C3A2430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개인 PC 활동과 강의 해설</a:t>
            </a:r>
          </a:p>
        </p:txBody>
      </p:sp>
      <p:sp>
        <p:nvSpPr>
          <p:cNvPr id="6" name="28">
            <a:extLst xmlns:a="http://schemas.openxmlformats.org/drawingml/2006/main">
              <a:ext uri="{FF2B5EF4-FFF2-40B4-BE49-F238E27FC236}">
                <a16:creationId xmlns:a16="http://schemas.microsoft.com/office/drawing/2014/main" id="{995D3033-2F0A-4D28-B17D-569888C1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7" name="3">
            <a:extLst xmlns:a="http://schemas.openxmlformats.org/drawingml/2006/main">
              <a:ext uri="{FF2B5EF4-FFF2-40B4-BE49-F238E27FC236}">
                <a16:creationId xmlns:a16="http://schemas.microsoft.com/office/drawing/2014/main" id="{366F772C-C5D1-455A-BE66-C2BBD96A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4191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8" name="공고를 읽고, 실제로 짧은 과제를 풀며&#10;준비할 것을 구체화합니다.">
            <a:extLst xmlns:a="http://schemas.openxmlformats.org/drawingml/2006/main">
              <a:ext uri="{FF2B5EF4-FFF2-40B4-BE49-F238E27FC236}">
                <a16:creationId xmlns:a16="http://schemas.microsoft.com/office/drawing/2014/main" id="{85920DB0-C10F-40E4-8973-F458BAD8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7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공고를 읽고, 실제로 짧은 과제를 풀며</a:t>
            </a:r>
          </a:p>
          <a:p xmlns:a="http://schemas.openxmlformats.org/drawingml/2006/main">
            <a:pPr algn="l">
              <a:defRPr sz="37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준비할 것을 구체화합니다.</a:t>
            </a:r>
          </a:p>
        </p:txBody>
      </p:sp>
      <p:sp>
        <p:nvSpPr>
          <p:cNvPr id="9" name="정보를 읽는 것과 직접 해보는 것은 어떻게 다를까요?">
            <a:extLst xmlns:a="http://schemas.openxmlformats.org/drawingml/2006/main">
              <a:ext uri="{FF2B5EF4-FFF2-40B4-BE49-F238E27FC236}">
                <a16:creationId xmlns:a16="http://schemas.microsoft.com/office/drawing/2014/main" id="{2DAB114F-19A3-4FAB-B616-1CC9FDCF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정보를 읽는 것과 직접 해보는 것은 어떻게 다를까요?</a:t>
            </a:r>
          </a:p>
        </p:txBody>
      </p:sp>
      <p:sp xmlns:a="http://schemas.openxmlformats.org/drawingml/2006/main">
        <p:nvSpPr>
          <p:cNvPr id="11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2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75294750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3교시 · 업무와 연결">
            <a:extLst xmlns:a="http://schemas.openxmlformats.org/drawingml/2006/main">
              <a:ext uri="{FF2B5EF4-FFF2-40B4-BE49-F238E27FC236}">
                <a16:creationId xmlns:a16="http://schemas.microsoft.com/office/drawing/2014/main" id="{6CA56BD9-87BB-4658-B137-A8120B6C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3교시 · 업무와 연결</a:t>
            </a:r>
          </a:p>
        </p:txBody>
      </p:sp>
      <p:sp>
        <p:nvSpPr>
          <p:cNvPr id="2" name="02:02–02:06  ·  4분">
            <a:extLst xmlns:a="http://schemas.openxmlformats.org/drawingml/2006/main">
              <a:ext uri="{FF2B5EF4-FFF2-40B4-BE49-F238E27FC236}">
                <a16:creationId xmlns:a16="http://schemas.microsoft.com/office/drawing/2014/main" id="{FA3AD21A-76B9-4750-A89E-B1AE9374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02:02–02:06  ·  4분</a:t>
            </a:r>
          </a:p>
        </p:txBody>
      </p:sp>
      <p:sp>
        <p:nvSpPr>
          <p:cNvPr id="3" name="교육운영 사무보조 공고 읽기">
            <a:extLst xmlns:a="http://schemas.openxmlformats.org/drawingml/2006/main">
              <a:ext uri="{FF2B5EF4-FFF2-40B4-BE49-F238E27FC236}">
                <a16:creationId xmlns:a16="http://schemas.microsoft.com/office/drawing/2014/main" id="{D3C1C00C-6907-47F9-9E39-7500C8DF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교육운영 사무보조 공고 읽기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81DD3-B8A1-4808-8D33-C20EE949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교육용 가상 공고 · 실제 채용정보가 아닙니다.">
            <a:extLst xmlns:a="http://schemas.openxmlformats.org/drawingml/2006/main">
              <a:ext uri="{FF2B5EF4-FFF2-40B4-BE49-F238E27FC236}">
                <a16:creationId xmlns:a16="http://schemas.microsoft.com/office/drawing/2014/main" id="{4610EEF3-8AD8-485D-BA6F-6B0A395D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교육용 가상 공고 · 실제 채용정보가 아닙니다.</a:t>
            </a:r>
          </a:p>
        </p:txBody>
      </p:sp>
      <p:sp>
        <p:nvSpPr>
          <p:cNvPr id="6" name="29">
            <a:extLst xmlns:a="http://schemas.openxmlformats.org/drawingml/2006/main">
              <a:ext uri="{FF2B5EF4-FFF2-40B4-BE49-F238E27FC236}">
                <a16:creationId xmlns:a16="http://schemas.microsoft.com/office/drawing/2014/main" id="{315AE19E-2924-4CF9-BC26-ED915BC0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407C4-C537-495E-B5C8-DAD7C429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0668000" cy="5762625"/>
          </a:xfrm>
          <a:prstGeom xmlns:a="http://schemas.openxmlformats.org/drawingml/2006/main" prst="rect">
            <a:avLst/>
          </a:prstGeom>
          <ns0:noFill xmlns:ns0="http://schemas.openxmlformats.org/drawingml/2006/main"/>
          <a:ln xmlns:a="http://schemas.openxmlformats.org/drawingml/2006/main" w="19050">
            <a:noFill/>
          </a:ln>
        </p:spPr>
      </p:sp>
      <p:sp>
        <p:nvSpPr>
          <p:cNvPr id="8" name="교육운영 사무보조 모집">
            <a:extLst xmlns:a="http://schemas.openxmlformats.org/drawingml/2006/main">
              <a:ext uri="{FF2B5EF4-FFF2-40B4-BE49-F238E27FC236}">
                <a16:creationId xmlns:a16="http://schemas.microsoft.com/office/drawing/2014/main" id="{56DED3FE-31BB-44AF-BFBE-F2171B09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95625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교육운영 사무보조 모집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9864C-D5E3-4B12-A27E-02707892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57650"/>
            <a:ext cx="9763125" cy="9525"/>
          </a:xfrm>
          <a:custGeom xmlns:a="http://schemas.openxmlformats.org/drawingml/2006/main">
            <a:pathLst>
              <a:path w="9763125" h="9525">
                <a:moveTo>
                  <a:pt x="0" y="0"/>
                </a:moveTo>
                <a:lnTo>
                  <a:pt x="976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0" name="참가자 명단 입력과 중복·누락 확인&#10;일정 변경 안내">
            <a:extLst xmlns:a="http://schemas.openxmlformats.org/drawingml/2006/main">
              <a:ext uri="{FF2B5EF4-FFF2-40B4-BE49-F238E27FC236}">
                <a16:creationId xmlns:a16="http://schemas.microsoft.com/office/drawing/2014/main" id="{E390793F-4A01-4385-8728-7CD7CE2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81500"/>
            <a:ext cx="981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참가자 명단 입력과 중복·누락 확인</a:t>
            </a:r>
          </a:p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일정 변경 안내</a:t>
            </a:r>
          </a:p>
        </p:txBody>
      </p:sp>
      <p:sp>
        <p:nvSpPr>
          <p:cNvPr id="11" name="스프레드시트 기초 사용 가능">
            <a:extLst xmlns:a="http://schemas.openxmlformats.org/drawingml/2006/main">
              <a:ext uri="{FF2B5EF4-FFF2-40B4-BE49-F238E27FC236}">
                <a16:creationId xmlns:a16="http://schemas.microsoft.com/office/drawing/2014/main" id="{92440CCD-1E96-443A-B2B4-D9F242D4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9531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스프레드시트 기초 사용 가능</a:t>
            </a:r>
          </a:p>
        </p:txBody>
      </p:sp>
      <p:sp>
        <p:nvSpPr>
          <p:cNvPr id="12" name="교육 또는 행사 운영 경험 우대">
            <a:extLst xmlns:a="http://schemas.openxmlformats.org/drawingml/2006/main">
              <a:ext uri="{FF2B5EF4-FFF2-40B4-BE49-F238E27FC236}">
                <a16:creationId xmlns:a16="http://schemas.microsoft.com/office/drawing/2014/main" id="{6AE3FFD1-147E-452A-9A01-34DC6FDB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81037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교육 또는 행사 운영 경험 우대</a:t>
            </a:r>
          </a:p>
        </p:txBody>
      </p:sp>
      <p:sp>
        <p:nvSpPr>
          <p:cNvPr id="13" name="평일 09:00–16:00">
            <a:extLst xmlns:a="http://schemas.openxmlformats.org/drawingml/2006/main">
              <a:ext uri="{FF2B5EF4-FFF2-40B4-BE49-F238E27FC236}">
                <a16:creationId xmlns:a16="http://schemas.microsoft.com/office/drawing/2014/main" id="{D9AAA347-2887-403A-A3C2-3F1176AA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6676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평일 09:00–16:00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5E0FC-D9AA-4F1A-9764-12C998F0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905375"/>
            <a:ext cx="666750" cy="9525"/>
          </a:xfrm>
          <a:custGeom xmlns:a="http://schemas.openxmlformats.org/drawingml/2006/main"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5" name="주요 업무">
            <a:extLst xmlns:a="http://schemas.openxmlformats.org/drawingml/2006/main">
              <a:ext uri="{FF2B5EF4-FFF2-40B4-BE49-F238E27FC236}">
                <a16:creationId xmlns:a16="http://schemas.microsoft.com/office/drawing/2014/main" id="{5F7B84AC-0812-466C-9798-030C7F05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61962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주요 업무</a:t>
            </a:r>
          </a:p>
        </p:txBody>
      </p:sp>
      <p:sp>
        <p:nvSpPr>
          <p:cNvPr id="16" name="어떤 행동을 하는가">
            <a:extLst xmlns:a="http://schemas.openxmlformats.org/drawingml/2006/main">
              <a:ext uri="{FF2B5EF4-FFF2-40B4-BE49-F238E27FC236}">
                <a16:creationId xmlns:a16="http://schemas.microsoft.com/office/drawing/2014/main" id="{7FF5CD1F-8ECC-41D2-BF54-DC6FE522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14350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어떤 행동을 하는가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A31B8-EBF9-4A94-BD01-65EF4ED9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191250"/>
            <a:ext cx="666750" cy="9525"/>
          </a:xfrm>
          <a:custGeom xmlns:a="http://schemas.openxmlformats.org/drawingml/2006/main"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8" name="필수요건">
            <a:extLst xmlns:a="http://schemas.openxmlformats.org/drawingml/2006/main">
              <a:ext uri="{FF2B5EF4-FFF2-40B4-BE49-F238E27FC236}">
                <a16:creationId xmlns:a16="http://schemas.microsoft.com/office/drawing/2014/main" id="{3BF8EACD-9CA3-4714-AEDB-9B559563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90550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필수요건</a:t>
            </a:r>
          </a:p>
        </p:txBody>
      </p:sp>
      <p:sp>
        <p:nvSpPr>
          <p:cNvPr id="19" name="반드시 필요한 조건">
            <a:extLst xmlns:a="http://schemas.openxmlformats.org/drawingml/2006/main">
              <a:ext uri="{FF2B5EF4-FFF2-40B4-BE49-F238E27FC236}">
                <a16:creationId xmlns:a16="http://schemas.microsoft.com/office/drawing/2014/main" id="{1C3C1705-6B4C-4821-92E1-07D4FF97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42937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반드시 필요한 조건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C2B856-1834-43A8-B474-C5F31121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048500"/>
            <a:ext cx="666750" cy="9525"/>
          </a:xfrm>
          <a:custGeom xmlns:a="http://schemas.openxmlformats.org/drawingml/2006/main"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21" name="우대사항">
            <a:extLst xmlns:a="http://schemas.openxmlformats.org/drawingml/2006/main">
              <a:ext uri="{FF2B5EF4-FFF2-40B4-BE49-F238E27FC236}">
                <a16:creationId xmlns:a16="http://schemas.microsoft.com/office/drawing/2014/main" id="{B1CA8495-818E-4DBC-92D6-B210E7D4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7627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우대사항</a:t>
            </a:r>
          </a:p>
        </p:txBody>
      </p:sp>
      <p:sp>
        <p:nvSpPr>
          <p:cNvPr id="22" name="추가로 우대하는 조건">
            <a:extLst xmlns:a="http://schemas.openxmlformats.org/drawingml/2006/main">
              <a:ext uri="{FF2B5EF4-FFF2-40B4-BE49-F238E27FC236}">
                <a16:creationId xmlns:a16="http://schemas.microsoft.com/office/drawing/2014/main" id="{CD4CEA88-3913-4DB7-ACF8-E6E8C474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28662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추가로 우대하는 조건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FB5378-5A0C-44B6-A5A4-086379D1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905750"/>
            <a:ext cx="666750" cy="9525"/>
          </a:xfrm>
          <a:custGeom xmlns:a="http://schemas.openxmlformats.org/drawingml/2006/main"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24" name="근무 조건">
            <a:extLst xmlns:a="http://schemas.openxmlformats.org/drawingml/2006/main">
              <a:ext uri="{FF2B5EF4-FFF2-40B4-BE49-F238E27FC236}">
                <a16:creationId xmlns:a16="http://schemas.microsoft.com/office/drawing/2014/main" id="{911736C5-F076-4B64-A835-40949023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62000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근무 조건</a:t>
            </a:r>
          </a:p>
        </p:txBody>
      </p:sp>
      <p:sp>
        <p:nvSpPr>
          <p:cNvPr id="25" name="내 생활 기준과 비교">
            <a:extLst xmlns:a="http://schemas.openxmlformats.org/drawingml/2006/main">
              <a:ext uri="{FF2B5EF4-FFF2-40B4-BE49-F238E27FC236}">
                <a16:creationId xmlns:a16="http://schemas.microsoft.com/office/drawing/2014/main" id="{2C3EC3DD-D174-4A64-9B24-6D5E0C0F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814387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내 생활 기준과 비교</a:t>
            </a:r>
          </a:p>
        </p:txBody>
      </p:sp>
      <p:sp xmlns:a="http://schemas.openxmlformats.org/drawingml/2006/main">
        <p:nvSpPr>
          <p:cNvPr id="27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28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58738720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3교시 · 업무와 연결">
            <a:extLst xmlns:a="http://schemas.openxmlformats.org/drawingml/2006/main">
              <a:ext uri="{FF2B5EF4-FFF2-40B4-BE49-F238E27FC236}">
                <a16:creationId xmlns:a16="http://schemas.microsoft.com/office/drawing/2014/main" id="{7B1FD1FB-8AB1-4C48-890B-96F2C723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3교시 · 업무와 연결</a:t>
            </a:r>
          </a:p>
        </p:txBody>
      </p:sp>
      <p:sp>
        <p:nvSpPr>
          <p:cNvPr id="2" name="02:06–02:10  ·  4분">
            <a:extLst xmlns:a="http://schemas.openxmlformats.org/drawingml/2006/main">
              <a:ext uri="{FF2B5EF4-FFF2-40B4-BE49-F238E27FC236}">
                <a16:creationId xmlns:a16="http://schemas.microsoft.com/office/drawing/2014/main" id="{311D9FCE-6B53-4CDC-B4A0-DAF7F98C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02:06–02:10  ·  4분</a:t>
            </a:r>
          </a:p>
        </p:txBody>
      </p:sp>
      <p:sp>
        <p:nvSpPr>
          <p:cNvPr id="3" name="지원 판단 전에 확인할 표현">
            <a:extLst xmlns:a="http://schemas.openxmlformats.org/drawingml/2006/main">
              <a:ext uri="{FF2B5EF4-FFF2-40B4-BE49-F238E27FC236}">
                <a16:creationId xmlns:a16="http://schemas.microsoft.com/office/drawing/2014/main" id="{E33B505E-C26C-48D5-9C34-9C74EC2C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지원 판단 전에 확인할 표현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C9502-4B3A-4E2C-841C-2B4D9D37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개인 PC 활동과 강의 해설">
            <a:extLst xmlns:a="http://schemas.openxmlformats.org/drawingml/2006/main">
              <a:ext uri="{FF2B5EF4-FFF2-40B4-BE49-F238E27FC236}">
                <a16:creationId xmlns:a16="http://schemas.microsoft.com/office/drawing/2014/main" id="{5A395D6B-29CA-4CE5-A7AD-BE481F08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개인 PC 활동과 강의 해설</a:t>
            </a:r>
          </a:p>
        </p:txBody>
      </p:sp>
      <p:sp>
        <p:nvSpPr>
          <p:cNvPr id="6" name="30">
            <a:extLst xmlns:a="http://schemas.openxmlformats.org/drawingml/2006/main">
              <a:ext uri="{FF2B5EF4-FFF2-40B4-BE49-F238E27FC236}">
                <a16:creationId xmlns:a16="http://schemas.microsoft.com/office/drawing/2014/main" id="{1AF26006-F34D-4AE9-AA14-740A6621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B276F-AC67-4A1E-8792-62FA39AA18F8}"/>
              </a:ext>
            </a:extLst>
          </p:cNvPr>
          <p:cNvGraphicFramePr/>
          <p:nvPr/>
        </p:nvGraphicFramePr>
        <p:xfrm>
          <a:off xmlns:a="http://schemas.openxmlformats.org/drawingml/2006/main" x="952500" y="2762250"/>
          <a:ext xmlns:a="http://schemas.openxmlformats.org/drawingml/2006/main" cx="16383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3333750"/>
                <a:gridCol w="8858250"/>
              </a:tblGrid>
              <a:tr h="1190625">
                <a:tc>
                  <a:txBody>
                    <a:bodyPr wrap="square"/>
                    <a:lstStyle/>
                    <a:p>
                      <a:r>
                        <a:rPr sz="270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공고 문장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해석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190625"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기초 사용 가능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필수요건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어떤 기능과 수준인지 추가 확인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190625"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경험 우대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우대사항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경험이 없다고 자동 탈락으로 단정하지 않음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190625"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평일 09:00–16:00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근무 조건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생활 기준과 비교, 초과근무는 별도 확인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A57DC-557F-4EAF-B759-5254F555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9" name="추정과 사실을 나누면 불필요한 포기와 성급한 판단을 줄일 수 있습니다.">
            <a:extLst xmlns:a="http://schemas.openxmlformats.org/drawingml/2006/main">
              <a:ext uri="{FF2B5EF4-FFF2-40B4-BE49-F238E27FC236}">
                <a16:creationId xmlns:a16="http://schemas.microsoft.com/office/drawing/2014/main" id="{57B207B1-64C9-481B-8372-992EFC4D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추정과 사실을 나누면 불필요한 포기와 성급한 판단을 줄일 수 있습니다.</a:t>
            </a:r>
          </a:p>
        </p:txBody>
      </p:sp>
      <p:sp xmlns:a="http://schemas.openxmlformats.org/drawingml/2006/main">
        <p:nvSpPr>
          <p:cNvPr id="11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2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5573285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3교시 · 업무와 연결">
            <a:extLst xmlns:a="http://schemas.openxmlformats.org/drawingml/2006/main">
              <a:ext uri="{FF2B5EF4-FFF2-40B4-BE49-F238E27FC236}">
                <a16:creationId xmlns:a16="http://schemas.microsoft.com/office/drawing/2014/main" id="{2DC8DEBB-6830-4DAE-896B-1B1FA310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3교시 · 업무와 연결</a:t>
            </a:r>
          </a:p>
        </p:txBody>
      </p:sp>
      <p:sp>
        <p:nvSpPr>
          <p:cNvPr id="2" name="02:10–02:13  ·  3분">
            <a:extLst xmlns:a="http://schemas.openxmlformats.org/drawingml/2006/main">
              <a:ext uri="{FF2B5EF4-FFF2-40B4-BE49-F238E27FC236}">
                <a16:creationId xmlns:a16="http://schemas.microsoft.com/office/drawing/2014/main" id="{59251CD5-1599-4B7C-A2A2-994AEDA8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02:10–02:13  ·  3분</a:t>
            </a:r>
          </a:p>
        </p:txBody>
      </p:sp>
      <p:sp>
        <p:nvSpPr>
          <p:cNvPr id="3" name="오늘 해볼 과제와 완료 기준">
            <a:extLst xmlns:a="http://schemas.openxmlformats.org/drawingml/2006/main">
              <a:ext uri="{FF2B5EF4-FFF2-40B4-BE49-F238E27FC236}">
                <a16:creationId xmlns:a16="http://schemas.microsoft.com/office/drawing/2014/main" id="{1E7C7FAF-5CFE-4181-A4B4-57AAB49D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오늘 해볼 과제와 완료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E790F-7731-4F8F-BCD3-12E6EA70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Ryan &amp; Deci (2020), 자기결정성이론 / Liu, Huang, ">
            <a:extLst xmlns:a="http://schemas.openxmlformats.org/drawingml/2006/main">
              <a:ext uri="{FF2B5EF4-FFF2-40B4-BE49-F238E27FC236}">
                <a16:creationId xmlns:a16="http://schemas.microsoft.com/office/drawing/2014/main" id="{753D7B55-201F-4DB4-A070-E0CF655F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Ryan &amp; Deci (2020), 자기결정성이론 / Liu, Huang, &amp; Wang (2014), 구직 개입 메타분석</a:t>
            </a:r>
          </a:p>
        </p:txBody>
      </p:sp>
      <p:sp>
        <p:nvSpPr>
          <p:cNvPr id="6" name="31">
            <a:extLst xmlns:a="http://schemas.openxmlformats.org/drawingml/2006/main">
              <a:ext uri="{FF2B5EF4-FFF2-40B4-BE49-F238E27FC236}">
                <a16:creationId xmlns:a16="http://schemas.microsoft.com/office/drawing/2014/main" id="{DEA5923A-DCCE-42A7-926C-3073019E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7" name="연습 1 · 명단 점검">
            <a:extLst xmlns:a="http://schemas.openxmlformats.org/drawingml/2006/main">
              <a:ext uri="{FF2B5EF4-FFF2-40B4-BE49-F238E27FC236}">
                <a16:creationId xmlns:a16="http://schemas.microsoft.com/office/drawing/2014/main" id="{4062A8B2-3598-40D7-BEC3-DEC8F733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연습 1 · 명단 점검</a:t>
            </a:r>
          </a:p>
        </p:txBody>
      </p:sp>
      <p:sp>
        <p:nvSpPr>
          <p:cNvPr id="8" name="연습 2 · 변경 안내">
            <a:extLst xmlns:a="http://schemas.openxmlformats.org/drawingml/2006/main">
              <a:ext uri="{FF2B5EF4-FFF2-40B4-BE49-F238E27FC236}">
                <a16:creationId xmlns:a16="http://schemas.microsoft.com/office/drawing/2014/main" id="{F945B5A7-AC48-404A-9FAD-5DAB6791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733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연습 2 · 변경 안내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63396-0214-473B-AEF2-D83FE842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9525" cy="4905375"/>
          </a:xfrm>
          <a:custGeom xmlns:a="http://schemas.openxmlformats.org/drawingml/2006/main">
            <a:pathLst>
              <a:path w="9525" h="4905375">
                <a:moveTo>
                  <a:pt x="0" y="0"/>
                </a:moveTo>
                <a:lnTo>
                  <a:pt x="0" y="4905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0" name="같은 신청 ID가 반복되는 곳&#10;필수 정보가 비어 있는 곳&#10;&#10;완료: 확인할 행을 선택">
            <a:extLst xmlns:a="http://schemas.openxmlformats.org/drawingml/2006/main">
              <a:ext uri="{FF2B5EF4-FFF2-40B4-BE49-F238E27FC236}">
                <a16:creationId xmlns:a16="http://schemas.microsoft.com/office/drawing/2014/main" id="{9103279E-F596-4A5C-8D00-94217F22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7334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같은 신청 ID가 반복되는 곳</a:t>
            </a:r>
          </a:p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필수 정보가 비어 있는 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완료: 확인할 행을 선택</a:t>
            </a:r>
          </a:p>
        </p:txBody>
      </p:sp>
      <p:sp>
        <p:nvSpPr>
          <p:cNvPr id="11" name="안내에 필요한 정보가&#10;빠진 곳 찾기&#10;&#10;완료: 다시 쓸 항목을 선택">
            <a:extLst xmlns:a="http://schemas.openxmlformats.org/drawingml/2006/main">
              <a:ext uri="{FF2B5EF4-FFF2-40B4-BE49-F238E27FC236}">
                <a16:creationId xmlns:a16="http://schemas.microsoft.com/office/drawing/2014/main" id="{3A43E7AE-CC73-4D8D-845C-1EA0AF93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90950"/>
            <a:ext cx="7524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안내에 필요한 정보가</a:t>
            </a:r>
          </a:p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빠진 곳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완료: 다시 쓸 항목을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C421F-CDAE-4706-A772-FC0B3258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3" name="한 번의 짧은 연습은 직무 적합성 검사나 능력 인증이 아닙니다.">
            <a:extLst xmlns:a="http://schemas.openxmlformats.org/drawingml/2006/main">
              <a:ext uri="{FF2B5EF4-FFF2-40B4-BE49-F238E27FC236}">
                <a16:creationId xmlns:a16="http://schemas.microsoft.com/office/drawing/2014/main" id="{BCED2ABC-C10D-489B-9F9E-85CC7B6A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한 번의 짧은 연습은 직무 적합성 검사나 능력 인증이 아닙니다.</a:t>
            </a:r>
          </a:p>
        </p:txBody>
      </p:sp>
      <p:sp xmlns:a="http://schemas.openxmlformats.org/drawingml/2006/main">
        <p:nvSpPr>
          <p:cNvPr id="15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6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28540912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3교시 · 업무와 연결">
            <a:extLst xmlns:a="http://schemas.openxmlformats.org/drawingml/2006/main">
              <a:ext uri="{FF2B5EF4-FFF2-40B4-BE49-F238E27FC236}">
                <a16:creationId xmlns:a16="http://schemas.microsoft.com/office/drawing/2014/main" id="{E083B14F-61A0-4C2A-86A3-6DDBAED2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3교시 · 업무와 연결</a:t>
            </a:r>
          </a:p>
        </p:txBody>
      </p:sp>
      <p:sp>
        <p:nvSpPr>
          <p:cNvPr id="2" name="02:13–02:17  ·  4분">
            <a:extLst xmlns:a="http://schemas.openxmlformats.org/drawingml/2006/main">
              <a:ext uri="{FF2B5EF4-FFF2-40B4-BE49-F238E27FC236}">
                <a16:creationId xmlns:a16="http://schemas.microsoft.com/office/drawing/2014/main" id="{7D3F557E-5982-4A16-97A2-B71DEC5D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02:13–02:17  ·  4분</a:t>
            </a:r>
          </a:p>
        </p:txBody>
      </p:sp>
      <p:sp>
        <p:nvSpPr>
          <p:cNvPr id="3" name="연습 1. 확인이 필요한 행은 어디인가요?">
            <a:extLst xmlns:a="http://schemas.openxmlformats.org/drawingml/2006/main">
              <a:ext uri="{FF2B5EF4-FFF2-40B4-BE49-F238E27FC236}">
                <a16:creationId xmlns:a16="http://schemas.microsoft.com/office/drawing/2014/main" id="{585DA264-7B79-4750-ADD2-C42FFEB4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연습 1. 확인이 필요한 행은 어디인가요?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405A5-AF07-4F4C-8722-DE796C8C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교육용 가상 자료 · 실제 개인정보 없음 · 정답은 다음 화면">
            <a:extLst xmlns:a="http://schemas.openxmlformats.org/drawingml/2006/main">
              <a:ext uri="{FF2B5EF4-FFF2-40B4-BE49-F238E27FC236}">
                <a16:creationId xmlns:a16="http://schemas.microsoft.com/office/drawing/2014/main" id="{079B7561-5BA5-425E-B9C3-671B2166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교육용 가상 자료 · 실제 개인정보 없음 · 정답은 다음 화면</a:t>
            </a:r>
          </a:p>
        </p:txBody>
      </p:sp>
      <p:sp>
        <p:nvSpPr>
          <p:cNvPr id="6" name="32">
            <a:extLst xmlns:a="http://schemas.openxmlformats.org/drawingml/2006/main">
              <a:ext uri="{FF2B5EF4-FFF2-40B4-BE49-F238E27FC236}">
                <a16:creationId xmlns:a16="http://schemas.microsoft.com/office/drawing/2014/main" id="{95E87A57-2D0F-46DE-B8DE-43AF131D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7" name="점검 기준: 신청 ID는 중복 없이, 참가 시간은 빠짐없이">
            <a:extLst xmlns:a="http://schemas.openxmlformats.org/drawingml/2006/main">
              <a:ext uri="{FF2B5EF4-FFF2-40B4-BE49-F238E27FC236}">
                <a16:creationId xmlns:a16="http://schemas.microsoft.com/office/drawing/2014/main" id="{59B2A62D-B3AD-4559-AB10-59D6E675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638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점검 기준: 신청 ID는 중복 없이, 참가 시간은 빠짐없이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3D820-8182-4751-81AC-1558950CAEC5}"/>
              </a:ext>
            </a:extLst>
          </p:cNvPr>
          <p:cNvGraphicFramePr/>
          <p:nvPr/>
        </p:nvGraphicFramePr>
        <p:xfrm>
          <a:off xmlns:a="http://schemas.openxmlformats.org/drawingml/2006/main" x="952500" y="3238500"/>
          <a:ext xmlns:a="http://schemas.openxmlformats.org/drawingml/2006/main" cx="16383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4000500"/>
                <a:gridCol w="6191250"/>
                <a:gridCol w="4667250"/>
              </a:tblGrid>
              <a:tr h="612321">
                <a:tc>
                  <a:txBody>
                    <a:bodyPr wrap="square"/>
                    <a:lstStyle/>
                    <a:p>
                      <a:r>
                        <a:rPr sz="247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</a:t>
                      </a:r>
                    </a:p>
                  </a:txBody>
                  <a:tcPr marL="209550" marR="190500" marT="95250" marB="76200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ID</a:t>
                      </a:r>
                    </a:p>
                  </a:txBody>
                  <a:tcPr marL="209550" marR="190500" marT="95250" marB="76200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교육명</a:t>
                      </a:r>
                    </a:p>
                  </a:txBody>
                  <a:tcPr marL="209550" marR="190500" marT="95250" marB="76200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참가 시간</a:t>
                      </a:r>
                    </a:p>
                  </a:txBody>
                  <a:tcPr marL="209550" marR="190500" marT="95250" marB="76200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612321"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209550" marR="190500" marT="95250" marB="76200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A101</a:t>
                      </a:r>
                    </a:p>
                  </a:txBody>
                  <a:tcPr marL="209550" marR="190500" marT="95250" marB="76200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기초 과정</a:t>
                      </a:r>
                    </a:p>
                  </a:txBody>
                  <a:tcPr marL="209550" marR="190500" marT="95250" marB="76200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10:00</a:t>
                      </a:r>
                    </a:p>
                  </a:txBody>
                  <a:tcPr marL="209550" marR="190500" marT="95250" marB="76200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612321"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209550" marR="190500" marT="95250" marB="76200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A102</a:t>
                      </a:r>
                    </a:p>
                  </a:txBody>
                  <a:tcPr marL="209550" marR="190500" marT="95250" marB="76200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기초 과정</a:t>
                      </a:r>
                    </a:p>
                  </a:txBody>
                  <a:tcPr marL="209550" marR="190500" marT="95250" marB="76200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10:00</a:t>
                      </a:r>
                    </a:p>
                  </a:txBody>
                  <a:tcPr marL="209550" marR="190500" marT="95250" marB="76200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612321"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209550" marR="190500" marT="95250" marB="76200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A103</a:t>
                      </a:r>
                    </a:p>
                  </a:txBody>
                  <a:tcPr marL="209550" marR="190500" marT="95250" marB="76200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기초 과정</a:t>
                      </a:r>
                    </a:p>
                  </a:txBody>
                  <a:tcPr marL="209550" marR="190500" marT="95250" marB="76200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10:00</a:t>
                      </a:r>
                    </a:p>
                  </a:txBody>
                  <a:tcPr marL="209550" marR="190500" marT="95250" marB="76200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612321"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209550" marR="190500" marT="95250" marB="76200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A102</a:t>
                      </a:r>
                    </a:p>
                  </a:txBody>
                  <a:tcPr marL="209550" marR="190500" marT="95250" marB="76200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기초 과정</a:t>
                      </a:r>
                    </a:p>
                  </a:txBody>
                  <a:tcPr marL="209550" marR="190500" marT="95250" marB="76200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10:00</a:t>
                      </a:r>
                    </a:p>
                  </a:txBody>
                  <a:tcPr marL="209550" marR="190500" marT="95250" marB="76200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612321"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209550" marR="190500" marT="95250" marB="76200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A104</a:t>
                      </a:r>
                    </a:p>
                  </a:txBody>
                  <a:tcPr marL="209550" marR="190500" marT="95250" marB="76200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기초 과정</a:t>
                      </a:r>
                    </a:p>
                  </a:txBody>
                  <a:tcPr marL="209550" marR="190500" marT="95250" marB="76200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209550" marR="190500" marT="95250" marB="76200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612321"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209550" marR="190500" marT="95250" marB="76200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A105</a:t>
                      </a:r>
                    </a:p>
                  </a:txBody>
                  <a:tcPr marL="209550" marR="190500" marT="95250" marB="76200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기초 과정</a:t>
                      </a:r>
                    </a:p>
                  </a:txBody>
                  <a:tcPr marL="209550" marR="190500" marT="95250" marB="76200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10:00</a:t>
                      </a:r>
                    </a:p>
                  </a:txBody>
                  <a:tcPr marL="209550" marR="190500" marT="95250" marB="76200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07E98-E1C8-42EA-8378-ED5C0456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0" name="내 화면에서 행 번호를 선택합니다. 타인의 답이나 순위는 보이지 않습니다.">
            <a:extLst xmlns:a="http://schemas.openxmlformats.org/drawingml/2006/main">
              <a:ext uri="{FF2B5EF4-FFF2-40B4-BE49-F238E27FC236}">
                <a16:creationId xmlns:a16="http://schemas.microsoft.com/office/drawing/2014/main" id="{9DEAA778-3A46-4813-BD29-9A0B4783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내 화면에서 행 번호를 선택합니다. 타인의 답이나 순위는 보이지 않습니다.</a:t>
            </a:r>
          </a:p>
        </p:txBody>
      </p:sp>
      <p:sp xmlns:a="http://schemas.openxmlformats.org/drawingml/2006/main">
        <p:nvSpPr>
          <p:cNvPr id="12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3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58834473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3교시 · 업무와 연결">
            <a:extLst xmlns:a="http://schemas.openxmlformats.org/drawingml/2006/main">
              <a:ext uri="{FF2B5EF4-FFF2-40B4-BE49-F238E27FC236}">
                <a16:creationId xmlns:a16="http://schemas.microsoft.com/office/drawing/2014/main" id="{479E6652-200A-47EB-907C-125BF25D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3교시 · 업무와 연결</a:t>
            </a:r>
          </a:p>
        </p:txBody>
      </p:sp>
      <p:sp>
        <p:nvSpPr>
          <p:cNvPr id="2" name="02:17–02:23  ·  6분">
            <a:extLst xmlns:a="http://schemas.openxmlformats.org/drawingml/2006/main">
              <a:ext uri="{FF2B5EF4-FFF2-40B4-BE49-F238E27FC236}">
                <a16:creationId xmlns:a16="http://schemas.microsoft.com/office/drawing/2014/main" id="{3EEA6F0D-4F05-4946-914A-3F778685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02:17–02:23  ·  6분</a:t>
            </a:r>
          </a:p>
        </p:txBody>
      </p:sp>
      <p:sp>
        <p:nvSpPr>
          <p:cNvPr id="3" name="연습 1 해설. 오류 발견 후에는 원본 확인">
            <a:extLst xmlns:a="http://schemas.openxmlformats.org/drawingml/2006/main">
              <a:ext uri="{FF2B5EF4-FFF2-40B4-BE49-F238E27FC236}">
                <a16:creationId xmlns:a16="http://schemas.microsoft.com/office/drawing/2014/main" id="{78C03647-6322-425F-AFD3-74E90E4E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연습 1 해설. 오류 발견 후에는 원본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35163-F7AE-4E55-810B-F11DFA0A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가상 자료 정답: 2·4행의 ID 중복, 5행의 시간 누락">
            <a:extLst xmlns:a="http://schemas.openxmlformats.org/drawingml/2006/main">
              <a:ext uri="{FF2B5EF4-FFF2-40B4-BE49-F238E27FC236}">
                <a16:creationId xmlns:a16="http://schemas.microsoft.com/office/drawing/2014/main" id="{26D98CE8-770B-47B4-85D1-E0950BB8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가상 자료 정답: 2·4행의 ID 중복, 5행의 시간 누락</a:t>
            </a:r>
          </a:p>
        </p:txBody>
      </p:sp>
      <p:sp>
        <p:nvSpPr>
          <p:cNvPr id="6" name="33">
            <a:extLst xmlns:a="http://schemas.openxmlformats.org/drawingml/2006/main">
              <a:ext uri="{FF2B5EF4-FFF2-40B4-BE49-F238E27FC236}">
                <a16:creationId xmlns:a16="http://schemas.microsoft.com/office/drawing/2014/main" id="{542ED0F8-74B5-4415-8929-104E5F19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28ACCF-F0F2-462B-B48F-2856C504B8CA}"/>
              </a:ext>
            </a:extLst>
          </p:cNvPr>
          <p:cNvGraphicFramePr/>
          <p:nvPr/>
        </p:nvGraphicFramePr>
        <p:xfrm>
          <a:off xmlns:a="http://schemas.openxmlformats.org/drawingml/2006/main" x="952500" y="3143250"/>
          <a:ext xmlns:a="http://schemas.openxmlformats.org/drawingml/2006/main" cx="885825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3619500"/>
                <a:gridCol w="4000500"/>
              </a:tblGrid>
              <a:tr h="1095375">
                <a:tc>
                  <a:txBody>
                    <a:bodyPr wrap="square"/>
                    <a:lstStyle/>
                    <a:p>
                      <a:r>
                        <a:rPr sz="315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315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ID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315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참가 시간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95375">
                <a:tc>
                  <a:txBody>
                    <a:bodyPr wrap="square"/>
                    <a:lstStyle/>
                    <a:p>
                      <a:r>
                        <a:rPr sz="31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31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A102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31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10:00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95375">
                <a:tc>
                  <a:txBody>
                    <a:bodyPr wrap="square"/>
                    <a:lstStyle/>
                    <a:p>
                      <a:r>
                        <a:rPr sz="31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31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A102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31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10:00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95375">
                <a:tc>
                  <a:txBody>
                    <a:bodyPr wrap="square"/>
                    <a:lstStyle/>
                    <a:p>
                      <a:r>
                        <a:rPr sz="31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31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A104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31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(비어 있음)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중복 ID">
            <a:extLst xmlns:a="http://schemas.openxmlformats.org/drawingml/2006/main">
              <a:ext uri="{FF2B5EF4-FFF2-40B4-BE49-F238E27FC236}">
                <a16:creationId xmlns:a16="http://schemas.microsoft.com/office/drawing/2014/main" id="{2490BF13-177B-4370-9510-CFD65767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3337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중복 ID</a:t>
            </a:r>
          </a:p>
        </p:txBody>
      </p:sp>
      <p:sp>
        <p:nvSpPr>
          <p:cNvPr id="9" name="원본 신청 내역과 대조한 뒤&#10;중복 입력인지 확인">
            <a:extLst xmlns:a="http://schemas.openxmlformats.org/drawingml/2006/main">
              <a:ext uri="{FF2B5EF4-FFF2-40B4-BE49-F238E27FC236}">
                <a16:creationId xmlns:a16="http://schemas.microsoft.com/office/drawing/2014/main" id="{577DFB23-6C4A-4231-94A4-3AAA3C52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43375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원본 신청 내역과 대조한 뒤</a:t>
            </a:r>
          </a:p>
          <a:p xmlns:a="http://schemas.openxmlformats.org/drawingml/2006/main">
            <a: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중복 입력인지 확인</a:t>
            </a:r>
          </a:p>
        </p:txBody>
      </p:sp>
      <p:sp>
        <p:nvSpPr>
          <p:cNvPr id="10" name="누락된 시간">
            <a:extLst xmlns:a="http://schemas.openxmlformats.org/drawingml/2006/main">
              <a:ext uri="{FF2B5EF4-FFF2-40B4-BE49-F238E27FC236}">
                <a16:creationId xmlns:a16="http://schemas.microsoft.com/office/drawing/2014/main" id="{EE6573FF-79E6-42AB-B1CE-5366E10C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483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34F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B34F35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B34F35"/>
                </a:solidFill>
                <a:latin typeface="Malgun Gothic"/>
                <a:ea typeface="Malgun Gothic"/>
                <a:cs typeface="Malgun Gothic"/>
              </a:rPr>
              <a:t>누락된 시간</a:t>
            </a:r>
          </a:p>
        </p:txBody>
      </p:sp>
      <p:sp>
        <p:nvSpPr>
          <p:cNvPr id="11" name="참가 시간을 확인한 뒤 보완">
            <a:extLst xmlns:a="http://schemas.openxmlformats.org/drawingml/2006/main">
              <a:ext uri="{FF2B5EF4-FFF2-40B4-BE49-F238E27FC236}">
                <a16:creationId xmlns:a16="http://schemas.microsoft.com/office/drawing/2014/main" id="{3F89A7CD-5847-470A-B779-E6BD2FB7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8580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참가 시간을 확인한 뒤 보완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84726-305A-4024-A9A8-8354E0CF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3" name="피드백: “ID와 시간이라는 기준을 적용해 확인할 항목을 찾았습니다.”">
            <a:extLst xmlns:a="http://schemas.openxmlformats.org/drawingml/2006/main">
              <a:ext uri="{FF2B5EF4-FFF2-40B4-BE49-F238E27FC236}">
                <a16:creationId xmlns:a16="http://schemas.microsoft.com/office/drawing/2014/main" id="{9C07B35F-1B51-47F3-B485-40930E30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피드백: “ID와 시간이라는 기준을 적용해 확인할 항목을 찾았습니다.”</a:t>
            </a:r>
          </a:p>
        </p:txBody>
      </p:sp>
      <p:sp xmlns:a="http://schemas.openxmlformats.org/drawingml/2006/main">
        <p:nvSpPr>
          <p:cNvPr id="15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6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52235394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3교시 · 업무와 연결">
            <a:extLst xmlns:a="http://schemas.openxmlformats.org/drawingml/2006/main">
              <a:ext uri="{FF2B5EF4-FFF2-40B4-BE49-F238E27FC236}">
                <a16:creationId xmlns:a16="http://schemas.microsoft.com/office/drawing/2014/main" id="{5F7A6576-BBCE-4A68-A291-A92F7938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3교시 · 업무와 연결</a:t>
            </a:r>
          </a:p>
        </p:txBody>
      </p:sp>
      <p:sp>
        <p:nvSpPr>
          <p:cNvPr id="2" name="02:23–02:27  ·  4분">
            <a:extLst xmlns:a="http://schemas.openxmlformats.org/drawingml/2006/main">
              <a:ext uri="{FF2B5EF4-FFF2-40B4-BE49-F238E27FC236}">
                <a16:creationId xmlns:a16="http://schemas.microsoft.com/office/drawing/2014/main" id="{2B14A554-E85B-45C9-8637-FE148A81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02:23–02:27  ·  4분</a:t>
            </a:r>
          </a:p>
        </p:txBody>
      </p:sp>
      <p:sp>
        <p:nvSpPr>
          <p:cNvPr id="3" name="연습 2. 이 안내문에서 무엇이 빠졌나요?">
            <a:extLst xmlns:a="http://schemas.openxmlformats.org/drawingml/2006/main">
              <a:ext uri="{FF2B5EF4-FFF2-40B4-BE49-F238E27FC236}">
                <a16:creationId xmlns:a16="http://schemas.microsoft.com/office/drawing/2014/main" id="{39310008-8617-40E6-8C75-587C7740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연습 2. 이 안내문에서 무엇이 빠졌나요?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12DB8-6F6B-46BB-80C5-91DD75D0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교육용 가상 안내문 · 정답은 다음 화면">
            <a:extLst xmlns:a="http://schemas.openxmlformats.org/drawingml/2006/main">
              <a:ext uri="{FF2B5EF4-FFF2-40B4-BE49-F238E27FC236}">
                <a16:creationId xmlns:a16="http://schemas.microsoft.com/office/drawing/2014/main" id="{659A2645-ECE3-4BCD-876C-D1708678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교육용 가상 안내문 · 정답은 다음 화면</a:t>
            </a:r>
          </a:p>
        </p:txBody>
      </p:sp>
      <p:sp>
        <p:nvSpPr>
          <p:cNvPr id="6" name="34">
            <a:extLst xmlns:a="http://schemas.openxmlformats.org/drawingml/2006/main">
              <a:ext uri="{FF2B5EF4-FFF2-40B4-BE49-F238E27FC236}">
                <a16:creationId xmlns:a16="http://schemas.microsoft.com/office/drawing/2014/main" id="{7B50ECF3-0CA4-4655-8998-5A160CED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CF81D-BB07-4889-95FE-3FE178A9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6383000" cy="4762500"/>
          </a:xfrm>
          <a:prstGeom xmlns:a="http://schemas.openxmlformats.org/drawingml/2006/main" prst="rect">
            <a:avLst/>
          </a:prstGeom>
          <ns0:noFill xmlns:ns0="http://schemas.openxmlformats.org/drawingml/2006/main"/>
          <a:ln xmlns:a="http://schemas.openxmlformats.org/drawingml/2006/main" w="1905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0E9DC-1F65-47A5-B5B6-722D94C7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6383000" cy="619125"/>
          </a:xfrm>
          <a:prstGeom xmlns:a="http://schemas.openxmlformats.org/drawingml/2006/main" prst="rect">
            <a:avLst/>
          </a:prstGeom>
          <ns0:noFill xmlns:ns0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참가자에게 보낼 가상 안내문">
            <a:extLst xmlns:a="http://schemas.openxmlformats.org/drawingml/2006/main">
              <a:ext uri="{FF2B5EF4-FFF2-40B4-BE49-F238E27FC236}">
                <a16:creationId xmlns:a16="http://schemas.microsoft.com/office/drawing/2014/main" id="{3705511D-F50E-4F6B-841F-7C5991FD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81325"/>
            <a:ext cx="1592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참가자에게 보낼 가상 안내문</a:t>
            </a:r>
          </a:p>
        </p:txBody>
      </p:sp>
      <p:sp>
        <p:nvSpPr>
          <p:cNvPr id="10" name="[교육 일정 변경 안내]&#10;내일 수업 시간이 변경되었습니다.&#10;착오 없이 참석해 주세요.&#10;문의">
            <a:extLst xmlns:a="http://schemas.openxmlformats.org/drawingml/2006/main">
              <a:ext uri="{FF2B5EF4-FFF2-40B4-BE49-F238E27FC236}">
                <a16:creationId xmlns:a16="http://schemas.microsoft.com/office/drawing/2014/main" id="{EE137ED6-8A74-4113-B546-77632790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52875"/>
            <a:ext cx="15240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[교육 일정 변경 안내]</a:t>
            </a:r>
          </a:p>
          <a:p xmlns:a="http://schemas.openxmlformats.org/drawingml/2006/main">
            <a:pPr algn="l">
              <a:defRPr sz="37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내일 수업 시간이 변경되었습니다.</a:t>
            </a:r>
          </a:p>
          <a:p xmlns:a="http://schemas.openxmlformats.org/drawingml/2006/main">
            <a:pPr algn="l">
              <a:defRPr sz="37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착오 없이 참석해 주세요.</a:t>
            </a:r>
          </a:p>
          <a:p xmlns:a="http://schemas.openxmlformats.org/drawingml/2006/main">
            <a:pPr algn="l">
              <a:defRPr sz="37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문의: 교육 담당자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08480-52F4-4087-81E8-ACE86065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2" name="점검 항목: 날짜 · 새 시간 · 장소 · 문의처">
            <a:extLst xmlns:a="http://schemas.openxmlformats.org/drawingml/2006/main">
              <a:ext uri="{FF2B5EF4-FFF2-40B4-BE49-F238E27FC236}">
                <a16:creationId xmlns:a16="http://schemas.microsoft.com/office/drawing/2014/main" id="{CEC9227A-F933-4257-BA8A-D344B45E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점검 항목: 날짜 · 새 시간 · 장소 · 문의처</a:t>
            </a:r>
          </a:p>
        </p:txBody>
      </p:sp>
      <p:sp xmlns:a="http://schemas.openxmlformats.org/drawingml/2006/main">
        <p:nvSpPr>
          <p:cNvPr id="14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5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33370794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3교시 · 업무와 연결">
            <a:extLst xmlns:a="http://schemas.openxmlformats.org/drawingml/2006/main">
              <a:ext uri="{FF2B5EF4-FFF2-40B4-BE49-F238E27FC236}">
                <a16:creationId xmlns:a16="http://schemas.microsoft.com/office/drawing/2014/main" id="{0B7B91D0-4805-44E1-A1E0-53F8DB68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3교시 · 업무와 연결</a:t>
            </a:r>
          </a:p>
        </p:txBody>
      </p:sp>
      <p:sp>
        <p:nvSpPr>
          <p:cNvPr id="2" name="02:27–02:31  ·  4분">
            <a:extLst xmlns:a="http://schemas.openxmlformats.org/drawingml/2006/main">
              <a:ext uri="{FF2B5EF4-FFF2-40B4-BE49-F238E27FC236}">
                <a16:creationId xmlns:a16="http://schemas.microsoft.com/office/drawing/2014/main" id="{DE381C0C-2493-4521-8506-A3E28E91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02:27–02:31  ·  4분</a:t>
            </a:r>
          </a:p>
        </p:txBody>
      </p:sp>
      <p:sp>
        <p:nvSpPr>
          <p:cNvPr id="3" name="연습 2 해설. 받는 사람이 행동할 수 있는 안내">
            <a:extLst xmlns:a="http://schemas.openxmlformats.org/drawingml/2006/main">
              <a:ext uri="{FF2B5EF4-FFF2-40B4-BE49-F238E27FC236}">
                <a16:creationId xmlns:a16="http://schemas.microsoft.com/office/drawing/2014/main" id="{9216B56E-1459-446F-964B-A02A9764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연습 2 해설. 받는 사람이 행동할 수 있는 안내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67ECB-3C25-4B83-9FFB-DC5185DF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가상 예시 · 보완 항목: 정확한 날짜, 새 시간, 장소">
            <a:extLst xmlns:a="http://schemas.openxmlformats.org/drawingml/2006/main">
              <a:ext uri="{FF2B5EF4-FFF2-40B4-BE49-F238E27FC236}">
                <a16:creationId xmlns:a16="http://schemas.microsoft.com/office/drawing/2014/main" id="{ABFF0658-495F-4F40-859B-7B27A87B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가상 예시 · 보완 항목: 정확한 날짜, 새 시간, 장소</a:t>
            </a:r>
          </a:p>
        </p:txBody>
      </p:sp>
      <p:sp>
        <p:nvSpPr>
          <p:cNvPr id="6" name="35">
            <a:extLst xmlns:a="http://schemas.openxmlformats.org/drawingml/2006/main">
              <a:ext uri="{FF2B5EF4-FFF2-40B4-BE49-F238E27FC236}">
                <a16:creationId xmlns:a16="http://schemas.microsoft.com/office/drawing/2014/main" id="{12486187-60CF-462C-89F0-556454E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FA5C8-7DCB-4EBC-A9B8-FE18FCA0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6383000" cy="4667250"/>
          </a:xfrm>
          <a:prstGeom xmlns:a="http://schemas.openxmlformats.org/drawingml/2006/main" prst="rect">
            <a:avLst/>
          </a:prstGeom>
          <ns0:noFill xmlns:ns0="http://schemas.openxmlformats.org/drawingml/2006/main"/>
          <a:ln xmlns:a="http://schemas.openxmlformats.org/drawingml/2006/main" w="19050">
            <a:noFill/>
          </a:ln>
        </p:spPr>
      </p:sp>
      <p:sp>
        <p:nvSpPr>
          <p:cNvPr id="8" name="[교육 일정 변경 안내]">
            <a:extLst xmlns:a="http://schemas.openxmlformats.org/drawingml/2006/main">
              <a:ext uri="{FF2B5EF4-FFF2-40B4-BE49-F238E27FC236}">
                <a16:creationId xmlns:a16="http://schemas.microsoft.com/office/drawing/2014/main" id="{3EFAF0BA-BC7C-47FD-A1A4-89662432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1524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[교육 일정 변경 안내]</a:t>
            </a:r>
          </a:p>
        </p:txBody>
      </p:sp>
      <p:sp>
        <p:nvSpPr>
          <p:cNvPr id="9" name="11월 6일">
            <a:extLst xmlns:a="http://schemas.openxmlformats.org/drawingml/2006/main">
              <a:ext uri="{FF2B5EF4-FFF2-40B4-BE49-F238E27FC236}">
                <a16:creationId xmlns:a16="http://schemas.microsoft.com/office/drawing/2014/main" id="{95B292B4-7919-4981-8702-FB6680A9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34F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B34F35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B34F35"/>
                </a:solidFill>
                <a:latin typeface="Malgun Gothic"/>
                <a:ea typeface="Malgun Gothic"/>
                <a:cs typeface="Malgun Gothic"/>
              </a:rPr>
              <a:t>11월 6일</a:t>
            </a:r>
          </a:p>
        </p:txBody>
      </p:sp>
      <p:sp>
        <p:nvSpPr>
          <p:cNvPr id="10" name="수업이 10:00에서">
            <a:extLst xmlns:a="http://schemas.openxmlformats.org/drawingml/2006/main">
              <a:ext uri="{FF2B5EF4-FFF2-40B4-BE49-F238E27FC236}">
                <a16:creationId xmlns:a16="http://schemas.microsoft.com/office/drawing/2014/main" id="{FBFE5797-12BA-475D-AD0D-BFDF5FA6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29125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수업이 10:00에서</a:t>
            </a:r>
          </a:p>
        </p:txBody>
      </p:sp>
      <p:sp>
        <p:nvSpPr>
          <p:cNvPr id="11" name="11:00로 변경됩니다.">
            <a:extLst xmlns:a="http://schemas.openxmlformats.org/drawingml/2006/main">
              <a:ext uri="{FF2B5EF4-FFF2-40B4-BE49-F238E27FC236}">
                <a16:creationId xmlns:a16="http://schemas.microsoft.com/office/drawing/2014/main" id="{02D64732-458D-4BAC-87BD-754510B6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429125"/>
            <a:ext cx="647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11:00로 변경됩니다.</a:t>
            </a:r>
          </a:p>
        </p:txBody>
      </p:sp>
      <p:sp>
        <p:nvSpPr>
          <p:cNvPr id="12" name="장소는 기존과 같은">
            <a:extLst xmlns:a="http://schemas.openxmlformats.org/drawingml/2006/main">
              <a:ext uri="{FF2B5EF4-FFF2-40B4-BE49-F238E27FC236}">
                <a16:creationId xmlns:a16="http://schemas.microsoft.com/office/drawing/2014/main" id="{15F08F88-7387-4CF7-BD63-AC40B122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647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장소는 기존과 같은</a:t>
            </a:r>
          </a:p>
        </p:txBody>
      </p:sp>
      <p:sp>
        <p:nvSpPr>
          <p:cNvPr id="13" name="2층 컴퓨터실입니다.">
            <a:extLst xmlns:a="http://schemas.openxmlformats.org/drawingml/2006/main">
              <a:ext uri="{FF2B5EF4-FFF2-40B4-BE49-F238E27FC236}">
                <a16:creationId xmlns:a16="http://schemas.microsoft.com/office/drawing/2014/main" id="{E5A6D0C0-53DD-49FC-A74B-D1B4FA6F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476875"/>
            <a:ext cx="847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2층 컴퓨터실입니다.</a:t>
            </a:r>
          </a:p>
        </p:txBody>
      </p:sp>
      <p:sp>
        <p:nvSpPr>
          <p:cNvPr id="14" name="문의: 교육 담당자">
            <a:extLst xmlns:a="http://schemas.openxmlformats.org/drawingml/2006/main">
              <a:ext uri="{FF2B5EF4-FFF2-40B4-BE49-F238E27FC236}">
                <a16:creationId xmlns:a16="http://schemas.microsoft.com/office/drawing/2014/main" id="{A6EFF31B-6D75-42CD-AA75-AFDD7525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24625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문의: 교육 담당자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A9405-977E-48F3-A090-D7D9C67D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6" name="좋은 안내의 기준을 적용하고, 확인되지 않은 사실은 먼저 문의합니다.">
            <a:extLst xmlns:a="http://schemas.openxmlformats.org/drawingml/2006/main">
              <a:ext uri="{FF2B5EF4-FFF2-40B4-BE49-F238E27FC236}">
                <a16:creationId xmlns:a16="http://schemas.microsoft.com/office/drawing/2014/main" id="{661398AF-A743-4A44-B3E3-0B36708B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좋은 안내의 기준을 적용하고, 확인되지 않은 사실은 먼저 문의합니다.</a:t>
            </a:r>
          </a:p>
        </p:txBody>
      </p:sp>
      <p:sp xmlns:a="http://schemas.openxmlformats.org/drawingml/2006/main">
        <p:nvSpPr>
          <p:cNvPr id="18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9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36255800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3교시 · 업무와 연결">
            <a:extLst xmlns:a="http://schemas.openxmlformats.org/drawingml/2006/main">
              <a:ext uri="{FF2B5EF4-FFF2-40B4-BE49-F238E27FC236}">
                <a16:creationId xmlns:a16="http://schemas.microsoft.com/office/drawing/2014/main" id="{BE29C3DF-013E-4BB1-B46D-CACA0979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3교시 · 업무와 연결</a:t>
            </a:r>
          </a:p>
        </p:txBody>
      </p:sp>
      <p:sp>
        <p:nvSpPr>
          <p:cNvPr id="2" name="02:31–02:35  ·  4분">
            <a:extLst xmlns:a="http://schemas.openxmlformats.org/drawingml/2006/main">
              <a:ext uri="{FF2B5EF4-FFF2-40B4-BE49-F238E27FC236}">
                <a16:creationId xmlns:a16="http://schemas.microsoft.com/office/drawing/2014/main" id="{90974553-74AF-4466-BFBC-37A36D76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02:31–02:35  ·  4분</a:t>
            </a:r>
          </a:p>
        </p:txBody>
      </p:sp>
      <p:sp>
        <p:nvSpPr>
          <p:cNvPr id="3" name="연습에서 확인한 것과 다음 시도">
            <a:extLst xmlns:a="http://schemas.openxmlformats.org/drawingml/2006/main">
              <a:ext uri="{FF2B5EF4-FFF2-40B4-BE49-F238E27FC236}">
                <a16:creationId xmlns:a16="http://schemas.microsoft.com/office/drawing/2014/main" id="{F3FD86A5-E455-4C6E-A3E5-B6DE635E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연습에서 확인한 것과 다음 시도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E16CE-C2A8-45F7-A9C5-B2FEFB89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Ryan &amp; Deci (2020), 자기결정성이론 / Lent &amp; Brown">
            <a:extLst xmlns:a="http://schemas.openxmlformats.org/drawingml/2006/main">
              <a:ext uri="{FF2B5EF4-FFF2-40B4-BE49-F238E27FC236}">
                <a16:creationId xmlns:a16="http://schemas.microsoft.com/office/drawing/2014/main" id="{9443867F-E22E-4C0A-9FFF-3BDCA72C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Ryan &amp; Deci (2020), 자기결정성이론 / Lent &amp; Brown (2019), 사회인지진로이론</a:t>
            </a:r>
          </a:p>
        </p:txBody>
      </p:sp>
      <p:sp>
        <p:nvSpPr>
          <p:cNvPr id="6" name="36">
            <a:extLst xmlns:a="http://schemas.openxmlformats.org/drawingml/2006/main">
              <a:ext uri="{FF2B5EF4-FFF2-40B4-BE49-F238E27FC236}">
                <a16:creationId xmlns:a16="http://schemas.microsoft.com/office/drawing/2014/main" id="{3FFF59DF-4482-4FF6-9F52-BC68F118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ECD68-3D4C-4068-B20D-DAED14A5C17D}"/>
              </a:ext>
            </a:extLst>
          </p:cNvPr>
          <p:cNvGraphicFramePr/>
          <p:nvPr/>
        </p:nvGraphicFramePr>
        <p:xfrm>
          <a:off xmlns:a="http://schemas.openxmlformats.org/drawingml/2006/main" x="952500" y="2762250"/>
          <a:ext xmlns:a="http://schemas.openxmlformats.org/drawingml/2006/main" cx="1638300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12477750"/>
              </a:tblGrid>
              <a:tr h="1000125">
                <a:tc>
                  <a:txBody>
                    <a:bodyPr wrap="square"/>
                    <a:lstStyle/>
                    <a:p>
                      <a:r>
                        <a:rPr sz="277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내용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7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피드백의 예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00125">
                <a:tc>
                  <a:txBody>
                    <a:bodyPr wrap="square"/>
                    <a:lstStyle/>
                    <a:p>
                      <a:r>
                        <a:rPr sz="27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오늘 해본 행동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 중복과 시간 누락을 기준에 따라 확인했다.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00125">
                <a:tc>
                  <a:txBody>
                    <a:bodyPr wrap="square"/>
                    <a:lstStyle/>
                    <a:p>
                      <a:r>
                        <a:rPr sz="27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잘된 점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확인해야 할 열을 구분해서 보았다.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00125">
                <a:tc>
                  <a:txBody>
                    <a:bodyPr wrap="square"/>
                    <a:lstStyle/>
                    <a:p>
                      <a:r>
                        <a:rPr sz="27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연습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행이 더 많은 명단을 같은 순서로 점검한다.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00125">
                <a:tc>
                  <a:txBody>
                    <a:bodyPr wrap="square"/>
                    <a:lstStyle/>
                    <a:p>
                      <a:r>
                        <a:rPr sz="27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어려웠을 때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열씩 확인하고 예시를 본 뒤 다시 시도한다.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9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0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78957666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3교시 · 업무와 연결">
            <a:extLst xmlns:a="http://schemas.openxmlformats.org/drawingml/2006/main">
              <a:ext uri="{FF2B5EF4-FFF2-40B4-BE49-F238E27FC236}">
                <a16:creationId xmlns:a16="http://schemas.microsoft.com/office/drawing/2014/main" id="{8AE9477E-0E84-4A15-A459-A7FE6338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3교시 · 업무와 연결</a:t>
            </a:r>
          </a:p>
        </p:txBody>
      </p:sp>
      <p:sp>
        <p:nvSpPr>
          <p:cNvPr id="2" name="02:35–02:40  ·  5분">
            <a:extLst xmlns:a="http://schemas.openxmlformats.org/drawingml/2006/main">
              <a:ext uri="{FF2B5EF4-FFF2-40B4-BE49-F238E27FC236}">
                <a16:creationId xmlns:a16="http://schemas.microsoft.com/office/drawing/2014/main" id="{4DD3E11F-DC36-4F6C-9CB6-C84E6240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02:35–02:40  ·  5분</a:t>
            </a:r>
          </a:p>
        </p:txBody>
      </p:sp>
      <p:sp>
        <p:nvSpPr>
          <p:cNvPr id="3" name="내 경험을 이 업무에 연결해 보기">
            <a:extLst xmlns:a="http://schemas.openxmlformats.org/drawingml/2006/main">
              <a:ext uri="{FF2B5EF4-FFF2-40B4-BE49-F238E27FC236}">
                <a16:creationId xmlns:a16="http://schemas.microsoft.com/office/drawing/2014/main" id="{33D3A94C-1E24-4B1D-8D3A-2F611257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내 경험을 이 업무에 연결해 보기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744BD-6850-4E0C-86CB-5C3B0255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Lent &amp; Brown (2019), 사회인지진로이론">
            <a:extLst xmlns:a="http://schemas.openxmlformats.org/drawingml/2006/main">
              <a:ext uri="{FF2B5EF4-FFF2-40B4-BE49-F238E27FC236}">
                <a16:creationId xmlns:a16="http://schemas.microsoft.com/office/drawing/2014/main" id="{13312ED1-16F4-4F31-83E6-8A2050C6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Lent &amp; Brown (2019), 사회인지진로이론</a:t>
            </a:r>
          </a:p>
        </p:txBody>
      </p:sp>
      <p:sp>
        <p:nvSpPr>
          <p:cNvPr id="6" name="37">
            <a:extLst xmlns:a="http://schemas.openxmlformats.org/drawingml/2006/main">
              <a:ext uri="{FF2B5EF4-FFF2-40B4-BE49-F238E27FC236}">
                <a16:creationId xmlns:a16="http://schemas.microsoft.com/office/drawing/2014/main" id="{45466F6B-D3D8-4098-BD2D-44658DA5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41ECD2BA-F419-4D32-9239-04E237A2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5032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내 경험">
            <a:extLst xmlns:a="http://schemas.openxmlformats.org/drawingml/2006/main">
              <a:ext uri="{FF2B5EF4-FFF2-40B4-BE49-F238E27FC236}">
                <a16:creationId xmlns:a16="http://schemas.microsoft.com/office/drawing/2014/main" id="{8F86D53D-5372-4152-97BE-4160A60C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503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내 경험</a:t>
            </a:r>
          </a:p>
        </p:txBody>
      </p:sp>
      <p:sp>
        <p:nvSpPr>
          <p:cNvPr id="9" name="오늘 예제에서&#10;누락 항목을 찾아봄">
            <a:extLst xmlns:a="http://schemas.openxmlformats.org/drawingml/2006/main">
              <a:ext uri="{FF2B5EF4-FFF2-40B4-BE49-F238E27FC236}">
                <a16:creationId xmlns:a16="http://schemas.microsoft.com/office/drawing/2014/main" id="{64CB274B-2451-47B1-BBC0-A27D7C58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50323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오늘 예제에서</a:t>
            </a:r>
          </a:p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누락 항목을 찾아봄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B3981-E551-42CA-86DD-4A50F4E1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950" y="4543425"/>
            <a:ext cx="41910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</a:ln>
        </p:spPr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F4581832-9EA9-45F6-B890-FBED6821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3238500"/>
            <a:ext cx="5032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공통 행동">
            <a:extLst xmlns:a="http://schemas.openxmlformats.org/drawingml/2006/main">
              <a:ext uri="{FF2B5EF4-FFF2-40B4-BE49-F238E27FC236}">
                <a16:creationId xmlns:a16="http://schemas.microsoft.com/office/drawing/2014/main" id="{CBE7D8FF-2AE8-4B07-8FA0-2486008B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4333875"/>
            <a:ext cx="503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공통 행동</a:t>
            </a:r>
          </a:p>
        </p:txBody>
      </p:sp>
      <p:sp>
        <p:nvSpPr>
          <p:cNvPr id="13" name="기준에 맞춰&#10;자료를 점검함">
            <a:extLst xmlns:a="http://schemas.openxmlformats.org/drawingml/2006/main">
              <a:ext uri="{FF2B5EF4-FFF2-40B4-BE49-F238E27FC236}">
                <a16:creationId xmlns:a16="http://schemas.microsoft.com/office/drawing/2014/main" id="{9ED8B98B-3D98-403A-83DB-3400202F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5810250"/>
            <a:ext cx="50323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기준에 맞춰</a:t>
            </a:r>
          </a:p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자료를 점검함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5C810-A9CC-4BC8-922C-557EFBD1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950" y="4543425"/>
            <a:ext cx="41910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</a:ln>
        </p:spPr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8B14C12E-93E7-46C5-BBFB-B6437B86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500" y="3238500"/>
            <a:ext cx="5032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업무 후보">
            <a:extLst xmlns:a="http://schemas.openxmlformats.org/drawingml/2006/main">
              <a:ext uri="{FF2B5EF4-FFF2-40B4-BE49-F238E27FC236}">
                <a16:creationId xmlns:a16="http://schemas.microsoft.com/office/drawing/2014/main" id="{92AC70A2-184B-4C40-976D-17884BA3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500" y="4333875"/>
            <a:ext cx="503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업무 후보</a:t>
            </a:r>
          </a:p>
        </p:txBody>
      </p:sp>
      <p:sp>
        <p:nvSpPr>
          <p:cNvPr id="17" name="명단 점검 업무와&#10;일부 연결 가능">
            <a:extLst xmlns:a="http://schemas.openxmlformats.org/drawingml/2006/main">
              <a:ext uri="{FF2B5EF4-FFF2-40B4-BE49-F238E27FC236}">
                <a16:creationId xmlns:a16="http://schemas.microsoft.com/office/drawing/2014/main" id="{5FD0B146-6623-4FF5-A607-17D7510D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500" y="5810250"/>
            <a:ext cx="50323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명단 점검 업무와</a:t>
            </a:r>
          </a:p>
          <a:p xmlns:a="http://schemas.openxmlformats.org/drawingml/2006/main">
            <a:pPr algn="l">
              <a:def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일부 연결 가능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9EFEF-F0A9-4AE9-AED6-9F178077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9" name="추가 확인: 많은 자료, 실제 프로그램, 시간 제한에서도 할 수 있는가?">
            <a:extLst xmlns:a="http://schemas.openxmlformats.org/drawingml/2006/main">
              <a:ext uri="{FF2B5EF4-FFF2-40B4-BE49-F238E27FC236}">
                <a16:creationId xmlns:a16="http://schemas.microsoft.com/office/drawing/2014/main" id="{39418034-ECA3-45C3-BC6A-E0C79CB8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추가 확인: 많은 자료, 실제 프로그램, 시간 제한에서도 할 수 있는가?</a:t>
            </a:r>
          </a:p>
        </p:txBody>
      </p:sp>
      <p:sp xmlns:a="http://schemas.openxmlformats.org/drawingml/2006/main">
        <p:nvSpPr>
          <p:cNvPr id="21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22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4453785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3교시 · 업무와 연결">
            <a:extLst xmlns:a="http://schemas.openxmlformats.org/drawingml/2006/main">
              <a:ext uri="{FF2B5EF4-FFF2-40B4-BE49-F238E27FC236}">
                <a16:creationId xmlns:a16="http://schemas.microsoft.com/office/drawing/2014/main" id="{29CDA75F-3818-4B6B-87A9-A322E424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3교시 · 업무와 연결</a:t>
            </a:r>
          </a:p>
        </p:txBody>
      </p:sp>
      <p:sp>
        <p:nvSpPr>
          <p:cNvPr id="2" name="02:40–02:45  ·  5분">
            <a:extLst xmlns:a="http://schemas.openxmlformats.org/drawingml/2006/main">
              <a:ext uri="{FF2B5EF4-FFF2-40B4-BE49-F238E27FC236}">
                <a16:creationId xmlns:a16="http://schemas.microsoft.com/office/drawing/2014/main" id="{FACBB4C2-A604-42DF-8944-9F685F39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02:40–02:45  ·  5분</a:t>
            </a:r>
          </a:p>
        </p:txBody>
      </p:sp>
      <p:sp>
        <p:nvSpPr>
          <p:cNvPr id="3" name="다음 준비는 무엇이 필요한가요?">
            <a:extLst xmlns:a="http://schemas.openxmlformats.org/drawingml/2006/main">
              <a:ext uri="{FF2B5EF4-FFF2-40B4-BE49-F238E27FC236}">
                <a16:creationId xmlns:a16="http://schemas.microsoft.com/office/drawing/2014/main" id="{5AC73B33-9993-4748-8488-81DBAE63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다음 준비는 무엇이 필요한가요?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FBB43-7235-40A2-B800-63922106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Lent &amp; Brown (2019), 사회인지진로이론 / Ryan &amp; Dec">
            <a:extLst xmlns:a="http://schemas.openxmlformats.org/drawingml/2006/main">
              <a:ext uri="{FF2B5EF4-FFF2-40B4-BE49-F238E27FC236}">
                <a16:creationId xmlns:a16="http://schemas.microsoft.com/office/drawing/2014/main" id="{E7AE5DAA-9C26-4731-B8AD-FF8BDD0E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Lent &amp; Brown (2019), 사회인지진로이론 / Ryan &amp; Deci (2020), 자기결정성이론</a:t>
            </a:r>
          </a:p>
        </p:txBody>
      </p:sp>
      <p:sp>
        <p:nvSpPr>
          <p:cNvPr id="6" name="38">
            <a:extLst xmlns:a="http://schemas.openxmlformats.org/drawingml/2006/main">
              <a:ext uri="{FF2B5EF4-FFF2-40B4-BE49-F238E27FC236}">
                <a16:creationId xmlns:a16="http://schemas.microsoft.com/office/drawing/2014/main" id="{CD83C8F9-8AC8-4A3F-9B1A-40FFA9B7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586DC-CD0B-4F37-B2C2-73FD5C05ED4D}"/>
              </a:ext>
            </a:extLst>
          </p:cNvPr>
          <p:cNvGraphicFramePr/>
          <p:nvPr/>
        </p:nvGraphicFramePr>
        <p:xfrm>
          <a:off xmlns:a="http://schemas.openxmlformats.org/drawingml/2006/main" x="952500" y="2762250"/>
          <a:ext xmlns:a="http://schemas.openxmlformats.org/drawingml/2006/main" cx="16383000" cy="5095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239000"/>
                <a:gridCol w="9144000"/>
              </a:tblGrid>
              <a:tr h="1019175">
                <a:tc>
                  <a:txBody>
                    <a:bodyPr wrap="square"/>
                    <a:lstStyle/>
                    <a:p>
                      <a:r>
                        <a:rPr sz="270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지금 막힌 부분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맞는 다음 행동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19175"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절차가 아직 익숙하지 않음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예제 한 개를 더 연습하고 피드백 받기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19175"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공고에 사용 프로그램이 없음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공고 원문이나 담당자에게 확인하기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19175"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근무시간과 내 여건이 충돌함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조정 가능한 조건과 지원 제도 확인하기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19175"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해본 일을 설명하기 어려움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행동과 결과를 한 문장으로 정리하기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9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0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70957519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3교시 · 업무와 연결">
            <a:extLst xmlns:a="http://schemas.openxmlformats.org/drawingml/2006/main">
              <a:ext uri="{FF2B5EF4-FFF2-40B4-BE49-F238E27FC236}">
                <a16:creationId xmlns:a16="http://schemas.microsoft.com/office/drawing/2014/main" id="{7AF29B01-97AB-4812-BB12-52A034EC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3교시 · 업무와 연결</a:t>
            </a:r>
          </a:p>
        </p:txBody>
      </p:sp>
      <p:sp>
        <p:nvSpPr>
          <p:cNvPr id="2" name="02:45–02:50  ·  5분">
            <a:extLst xmlns:a="http://schemas.openxmlformats.org/drawingml/2006/main">
              <a:ext uri="{FF2B5EF4-FFF2-40B4-BE49-F238E27FC236}">
                <a16:creationId xmlns:a16="http://schemas.microsoft.com/office/drawing/2014/main" id="{513D8658-6C9E-4ADA-88B3-E365FC00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02:45–02:50  ·  5분</a:t>
            </a:r>
          </a:p>
        </p:txBody>
      </p:sp>
      <p:sp>
        <p:nvSpPr>
          <p:cNvPr id="3" name="이번 주에 다룰 준비 과제 하나">
            <a:extLst xmlns:a="http://schemas.openxmlformats.org/drawingml/2006/main">
              <a:ext uri="{FF2B5EF4-FFF2-40B4-BE49-F238E27FC236}">
                <a16:creationId xmlns:a16="http://schemas.microsoft.com/office/drawing/2014/main" id="{9F998D97-3697-4F4D-9A36-C9DB59FD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이번 주에 다룰 준비 과제 하나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DD15D-F0F1-4BBB-BAC0-A465781F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Ryan &amp; Deci (2020), 자기결정성이론 / Liu, Huang, ">
            <a:extLst xmlns:a="http://schemas.openxmlformats.org/drawingml/2006/main">
              <a:ext uri="{FF2B5EF4-FFF2-40B4-BE49-F238E27FC236}">
                <a16:creationId xmlns:a16="http://schemas.microsoft.com/office/drawing/2014/main" id="{8635173E-88C3-4445-A0E3-46E829DF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Ryan &amp; Deci (2020), 자기결정성이론 / Liu, Huang, &amp; Wang (2014), 구직 개입 메타분석</a:t>
            </a:r>
          </a:p>
        </p:txBody>
      </p:sp>
      <p:sp>
        <p:nvSpPr>
          <p:cNvPr id="6" name="39">
            <a:extLst xmlns:a="http://schemas.openxmlformats.org/drawingml/2006/main">
              <a:ext uri="{FF2B5EF4-FFF2-40B4-BE49-F238E27FC236}">
                <a16:creationId xmlns:a16="http://schemas.microsoft.com/office/drawing/2014/main" id="{353375B5-29B9-4FC2-940F-D81749D9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46298-801F-4A8D-906C-B443CE2C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19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8" name="명단 점검 예제 한 개를 더 풀어보기">
            <a:extLst xmlns:a="http://schemas.openxmlformats.org/drawingml/2006/main">
              <a:ext uri="{FF2B5EF4-FFF2-40B4-BE49-F238E27FC236}">
                <a16:creationId xmlns:a16="http://schemas.microsoft.com/office/drawing/2014/main" id="{D59C6F4E-FABA-4335-8AF8-C6FAEA03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52750"/>
            <a:ext cx="14916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명단 점검 예제 한 개를 더 풀어보기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BD5FE-9B6A-4B0D-9B3A-BCC64241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62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10" name="관심 공고의 업무 수준과 조건 확인하기">
            <a:extLst xmlns:a="http://schemas.openxmlformats.org/drawingml/2006/main">
              <a:ext uri="{FF2B5EF4-FFF2-40B4-BE49-F238E27FC236}">
                <a16:creationId xmlns:a16="http://schemas.microsoft.com/office/drawing/2014/main" id="{22C29728-ED72-4131-B7A2-BC1438CD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4916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관심 공고의 업무 수준과 조건 확인하기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ED72A-7D06-4607-9812-EE9D5EAE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05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12" name="내가 해본 행동과 결과 하나 정리하기">
            <a:extLst xmlns:a="http://schemas.openxmlformats.org/drawingml/2006/main">
              <a:ext uri="{FF2B5EF4-FFF2-40B4-BE49-F238E27FC236}">
                <a16:creationId xmlns:a16="http://schemas.microsoft.com/office/drawing/2014/main" id="{304DF8D5-63F7-4943-93C0-68BA1C49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38750"/>
            <a:ext cx="14916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내가 해본 행동과 결과 하나 정리하기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0BB1F-F811-466B-AC3E-04D2C4F6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48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14" name="훈련 강사나 상담 담당자에게 도움 요청하기">
            <a:extLst xmlns:a="http://schemas.openxmlformats.org/drawingml/2006/main">
              <a:ext uri="{FF2B5EF4-FFF2-40B4-BE49-F238E27FC236}">
                <a16:creationId xmlns:a16="http://schemas.microsoft.com/office/drawing/2014/main" id="{8F464F3D-388E-4ACC-A116-375ADC7B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381750"/>
            <a:ext cx="14916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훈련 강사나 상담 담당자에게 도움 요청하기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E4611-AB64-4237-A7E9-93E829FE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6" name="작은 과제를 고른 이유까지 납득되면 다음 시간에 실행 계획으로 연결합니다.">
            <a:extLst xmlns:a="http://schemas.openxmlformats.org/drawingml/2006/main">
              <a:ext uri="{FF2B5EF4-FFF2-40B4-BE49-F238E27FC236}">
                <a16:creationId xmlns:a16="http://schemas.microsoft.com/office/drawing/2014/main" id="{605F74C6-C99A-4FBB-82F1-CCE9B523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작은 과제를 고른 이유까지 납득되면 다음 시간에 실행 계획으로 연결합니다.</a:t>
            </a:r>
          </a:p>
        </p:txBody>
      </p:sp>
      <p:sp xmlns:a="http://schemas.openxmlformats.org/drawingml/2006/main">
        <p:nvSpPr>
          <p:cNvPr id="18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9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98313833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휴식">
            <a:extLst xmlns:a="http://schemas.openxmlformats.org/drawingml/2006/main">
              <a:ext uri="{FF2B5EF4-FFF2-40B4-BE49-F238E27FC236}">
                <a16:creationId xmlns:a16="http://schemas.microsoft.com/office/drawing/2014/main" id="{C0F895E0-37BE-4133-ABE6-8CB2AA3F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휴식</a:t>
            </a:r>
          </a:p>
        </p:txBody>
      </p:sp>
      <p:sp>
        <p:nvSpPr>
          <p:cNvPr id="2" name="02:50–03:00  ·  10분">
            <a:extLst xmlns:a="http://schemas.openxmlformats.org/drawingml/2006/main">
              <a:ext uri="{FF2B5EF4-FFF2-40B4-BE49-F238E27FC236}">
                <a16:creationId xmlns:a16="http://schemas.microsoft.com/office/drawing/2014/main" id="{D2EC5F57-2CB3-4842-A9D2-114AC491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02:50–03:00  ·  10분</a:t>
            </a:r>
          </a:p>
        </p:txBody>
      </p:sp>
      <p:sp>
        <p:nvSpPr>
          <p:cNvPr id="3" name="잠시 쉬어갑니다">
            <a:extLst xmlns:a="http://schemas.openxmlformats.org/drawingml/2006/main">
              <a:ext uri="{FF2B5EF4-FFF2-40B4-BE49-F238E27FC236}">
                <a16:creationId xmlns:a16="http://schemas.microsoft.com/office/drawing/2014/main" id="{50BA8C9A-4327-4009-B1AC-15329BB4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잠시 쉬어갑니다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FD74A-13F4-47F1-B21B-B7342DAE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07284"/>
            </a:solidFill>
          </a:ln>
        </p:spPr>
      </p:sp>
      <p:sp>
        <p:nvSpPr>
          <p:cNvPr id="5" name="개인 PC 활동과 강의 해설">
            <a:extLst xmlns:a="http://schemas.openxmlformats.org/drawingml/2006/main">
              <a:ext uri="{FF2B5EF4-FFF2-40B4-BE49-F238E27FC236}">
                <a16:creationId xmlns:a16="http://schemas.microsoft.com/office/drawing/2014/main" id="{5842E5F8-99C6-4A76-A00B-98715E49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개인 PC 활동과 강의 해설</a:t>
            </a:r>
          </a:p>
        </p:txBody>
      </p:sp>
      <p:sp>
        <p:nvSpPr>
          <p:cNvPr id="6" name="40">
            <a:extLst xmlns:a="http://schemas.openxmlformats.org/drawingml/2006/main">
              <a:ext uri="{FF2B5EF4-FFF2-40B4-BE49-F238E27FC236}">
                <a16:creationId xmlns:a16="http://schemas.microsoft.com/office/drawing/2014/main" id="{18FA6063-86FE-4E61-8929-91FEC529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sp>
        <p:nvSpPr>
          <p:cNvPr id="7" name="10">
            <a:extLst xmlns:a="http://schemas.openxmlformats.org/drawingml/2006/main">
              <a:ext uri="{FF2B5EF4-FFF2-40B4-BE49-F238E27FC236}">
                <a16:creationId xmlns:a16="http://schemas.microsoft.com/office/drawing/2014/main" id="{B526F457-01B9-4130-B589-80C32F55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5715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8" name="분">
            <a:extLst xmlns:a="http://schemas.openxmlformats.org/drawingml/2006/main">
              <a:ext uri="{FF2B5EF4-FFF2-40B4-BE49-F238E27FC236}">
                <a16:creationId xmlns:a16="http://schemas.microsoft.com/office/drawing/2014/main" id="{B771912A-86A9-4910-9E2B-74355833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171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600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9" name="다음 시간">
            <a:extLst xmlns:a="http://schemas.openxmlformats.org/drawingml/2006/main">
              <a:ext uri="{FF2B5EF4-FFF2-40B4-BE49-F238E27FC236}">
                <a16:creationId xmlns:a16="http://schemas.microsoft.com/office/drawing/2014/main" id="{2C5546F6-05F8-495B-A2F6-2856DA55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838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다음 시간</a:t>
            </a:r>
          </a:p>
        </p:txBody>
      </p:sp>
      <p:sp>
        <p:nvSpPr>
          <p:cNvPr id="10" name="필요한 지원을 찾고&#10;이번 주 행동을 정하기">
            <a:extLst xmlns:a="http://schemas.openxmlformats.org/drawingml/2006/main">
              <a:ext uri="{FF2B5EF4-FFF2-40B4-BE49-F238E27FC236}">
                <a16:creationId xmlns:a16="http://schemas.microsoft.com/office/drawing/2014/main" id="{F0C5DD10-9E5A-4B01-B555-769B7D2D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857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필요한 지원을 찾고</a:t>
            </a:r>
          </a:p>
          <a:p xmlns:a="http://schemas.openxmlformats.org/drawingml/2006/main">
            <a:pPr algn="l">
              <a:defRPr sz="4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이번 주 행동을 정하기</a:t>
            </a:r>
          </a:p>
        </p:txBody>
      </p:sp>
      <p:sp xmlns:a="http://schemas.openxmlformats.org/drawingml/2006/main">
        <p:nvSpPr>
          <p:cNvPr id="12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3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20277341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4교시">
            <a:extLst xmlns:a="http://schemas.openxmlformats.org/drawingml/2006/main">
              <a:ext uri="{FF2B5EF4-FFF2-40B4-BE49-F238E27FC236}">
                <a16:creationId xmlns:a16="http://schemas.microsoft.com/office/drawing/2014/main" id="{A0C41F51-DC8B-4377-A366-CC8E079C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4교시</a:t>
            </a:r>
          </a:p>
        </p:txBody>
      </p:sp>
      <p:sp>
        <p:nvSpPr>
          <p:cNvPr id="2" name="03:00–03:02  ·  2분">
            <a:extLst xmlns:a="http://schemas.openxmlformats.org/drawingml/2006/main">
              <a:ext uri="{FF2B5EF4-FFF2-40B4-BE49-F238E27FC236}">
                <a16:creationId xmlns:a16="http://schemas.microsoft.com/office/drawing/2014/main" id="{E08F7641-B9B1-4A8E-BB3C-7B45210B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03:00–03:02  ·  2분</a:t>
            </a:r>
          </a:p>
        </p:txBody>
      </p:sp>
      <p:sp>
        <p:nvSpPr>
          <p:cNvPr id="3" name="내가 실행할 수 있는 계획">
            <a:extLst xmlns:a="http://schemas.openxmlformats.org/drawingml/2006/main">
              <a:ext uri="{FF2B5EF4-FFF2-40B4-BE49-F238E27FC236}">
                <a16:creationId xmlns:a16="http://schemas.microsoft.com/office/drawing/2014/main" id="{FCF4C706-ECE4-4F21-88B3-472A7B65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내가 실행할 수 있는 계획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4F5DC-23BA-4954-A00A-58E97E9A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07284"/>
            </a:solidFill>
          </a:ln>
        </p:spPr>
      </p:sp>
      <p:sp>
        <p:nvSpPr>
          <p:cNvPr id="5" name="개인 PC 활동과 강의 해설">
            <a:extLst xmlns:a="http://schemas.openxmlformats.org/drawingml/2006/main">
              <a:ext uri="{FF2B5EF4-FFF2-40B4-BE49-F238E27FC236}">
                <a16:creationId xmlns:a16="http://schemas.microsoft.com/office/drawing/2014/main" id="{4CCAC0FD-26BD-4D90-A176-E42C02A2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개인 PC 활동과 강의 해설</a:t>
            </a:r>
          </a:p>
        </p:txBody>
      </p:sp>
      <p:sp>
        <p:nvSpPr>
          <p:cNvPr id="6" name="41">
            <a:extLst xmlns:a="http://schemas.openxmlformats.org/drawingml/2006/main">
              <a:ext uri="{FF2B5EF4-FFF2-40B4-BE49-F238E27FC236}">
                <a16:creationId xmlns:a16="http://schemas.microsoft.com/office/drawing/2014/main" id="{DB382DC9-5589-491C-B1EA-1042A43A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41</a:t>
            </a:r>
          </a:p>
        </p:txBody>
      </p:sp>
      <p:sp>
        <p:nvSpPr>
          <p:cNvPr id="7" name="4">
            <a:extLst xmlns:a="http://schemas.openxmlformats.org/drawingml/2006/main">
              <a:ext uri="{FF2B5EF4-FFF2-40B4-BE49-F238E27FC236}">
                <a16:creationId xmlns:a16="http://schemas.microsoft.com/office/drawing/2014/main" id="{E372F0BD-C076-4374-9B6D-E73E1168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4191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8" name="현재 상태와 필요한 지원을 살피고&#10;이번 주에 시작할 상황을 정합니다.">
            <a:extLst xmlns:a="http://schemas.openxmlformats.org/drawingml/2006/main">
              <a:ext uri="{FF2B5EF4-FFF2-40B4-BE49-F238E27FC236}">
                <a16:creationId xmlns:a16="http://schemas.microsoft.com/office/drawing/2014/main" id="{8C94D2B1-62E8-4672-AA00-30A9A54C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7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현재 상태와 필요한 지원을 살피고</a:t>
            </a:r>
          </a:p>
          <a:p xmlns:a="http://schemas.openxmlformats.org/drawingml/2006/main">
            <a:pPr algn="l">
              <a:defRPr sz="37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0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이번 주에 시작할 상황을 정합니다.</a:t>
            </a:r>
          </a:p>
        </p:txBody>
      </p:sp>
      <p:sp>
        <p:nvSpPr>
          <p:cNvPr id="9" name="내 계획은 지금 생활 속에서 가능한가요?">
            <a:extLst xmlns:a="http://schemas.openxmlformats.org/drawingml/2006/main">
              <a:ext uri="{FF2B5EF4-FFF2-40B4-BE49-F238E27FC236}">
                <a16:creationId xmlns:a16="http://schemas.microsoft.com/office/drawing/2014/main" id="{31CDA578-6360-44C6-87E1-12980D30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내 계획은 지금 생활 속에서 가능한가요?</a:t>
            </a:r>
          </a:p>
        </p:txBody>
      </p:sp>
      <p:sp xmlns:a="http://schemas.openxmlformats.org/drawingml/2006/main">
        <p:nvSpPr>
          <p:cNvPr id="11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2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201467150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4교시 · 지원과 실행">
            <a:extLst xmlns:a="http://schemas.openxmlformats.org/drawingml/2006/main">
              <a:ext uri="{FF2B5EF4-FFF2-40B4-BE49-F238E27FC236}">
                <a16:creationId xmlns:a16="http://schemas.microsoft.com/office/drawing/2014/main" id="{EB74943F-29AA-41FD-90D9-CC36E360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4교시 · 지원과 실행</a:t>
            </a:r>
          </a:p>
        </p:txBody>
      </p:sp>
      <p:sp>
        <p:nvSpPr>
          <p:cNvPr id="2" name="03:02–03:08  ·  6분">
            <a:extLst xmlns:a="http://schemas.openxmlformats.org/drawingml/2006/main">
              <a:ext uri="{FF2B5EF4-FFF2-40B4-BE49-F238E27FC236}">
                <a16:creationId xmlns:a16="http://schemas.microsoft.com/office/drawing/2014/main" id="{C9783C16-2DC7-4B3A-B07F-09E26E15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03:02–03:08  ·  6분</a:t>
            </a:r>
          </a:p>
        </p:txBody>
      </p:sp>
      <p:sp>
        <p:nvSpPr>
          <p:cNvPr id="3" name="코칭 휠로 현재의 준비 상태 살펴보기">
            <a:extLst xmlns:a="http://schemas.openxmlformats.org/drawingml/2006/main">
              <a:ext uri="{FF2B5EF4-FFF2-40B4-BE49-F238E27FC236}">
                <a16:creationId xmlns:a16="http://schemas.microsoft.com/office/drawing/2014/main" id="{FD575170-7E40-420D-9AC4-CD0C03BE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코칭 휠로 현재의 준비 상태 살펴보기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864EF-96E1-4CDA-9B60-4858B0B4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강의용 자기점검 도구 · 8영역은 수업에 맞게 재구성했으며 검증된 심리척도가 아닙니다.">
            <a:extLst xmlns:a="http://schemas.openxmlformats.org/drawingml/2006/main">
              <a:ext uri="{FF2B5EF4-FFF2-40B4-BE49-F238E27FC236}">
                <a16:creationId xmlns:a16="http://schemas.microsoft.com/office/drawing/2014/main" id="{97EB6B7F-C15C-4810-A7CD-9F19ED48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강의용 자기점검 도구 · 8영역은 수업에 맞게 재구성했으며 검증된 심리척도가 아닙니다.</a:t>
            </a:r>
          </a:p>
        </p:txBody>
      </p:sp>
      <p:sp>
        <p:nvSpPr>
          <p:cNvPr id="6" name="42">
            <a:extLst xmlns:a="http://schemas.openxmlformats.org/drawingml/2006/main">
              <a:ext uri="{FF2B5EF4-FFF2-40B4-BE49-F238E27FC236}">
                <a16:creationId xmlns:a16="http://schemas.microsoft.com/office/drawing/2014/main" id="{33DFD4AA-A9A0-4BB2-85F8-FDC7FAF4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5598E-2170-471E-8220-9516F112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4919663"/>
            <a:ext cx="1095375" cy="10953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5264D-3B57-45D8-9F53-BDDEF0F0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71975"/>
            <a:ext cx="2190750" cy="2190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6FFAB-2BAD-4503-BE86-A5C4544F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938" y="3824288"/>
            <a:ext cx="3286125" cy="32861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B358D-D76B-4817-89FF-47FC916D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76600"/>
            <a:ext cx="4381500" cy="4381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DE73B-9A7D-4969-8D18-872F86A6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76600"/>
            <a:ext cx="9525" cy="2190750"/>
          </a:xfrm>
          <a:custGeom xmlns:a="http://schemas.openxmlformats.org/drawingml/2006/main">
            <a:pathLst>
              <a:path w="9525" h="2190750">
                <a:moveTo>
                  <a:pt x="0" y="2190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2" name="방향의 명료함">
            <a:extLst xmlns:a="http://schemas.openxmlformats.org/drawingml/2006/main">
              <a:ext uri="{FF2B5EF4-FFF2-40B4-BE49-F238E27FC236}">
                <a16:creationId xmlns:a16="http://schemas.microsoft.com/office/drawing/2014/main" id="{CBFB158D-627B-4DA3-BAC2-891E2EFF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003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방향의 명료함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B54A9-CA4F-4124-BB1A-509B0C4E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18256"/>
            <a:ext cx="1549094" cy="1549094"/>
          </a:xfrm>
          <a:custGeom xmlns:a="http://schemas.openxmlformats.org/drawingml/2006/main">
            <a:pathLst>
              <a:path w="1549094" h="1549094">
                <a:moveTo>
                  <a:pt x="0" y="1549094"/>
                </a:moveTo>
                <a:lnTo>
                  <a:pt x="15490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noFill/>
          </a:ln>
        </p:spPr>
      </p:sp>
      <p:sp>
        <p:nvSpPr>
          <p:cNvPr id="14" name="업무 정보">
            <a:extLst xmlns:a="http://schemas.openxmlformats.org/drawingml/2006/main">
              <a:ext uri="{FF2B5EF4-FFF2-40B4-BE49-F238E27FC236}">
                <a16:creationId xmlns:a16="http://schemas.microsoft.com/office/drawing/2014/main" id="{85C01684-1874-408B-BA24-4B1F473F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227" y="3228873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업무 정보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FE0F9-1A8B-44D9-8AE6-A02FC79D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67350"/>
            <a:ext cx="2190750" cy="9525"/>
          </a:xfrm>
          <a:custGeom xmlns:a="http://schemas.openxmlformats.org/drawingml/2006/main"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6" name="경험의 근거">
            <a:extLst xmlns:a="http://schemas.openxmlformats.org/drawingml/2006/main">
              <a:ext uri="{FF2B5EF4-FFF2-40B4-BE49-F238E27FC236}">
                <a16:creationId xmlns:a16="http://schemas.microsoft.com/office/drawing/2014/main" id="{291DD21F-FD02-45ED-8F15-FCC43AA3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292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경험의 근거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4E7C1-BD71-4803-9C07-26D2027A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67350"/>
            <a:ext cx="1549094" cy="1549094"/>
          </a:xfrm>
          <a:custGeom xmlns:a="http://schemas.openxmlformats.org/drawingml/2006/main">
            <a:pathLst>
              <a:path w="1549094" h="1549094">
                <a:moveTo>
                  <a:pt x="0" y="0"/>
                </a:moveTo>
                <a:lnTo>
                  <a:pt x="1549094" y="154909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noFill/>
          </a:ln>
        </p:spPr>
      </p:sp>
      <p:sp>
        <p:nvSpPr>
          <p:cNvPr id="18" name="연습 기회">
            <a:extLst xmlns:a="http://schemas.openxmlformats.org/drawingml/2006/main">
              <a:ext uri="{FF2B5EF4-FFF2-40B4-BE49-F238E27FC236}">
                <a16:creationId xmlns:a16="http://schemas.microsoft.com/office/drawing/2014/main" id="{A184C24C-9E84-4C8F-8312-BA389FD8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227" y="7229577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연습 기회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BD463B-3B01-4DA2-849C-081009E6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67350"/>
            <a:ext cx="9525" cy="2190750"/>
          </a:xfrm>
          <a:custGeom xmlns:a="http://schemas.openxmlformats.org/drawingml/2006/main">
            <a:pathLst>
              <a:path w="9525" h="2190750">
                <a:moveTo>
                  <a:pt x="0" y="0"/>
                </a:moveTo>
                <a:lnTo>
                  <a:pt x="0" y="2190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20" name="시간 확보">
            <a:extLst xmlns:a="http://schemas.openxmlformats.org/drawingml/2006/main">
              <a:ext uri="{FF2B5EF4-FFF2-40B4-BE49-F238E27FC236}">
                <a16:creationId xmlns:a16="http://schemas.microsoft.com/office/drawing/2014/main" id="{339B9AFF-086F-4FD9-803C-4103B974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581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시간 확보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92A1A-E728-444A-9B74-D43E9B45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906" y="5467350"/>
            <a:ext cx="1549094" cy="1549094"/>
          </a:xfrm>
          <a:custGeom xmlns:a="http://schemas.openxmlformats.org/drawingml/2006/main">
            <a:pathLst>
              <a:path w="1549094" h="1549094">
                <a:moveTo>
                  <a:pt x="1549094" y="0"/>
                </a:moveTo>
                <a:lnTo>
                  <a:pt x="0" y="154909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noFill/>
          </a:ln>
        </p:spPr>
      </p:sp>
      <p:sp>
        <p:nvSpPr>
          <p:cNvPr id="22" name="생활 여건">
            <a:extLst xmlns:a="http://schemas.openxmlformats.org/drawingml/2006/main">
              <a:ext uri="{FF2B5EF4-FFF2-40B4-BE49-F238E27FC236}">
                <a16:creationId xmlns:a16="http://schemas.microsoft.com/office/drawing/2014/main" id="{898EBE49-ABB4-4E3D-AEDE-96A3F468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523" y="7229577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생활 여건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403CF2-4DD4-4B85-BF80-AFB6325B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67350"/>
            <a:ext cx="2190750" cy="9525"/>
          </a:xfrm>
          <a:custGeom xmlns:a="http://schemas.openxmlformats.org/drawingml/2006/main">
            <a:pathLst>
              <a:path w="2190750" h="9525">
                <a:moveTo>
                  <a:pt x="2190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24" name="도움받을 곳">
            <a:extLst xmlns:a="http://schemas.openxmlformats.org/drawingml/2006/main">
              <a:ext uri="{FF2B5EF4-FFF2-40B4-BE49-F238E27FC236}">
                <a16:creationId xmlns:a16="http://schemas.microsoft.com/office/drawing/2014/main" id="{25566756-FA1E-4AD5-B5BC-DF7DE558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292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도움받을 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88BE19-68E6-4C5D-9B50-296F148C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906" y="3918256"/>
            <a:ext cx="1549094" cy="1549094"/>
          </a:xfrm>
          <a:custGeom xmlns:a="http://schemas.openxmlformats.org/drawingml/2006/main">
            <a:pathLst>
              <a:path w="1549094" h="1549094">
                <a:moveTo>
                  <a:pt x="1549094" y="15490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noFill/>
          </a:ln>
        </p:spPr>
      </p:sp>
      <p:sp>
        <p:nvSpPr>
          <p:cNvPr id="26" name="회복과 에너지">
            <a:extLst xmlns:a="http://schemas.openxmlformats.org/drawingml/2006/main">
              <a:ext uri="{FF2B5EF4-FFF2-40B4-BE49-F238E27FC236}">
                <a16:creationId xmlns:a16="http://schemas.microsoft.com/office/drawing/2014/main" id="{139661A1-3D4B-4FB7-9787-BB31C390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523" y="3228873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회복과 에너지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45489D-E493-46EC-B671-7F973B78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24400"/>
            <a:ext cx="1485900" cy="1485900"/>
          </a:xfrm>
          <a:prstGeom xmlns:a="http://schemas.openxmlformats.org/drawingml/2006/main" prst="ellipse">
            <a:avLst/>
          </a:prstGeom>
          <ns0:noFill xmlns:ns0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28" name="나의 현재&#10;준비 상태">
            <a:extLst xmlns:a="http://schemas.openxmlformats.org/drawingml/2006/main">
              <a:ext uri="{FF2B5EF4-FFF2-40B4-BE49-F238E27FC236}">
                <a16:creationId xmlns:a16="http://schemas.microsoft.com/office/drawing/2014/main" id="{DB3083E5-34C4-4796-9DFD-9E299EC1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57775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나의 현재</a:t>
            </a:r>
          </a:p>
          <a:p xmlns:a="http://schemas.openxmlformats.org/drawingml/2006/main">
            <a:pPr algn="ctr">
              <a:defRPr sz="21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준비 상태</a:t>
            </a:r>
          </a:p>
        </p:txBody>
      </p:sp>
      <p:sp>
        <p:nvSpPr>
          <p:cNvPr id="29" name="최근 2주의 상태">
            <a:extLst xmlns:a="http://schemas.openxmlformats.org/drawingml/2006/main">
              <a:ext uri="{FF2B5EF4-FFF2-40B4-BE49-F238E27FC236}">
                <a16:creationId xmlns:a16="http://schemas.microsoft.com/office/drawing/2014/main" id="{76A1DA80-2201-4A9E-A174-2F8116AC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9527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최근 2주의 상태</a:t>
            </a:r>
          </a:p>
        </p:txBody>
      </p:sp>
      <p:sp>
        <p:nvSpPr>
          <p:cNvPr id="30" name="1  매우 부족함&#10;10  충분함&#10;&#10;모르거나 답하기 어렵다면&#10;“모름 / 건너뛰기” 선택">
            <a:extLst xmlns:a="http://schemas.openxmlformats.org/drawingml/2006/main">
              <a:ext uri="{FF2B5EF4-FFF2-40B4-BE49-F238E27FC236}">
                <a16:creationId xmlns:a16="http://schemas.microsoft.com/office/drawing/2014/main" id="{C755A7D6-9A9D-4070-AC6A-72299EBF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0"/>
            <a:ext cx="6286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1  매우 부족함</a:t>
            </a:r>
          </a:p>
          <a:p xmlns:a="http://schemas.openxmlformats.org/drawingml/2006/main">
            <a: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10  충분함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모르거나 답하기 어렵다면</a:t>
            </a:r>
          </a:p>
          <a:p xmlns:a="http://schemas.openxmlformats.org/drawingml/2006/main">
            <a:pPr algn="l">
              <a:def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“모름 / 건너뛰기” 선택</a:t>
            </a:r>
          </a:p>
        </p:txBody>
      </p:sp>
      <p:sp>
        <p:nvSpPr>
          <p:cNvPr id="31" name="점수는 비교·평가에 사용하지 않습니다.">
            <a:extLst xmlns:a="http://schemas.openxmlformats.org/drawingml/2006/main">
              <a:ext uri="{FF2B5EF4-FFF2-40B4-BE49-F238E27FC236}">
                <a16:creationId xmlns:a16="http://schemas.microsoft.com/office/drawing/2014/main" id="{6CC3924E-0F2A-4AD4-B873-8DEDA07F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757237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점수는 비교·평가에 사용하지 않습니다.</a:t>
            </a:r>
          </a:p>
        </p:txBody>
      </p:sp>
      <p:sp xmlns:a="http://schemas.openxmlformats.org/drawingml/2006/main">
        <p:nvSpPr>
          <p:cNvPr id="33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34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56967238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4교시 · 지원과 실행">
            <a:extLst xmlns:a="http://schemas.openxmlformats.org/drawingml/2006/main">
              <a:ext uri="{FF2B5EF4-FFF2-40B4-BE49-F238E27FC236}">
                <a16:creationId xmlns:a16="http://schemas.microsoft.com/office/drawing/2014/main" id="{4CF31264-76E3-4369-89D3-B5C80B0B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4교시 · 지원과 실행</a:t>
            </a:r>
          </a:p>
        </p:txBody>
      </p:sp>
      <p:sp>
        <p:nvSpPr>
          <p:cNvPr id="2" name="03:08–03:12  ·  4분">
            <a:extLst xmlns:a="http://schemas.openxmlformats.org/drawingml/2006/main">
              <a:ext uri="{FF2B5EF4-FFF2-40B4-BE49-F238E27FC236}">
                <a16:creationId xmlns:a16="http://schemas.microsoft.com/office/drawing/2014/main" id="{DE6F04F8-9F77-4202-996B-51B297D7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03:08–03:12  ·  4분</a:t>
            </a:r>
          </a:p>
        </p:txBody>
      </p:sp>
      <p:sp>
        <p:nvSpPr>
          <p:cNvPr id="3" name="가장 낮은 점수를 무조건 고르지는 않습니다">
            <a:extLst xmlns:a="http://schemas.openxmlformats.org/drawingml/2006/main">
              <a:ext uri="{FF2B5EF4-FFF2-40B4-BE49-F238E27FC236}">
                <a16:creationId xmlns:a16="http://schemas.microsoft.com/office/drawing/2014/main" id="{CD47504A-002B-474F-94A9-FF5D247D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가장 낮은 점수를 무조건 고르지는 않습니다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74A5F-2AE3-435D-9C50-AC1F1C87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교육용 가상 자기점검 사례 · 아래 점수는 참여자 데이터가 아닙니다.">
            <a:extLst xmlns:a="http://schemas.openxmlformats.org/drawingml/2006/main">
              <a:ext uri="{FF2B5EF4-FFF2-40B4-BE49-F238E27FC236}">
                <a16:creationId xmlns:a16="http://schemas.microsoft.com/office/drawing/2014/main" id="{F7BF503F-97A2-4D15-9B43-B0009ED7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교육용 가상 자기점검 사례 · 아래 점수는 참여자 데이터가 아닙니다.</a:t>
            </a:r>
          </a:p>
        </p:txBody>
      </p:sp>
      <p:sp>
        <p:nvSpPr>
          <p:cNvPr id="6" name="43">
            <a:extLst xmlns:a="http://schemas.openxmlformats.org/drawingml/2006/main">
              <a:ext uri="{FF2B5EF4-FFF2-40B4-BE49-F238E27FC236}">
                <a16:creationId xmlns:a16="http://schemas.microsoft.com/office/drawing/2014/main" id="{04DDF640-EC34-4724-A7EF-2B866A51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43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913F6-E8FD-4B4D-B9E4-70B382A7C347}"/>
              </a:ext>
            </a:extLst>
          </p:cNvPr>
          <p:cNvGraphicFramePr/>
          <p:nvPr/>
        </p:nvGraphicFramePr>
        <p:xfrm>
          <a:off xmlns:a="http://schemas.openxmlformats.org/drawingml/2006/main" x="952500" y="2762250"/>
          <a:ext xmlns:a="http://schemas.openxmlformats.org/drawingml/2006/main" cx="163830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667500"/>
                <a:gridCol w="5619750"/>
              </a:tblGrid>
              <a:tr h="1166813">
                <a:tc>
                  <a:txBody>
                    <a:bodyPr wrap="square"/>
                    <a:lstStyle/>
                    <a:p>
                      <a:r>
                        <a:rPr sz="270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가상 응답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 해석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주 선택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166813"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정보 4점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공고의 사용 프로그램을 모름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담당자에게 확인할 질문 정리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166813"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 확보 3점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주 일정이 많음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가능한 15분 한 번 확보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166813"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연습 기회 5점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예제는 있으나 피드백이 없음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훈련 강사에게 점검 요청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7C176-ADB2-449F-816D-A9C880A8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9" name="낮은 점수는 의지가 약하다는 뜻이 아닙니다. 조건을 함께 살펴봅니다.">
            <a:extLst xmlns:a="http://schemas.openxmlformats.org/drawingml/2006/main">
              <a:ext uri="{FF2B5EF4-FFF2-40B4-BE49-F238E27FC236}">
                <a16:creationId xmlns:a16="http://schemas.microsoft.com/office/drawing/2014/main" id="{FD414A87-D4EC-4BBC-B353-220834C9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낮은 점수는 의지가 약하다는 뜻이 아닙니다. 조건을 함께 살펴봅니다.</a:t>
            </a:r>
          </a:p>
        </p:txBody>
      </p:sp>
      <p:sp xmlns:a="http://schemas.openxmlformats.org/drawingml/2006/main">
        <p:nvSpPr>
          <p:cNvPr id="11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2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94249719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4교시 · 지원과 실행">
            <a:extLst xmlns:a="http://schemas.openxmlformats.org/drawingml/2006/main">
              <a:ext uri="{FF2B5EF4-FFF2-40B4-BE49-F238E27FC236}">
                <a16:creationId xmlns:a16="http://schemas.microsoft.com/office/drawing/2014/main" id="{1E3C0801-03B6-4DBA-A0A5-8A2B3200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4교시 · 지원과 실행</a:t>
            </a:r>
          </a:p>
        </p:txBody>
      </p:sp>
      <p:sp>
        <p:nvSpPr>
          <p:cNvPr id="2" name="03:12–03:17  ·  5분">
            <a:extLst xmlns:a="http://schemas.openxmlformats.org/drawingml/2006/main">
              <a:ext uri="{FF2B5EF4-FFF2-40B4-BE49-F238E27FC236}">
                <a16:creationId xmlns:a16="http://schemas.microsoft.com/office/drawing/2014/main" id="{04634D00-3620-4447-98CD-19D800E8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03:12–03:17  ·  5분</a:t>
            </a:r>
          </a:p>
        </p:txBody>
      </p:sp>
      <p:sp>
        <p:nvSpPr>
          <p:cNvPr id="3" name="개별 활동에서도 도움을 받을 수 있습니다">
            <a:extLst xmlns:a="http://schemas.openxmlformats.org/drawingml/2006/main">
              <a:ext uri="{FF2B5EF4-FFF2-40B4-BE49-F238E27FC236}">
                <a16:creationId xmlns:a16="http://schemas.microsoft.com/office/drawing/2014/main" id="{602BF7F9-849C-4347-A21F-AE354171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개별 활동에서도 도움을 받을 수 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4D82B-3BE4-4178-8DE0-8D18F45A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Ryan &amp; Deci (2020), 자기결정성이론 / Lent &amp; Brown">
            <a:extLst xmlns:a="http://schemas.openxmlformats.org/drawingml/2006/main">
              <a:ext uri="{FF2B5EF4-FFF2-40B4-BE49-F238E27FC236}">
                <a16:creationId xmlns:a16="http://schemas.microsoft.com/office/drawing/2014/main" id="{0564C0AF-CA29-4055-AF85-552DAD52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Ryan &amp; Deci (2020), 자기결정성이론 / Lent &amp; Brown (2019), 사회인지진로이론</a:t>
            </a:r>
          </a:p>
        </p:txBody>
      </p:sp>
      <p:sp>
        <p:nvSpPr>
          <p:cNvPr id="6" name="44">
            <a:extLst xmlns:a="http://schemas.openxmlformats.org/drawingml/2006/main">
              <a:ext uri="{FF2B5EF4-FFF2-40B4-BE49-F238E27FC236}">
                <a16:creationId xmlns:a16="http://schemas.microsoft.com/office/drawing/2014/main" id="{AA013232-A098-4B85-9E2C-77F4D86E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44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5EE88-4BC1-4CCA-B5A9-25DE36339382}"/>
              </a:ext>
            </a:extLst>
          </p:cNvPr>
          <p:cNvGraphicFramePr/>
          <p:nvPr/>
        </p:nvGraphicFramePr>
        <p:xfrm>
          <a:off xmlns:a="http://schemas.openxmlformats.org/drawingml/2006/main" x="952500" y="2762250"/>
          <a:ext xmlns:a="http://schemas.openxmlformats.org/drawingml/2006/main" cx="163830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4762500"/>
                <a:gridCol w="7905750"/>
              </a:tblGrid>
              <a:tr h="1214438">
                <a:tc>
                  <a:txBody>
                    <a:bodyPr wrap="square"/>
                    <a:lstStyle/>
                    <a:p>
                      <a:r>
                        <a:rPr sz="262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필요한 도움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요청할 대상의 예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질문의 예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214438"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과제 점검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훈련 강사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파일에서 먼저 고칠 한 곳이 있나요?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214438"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직무와 공고 확인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취업지원 담당자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기초 사용 수준을 어떻게 확인할까요?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214438"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시간·생활 여건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상담 및 지원 담당자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조건에서 이용할 지원이 있나요?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DE787-87F9-45BB-A952-9D67FC7F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9" name="질문 예시: “제가 해본 것은 ○○이고, 확인하고 싶은 것은 △△입니다.”">
            <a:extLst xmlns:a="http://schemas.openxmlformats.org/drawingml/2006/main">
              <a:ext uri="{FF2B5EF4-FFF2-40B4-BE49-F238E27FC236}">
                <a16:creationId xmlns:a16="http://schemas.microsoft.com/office/drawing/2014/main" id="{4502E535-2547-46AA-B435-B8766E5A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질문 예시: “제가 해본 것은 ○○이고, 확인하고 싶은 것은 △△입니다.”</a:t>
            </a:r>
          </a:p>
        </p:txBody>
      </p:sp>
      <p:sp xmlns:a="http://schemas.openxmlformats.org/drawingml/2006/main">
        <p:nvSpPr>
          <p:cNvPr id="11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2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2612284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4교시 · 지원과 실행">
            <a:extLst xmlns:a="http://schemas.openxmlformats.org/drawingml/2006/main">
              <a:ext uri="{FF2B5EF4-FFF2-40B4-BE49-F238E27FC236}">
                <a16:creationId xmlns:a16="http://schemas.microsoft.com/office/drawing/2014/main" id="{99222006-83FC-424F-944C-7FEBE516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4교시 · 지원과 실행</a:t>
            </a:r>
          </a:p>
        </p:txBody>
      </p:sp>
      <p:sp>
        <p:nvSpPr>
          <p:cNvPr id="2" name="03:17–03:22  ·  5분">
            <a:extLst xmlns:a="http://schemas.openxmlformats.org/drawingml/2006/main">
              <a:ext uri="{FF2B5EF4-FFF2-40B4-BE49-F238E27FC236}">
                <a16:creationId xmlns:a16="http://schemas.microsoft.com/office/drawing/2014/main" id="{E09E9962-0A78-4E58-8603-4FCCCBB5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03:17–03:22  ·  5분</a:t>
            </a:r>
          </a:p>
        </p:txBody>
      </p:sp>
      <p:sp>
        <p:nvSpPr>
          <p:cNvPr id="3" name="행동의 크기를 줄이는 방법">
            <a:extLst xmlns:a="http://schemas.openxmlformats.org/drawingml/2006/main">
              <a:ext uri="{FF2B5EF4-FFF2-40B4-BE49-F238E27FC236}">
                <a16:creationId xmlns:a16="http://schemas.microsoft.com/office/drawing/2014/main" id="{31575CCE-18E2-40F8-A942-34D7DC5B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행동의 크기를 줄이는 방법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1D849-D207-44C0-9846-65BCF6BF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Ryan &amp; Deci (2020), 자기결정성이론 / Gollwitzer &amp;">
            <a:extLst xmlns:a="http://schemas.openxmlformats.org/drawingml/2006/main">
              <a:ext uri="{FF2B5EF4-FFF2-40B4-BE49-F238E27FC236}">
                <a16:creationId xmlns:a16="http://schemas.microsoft.com/office/drawing/2014/main" id="{86522F73-90EA-453F-A764-6E1E8C98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Ryan &amp; Deci (2020), 자기결정성이론 / Gollwitzer &amp; Sheeran (2006), 실행의도 메타분석</a:t>
            </a:r>
          </a:p>
        </p:txBody>
      </p:sp>
      <p:sp>
        <p:nvSpPr>
          <p:cNvPr id="6" name="45">
            <a:extLst xmlns:a="http://schemas.openxmlformats.org/drawingml/2006/main">
              <a:ext uri="{FF2B5EF4-FFF2-40B4-BE49-F238E27FC236}">
                <a16:creationId xmlns:a16="http://schemas.microsoft.com/office/drawing/2014/main" id="{AEA6ABB2-5020-4C9A-9CB3-0E8D8D1A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45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33810-C6F3-4522-916F-A3EFCC2ACFF8}"/>
              </a:ext>
            </a:extLst>
          </p:cNvPr>
          <p:cNvGraphicFramePr/>
          <p:nvPr/>
        </p:nvGraphicFramePr>
        <p:xfrm>
          <a:off xmlns:a="http://schemas.openxmlformats.org/drawingml/2006/main" x="952500" y="2762250"/>
          <a:ext xmlns:a="http://schemas.openxmlformats.org/drawingml/2006/main" cx="163830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7048500"/>
                <a:gridCol w="5334000"/>
              </a:tblGrid>
              <a:tr h="1214438">
                <a:tc>
                  <a:txBody>
                    <a:bodyPr wrap="square"/>
                    <a:lstStyle/>
                    <a:p>
                      <a:r>
                        <a:rPr sz="262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넓은 계획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 가능한 행동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완료를 확인하는 방법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214438"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컴퓨터를 잘하기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명단 예제 한 개에서 누락 찾기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답안과 비교해 수정함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214438"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취업 준비 열심히 하기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관심 공고 한 개의 업무 표시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필수·우대·미확인 항목 구분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214438"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경력 정리하기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경험 하나의 행동과 결과 확인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사실에 맞는 문장 저장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B5530-B26C-459C-9A75-E024871F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9" name="완료 기준이 보이면 스스로 진전을 확인하기 쉬워집니다.">
            <a:extLst xmlns:a="http://schemas.openxmlformats.org/drawingml/2006/main">
              <a:ext uri="{FF2B5EF4-FFF2-40B4-BE49-F238E27FC236}">
                <a16:creationId xmlns:a16="http://schemas.microsoft.com/office/drawing/2014/main" id="{E6CAEE81-1A33-4353-B875-8FFC7F94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완료 기준이 보이면 스스로 진전을 확인하기 쉬워집니다.</a:t>
            </a:r>
          </a:p>
        </p:txBody>
      </p:sp>
      <p:sp xmlns:a="http://schemas.openxmlformats.org/drawingml/2006/main">
        <p:nvSpPr>
          <p:cNvPr id="11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2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69959237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4교시 · 지원과 실행">
            <a:extLst xmlns:a="http://schemas.openxmlformats.org/drawingml/2006/main">
              <a:ext uri="{FF2B5EF4-FFF2-40B4-BE49-F238E27FC236}">
                <a16:creationId xmlns:a16="http://schemas.microsoft.com/office/drawing/2014/main" id="{798AF252-C712-4273-8474-5D88D724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4교시 · 지원과 실행</a:t>
            </a:r>
          </a:p>
        </p:txBody>
      </p:sp>
      <p:sp>
        <p:nvSpPr>
          <p:cNvPr id="2" name="03:22–03:28  ·  6분">
            <a:extLst xmlns:a="http://schemas.openxmlformats.org/drawingml/2006/main">
              <a:ext uri="{FF2B5EF4-FFF2-40B4-BE49-F238E27FC236}">
                <a16:creationId xmlns:a16="http://schemas.microsoft.com/office/drawing/2014/main" id="{8462E30E-4FCC-415A-9412-BF417EC2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03:22–03:28  ·  6분</a:t>
            </a:r>
          </a:p>
        </p:txBody>
      </p:sp>
      <p:sp>
        <p:nvSpPr>
          <p:cNvPr id="3" name="“언젠가”를 시작할 상황으로 바꾸기">
            <a:extLst xmlns:a="http://schemas.openxmlformats.org/drawingml/2006/main">
              <a:ext uri="{FF2B5EF4-FFF2-40B4-BE49-F238E27FC236}">
                <a16:creationId xmlns:a16="http://schemas.microsoft.com/office/drawing/2014/main" id="{D527FA27-90EA-4929-894D-BD0F36C3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“언젠가”를 시작할 상황으로 바꾸기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053F1-82BE-4A94-8C04-B3882056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Gollwitzer &amp; Sheeran (2006), 실행의도 메타분석">
            <a:extLst xmlns:a="http://schemas.openxmlformats.org/drawingml/2006/main">
              <a:ext uri="{FF2B5EF4-FFF2-40B4-BE49-F238E27FC236}">
                <a16:creationId xmlns:a16="http://schemas.microsoft.com/office/drawing/2014/main" id="{6E65E9F1-5B89-4B52-B1CD-4235734A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Gollwitzer &amp; Sheeran (2006), 실행의도 메타분석</a:t>
            </a:r>
          </a:p>
        </p:txBody>
      </p:sp>
      <p:sp>
        <p:nvSpPr>
          <p:cNvPr id="6" name="46">
            <a:extLst xmlns:a="http://schemas.openxmlformats.org/drawingml/2006/main">
              <a:ext uri="{FF2B5EF4-FFF2-40B4-BE49-F238E27FC236}">
                <a16:creationId xmlns:a16="http://schemas.microsoft.com/office/drawing/2014/main" id="{656A0439-CBBE-498B-A7F3-1CB4BDB7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46</a:t>
            </a:r>
          </a:p>
        </p:txBody>
      </p:sp>
      <p:sp>
        <p:nvSpPr>
          <p:cNvPr id="7" name="화요일 훈련이 끝나고&#10;컴퓨터실에 앉으면,">
            <a:extLst xmlns:a="http://schemas.openxmlformats.org/drawingml/2006/main">
              <a:ext uri="{FF2B5EF4-FFF2-40B4-BE49-F238E27FC236}">
                <a16:creationId xmlns:a16="http://schemas.microsoft.com/office/drawing/2014/main" id="{685AF313-AF58-4B0B-94E1-07E59CCC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5906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5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5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화요일 훈련이 끝나고</a:t>
            </a:r>
          </a:p>
          <a:p xmlns:a="http://schemas.openxmlformats.org/drawingml/2006/main">
            <a:pPr algn="l">
              <a:defRPr sz="5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5175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컴퓨터실에 앉으면,</a:t>
            </a:r>
          </a:p>
        </p:txBody>
      </p:sp>
      <p:sp>
        <p:nvSpPr>
          <p:cNvPr id="8" name="명단 예제 한 개를 15분 동안 풀고&#10;답안과 비교해 수정한다.">
            <a:extLst xmlns:a="http://schemas.openxmlformats.org/drawingml/2006/main">
              <a:ext uri="{FF2B5EF4-FFF2-40B4-BE49-F238E27FC236}">
                <a16:creationId xmlns:a16="http://schemas.microsoft.com/office/drawing/2014/main" id="{EC97972A-E873-4A8F-A3FD-469A1CE7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159067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명단 예제 한 개를 15분 동안 풀고</a:t>
            </a:r>
          </a:p>
          <a:p xmlns:a="http://schemas.openxmlformats.org/drawingml/2006/main">
            <a:pPr algn="l">
              <a:def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답안과 비교해 수정한다.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3558D-DC64-41F2-9E9D-D79CFEFB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0" name="시작할 상황과 행동이 연결되도록, 내 실제 일정에 맞게 선택합니다.">
            <a:extLst xmlns:a="http://schemas.openxmlformats.org/drawingml/2006/main">
              <a:ext uri="{FF2B5EF4-FFF2-40B4-BE49-F238E27FC236}">
                <a16:creationId xmlns:a16="http://schemas.microsoft.com/office/drawing/2014/main" id="{E2D93E3C-626B-42E0-A1D4-92807833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시작할 상황과 행동이 연결되도록, 내 실제 일정에 맞게 선택합니다.</a:t>
            </a:r>
          </a:p>
        </p:txBody>
      </p:sp>
      <p:sp xmlns:a="http://schemas.openxmlformats.org/drawingml/2006/main">
        <p:nvSpPr>
          <p:cNvPr id="12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3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23925921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4교시 · 지원과 실행">
            <a:extLst xmlns:a="http://schemas.openxmlformats.org/drawingml/2006/main">
              <a:ext uri="{FF2B5EF4-FFF2-40B4-BE49-F238E27FC236}">
                <a16:creationId xmlns:a16="http://schemas.microsoft.com/office/drawing/2014/main" id="{24964533-45D4-45F8-8C68-B53A8598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4교시 · 지원과 실행</a:t>
            </a:r>
          </a:p>
        </p:txBody>
      </p:sp>
      <p:sp>
        <p:nvSpPr>
          <p:cNvPr id="2" name="03:28–03:33  ·  5분">
            <a:extLst xmlns:a="http://schemas.openxmlformats.org/drawingml/2006/main">
              <a:ext uri="{FF2B5EF4-FFF2-40B4-BE49-F238E27FC236}">
                <a16:creationId xmlns:a16="http://schemas.microsoft.com/office/drawing/2014/main" id="{5E2EECA8-460E-4B44-B90D-CF812F4A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03:28–03:33  ·  5분</a:t>
            </a:r>
          </a:p>
        </p:txBody>
      </p:sp>
      <p:sp>
        <p:nvSpPr>
          <p:cNvPr id="3" name="시작하지 못했을 때의 대안">
            <a:extLst xmlns:a="http://schemas.openxmlformats.org/drawingml/2006/main">
              <a:ext uri="{FF2B5EF4-FFF2-40B4-BE49-F238E27FC236}">
                <a16:creationId xmlns:a16="http://schemas.microsoft.com/office/drawing/2014/main" id="{B636FE7B-640A-4D4F-8B00-DA8AE0E2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시작하지 못했을 때의 대안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0B86F-8B9B-426B-9DAB-00D3E2CA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Gollwitzer &amp; Sheeran (2006), 실행의도 메타분석 / R">
            <a:extLst xmlns:a="http://schemas.openxmlformats.org/drawingml/2006/main">
              <a:ext uri="{FF2B5EF4-FFF2-40B4-BE49-F238E27FC236}">
                <a16:creationId xmlns:a16="http://schemas.microsoft.com/office/drawing/2014/main" id="{BC0BD8C2-D6DE-4EEC-8987-B89BD73A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Gollwitzer &amp; Sheeran (2006), 실행의도 메타분석 / Ryan &amp; Deci (2020), 자기결정성이론</a:t>
            </a:r>
          </a:p>
        </p:txBody>
      </p:sp>
      <p:sp>
        <p:nvSpPr>
          <p:cNvPr id="6" name="47">
            <a:extLst xmlns:a="http://schemas.openxmlformats.org/drawingml/2006/main">
              <a:ext uri="{FF2B5EF4-FFF2-40B4-BE49-F238E27FC236}">
                <a16:creationId xmlns:a16="http://schemas.microsoft.com/office/drawing/2014/main" id="{6D7149BD-7268-486F-B797-B0C03814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47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02B5F-41F4-43C5-87AB-DB4A063ADF8E}"/>
              </a:ext>
            </a:extLst>
          </p:cNvPr>
          <p:cNvGraphicFramePr/>
          <p:nvPr/>
        </p:nvGraphicFramePr>
        <p:xfrm>
          <a:off xmlns:a="http://schemas.openxmlformats.org/drawingml/2006/main" x="952500" y="2762250"/>
          <a:ext xmlns:a="http://schemas.openxmlformats.org/drawingml/2006/main" cx="16383000" cy="5048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10191750"/>
              </a:tblGrid>
              <a:tr h="1009650">
                <a:tc>
                  <a:txBody>
                    <a:bodyPr wrap="square"/>
                    <a:lstStyle/>
                    <a:p>
                      <a:r>
                        <a:rPr sz="262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예상되는 장애물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내가 선택할 대안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09650"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퇴실해야 해서 15분이 없음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훈련 시작 전 5분 동안 한 열만 점검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09650"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어디서 틀렸는지 모르겠음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틀린 항목 하나를 표시해 강사에게 질문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09650"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컴퓨터를 사용할 수 없음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휴대폰에서 공고의 필수요건 한 개 확인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09650"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시작하기가 너무 부담됨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62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예시를 먼저 보고 같은 방식으로 한 항목 시도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9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0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99751071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4교시 · 지원과 실행">
            <a:extLst xmlns:a="http://schemas.openxmlformats.org/drawingml/2006/main">
              <a:ext uri="{FF2B5EF4-FFF2-40B4-BE49-F238E27FC236}">
                <a16:creationId xmlns:a16="http://schemas.microsoft.com/office/drawing/2014/main" id="{EE8F2E99-EC90-4668-B9DA-1CFEA686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4교시 · 지원과 실행</a:t>
            </a:r>
          </a:p>
        </p:txBody>
      </p:sp>
      <p:sp>
        <p:nvSpPr>
          <p:cNvPr id="2" name="03:33–03:40  ·  7분">
            <a:extLst xmlns:a="http://schemas.openxmlformats.org/drawingml/2006/main">
              <a:ext uri="{FF2B5EF4-FFF2-40B4-BE49-F238E27FC236}">
                <a16:creationId xmlns:a16="http://schemas.microsoft.com/office/drawing/2014/main" id="{146CDADF-EAF4-438C-85D0-E3EF7590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03:33–03:40  ·  7분</a:t>
            </a:r>
          </a:p>
        </p:txBody>
      </p:sp>
      <p:sp>
        <p:nvSpPr>
          <p:cNvPr id="3" name="내 실행 계획 최종 확인">
            <a:extLst xmlns:a="http://schemas.openxmlformats.org/drawingml/2006/main">
              <a:ext uri="{FF2B5EF4-FFF2-40B4-BE49-F238E27FC236}">
                <a16:creationId xmlns:a16="http://schemas.microsoft.com/office/drawing/2014/main" id="{5A9FEE1E-9B65-4F86-AE79-36CB8750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내 실행 계획 최종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B406A-D477-4640-98E6-C15F4232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개인 화면 설계 예시 · 시스템이 작성한 계획은 본인이 수정·확인합니다.">
            <a:extLst xmlns:a="http://schemas.openxmlformats.org/drawingml/2006/main">
              <a:ext uri="{FF2B5EF4-FFF2-40B4-BE49-F238E27FC236}">
                <a16:creationId xmlns:a16="http://schemas.microsoft.com/office/drawing/2014/main" id="{2B8C008B-9DDC-4C26-A418-99C337C6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개인 화면 설계 예시 · 시스템이 작성한 계획은 본인이 수정·확인합니다.</a:t>
            </a:r>
          </a:p>
        </p:txBody>
      </p:sp>
      <p:sp>
        <p:nvSpPr>
          <p:cNvPr id="6" name="48">
            <a:extLst xmlns:a="http://schemas.openxmlformats.org/drawingml/2006/main">
              <a:ext uri="{FF2B5EF4-FFF2-40B4-BE49-F238E27FC236}">
                <a16:creationId xmlns:a16="http://schemas.microsoft.com/office/drawing/2014/main" id="{A4DAD569-46EB-45D4-A90F-7870AD81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F8124-EE0E-4238-AE38-818C3ED3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6383000" cy="5286375"/>
          </a:xfrm>
          <a:prstGeom xmlns:a="http://schemas.openxmlformats.org/drawingml/2006/main" prst="rect">
            <a:avLst/>
          </a:prstGeom>
          <ns0:noFill xmlns:ns0="http://schemas.openxmlformats.org/drawingml/2006/main"/>
          <a:ln xmlns:a="http://schemas.openxmlformats.org/drawingml/2006/main" w="1905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D1209-B55A-42B3-92CE-67678F19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6383000" cy="619125"/>
          </a:xfrm>
          <a:prstGeom xmlns:a="http://schemas.openxmlformats.org/drawingml/2006/main" prst="rect">
            <a:avLst/>
          </a:prstGeom>
          <ns0:noFill xmlns:ns0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개인 화면 · 선택한 항목을 불러와 확인">
            <a:extLst xmlns:a="http://schemas.openxmlformats.org/drawingml/2006/main">
              <a:ext uri="{FF2B5EF4-FFF2-40B4-BE49-F238E27FC236}">
                <a16:creationId xmlns:a16="http://schemas.microsoft.com/office/drawing/2014/main" id="{5132E61E-E523-453E-98D7-58F3EC9C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86075"/>
            <a:ext cx="1592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개인 화면 · 선택한 항목을 불러와 확인</a:t>
            </a:r>
          </a:p>
        </p:txBody>
      </p:sp>
      <p:sp>
        <p:nvSpPr>
          <p:cNvPr id="10" name="나의 기준">
            <a:extLst xmlns:a="http://schemas.openxmlformats.org/drawingml/2006/main">
              <a:ext uri="{FF2B5EF4-FFF2-40B4-BE49-F238E27FC236}">
                <a16:creationId xmlns:a16="http://schemas.microsoft.com/office/drawing/2014/main" id="{A7844661-2AE4-415C-87AC-DD882549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67125"/>
            <a:ext cx="3571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나의 기준</a:t>
            </a:r>
          </a:p>
        </p:txBody>
      </p:sp>
      <p:sp>
        <p:nvSpPr>
          <p:cNvPr id="11" name="예측 가능한 시간과 생활에 필요한 소득">
            <a:extLst xmlns:a="http://schemas.openxmlformats.org/drawingml/2006/main">
              <a:ext uri="{FF2B5EF4-FFF2-40B4-BE49-F238E27FC236}">
                <a16:creationId xmlns:a16="http://schemas.microsoft.com/office/drawing/2014/main" id="{45F5B6F7-08B8-411D-BDB4-2392FA58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67125"/>
            <a:ext cx="12334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예측 가능한 시간과 생활에 필요한 소득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CC6BE-0F8E-4233-AEE0-8E8BD92F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16287750" cy="9525"/>
          </a:xfrm>
          <a:custGeom xmlns:a="http://schemas.openxmlformats.org/drawingml/2006/main">
            <a:pathLst>
              <a:path w="16287750" h="9525">
                <a:moveTo>
                  <a:pt x="0" y="0"/>
                </a:moveTo>
                <a:lnTo>
                  <a:pt x="1628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6DB"/>
            </a:solidFill>
          </a:ln>
        </p:spPr>
      </p:sp>
      <p:sp>
        <p:nvSpPr>
          <p:cNvPr id="13" name="활용할 경험">
            <a:extLst xmlns:a="http://schemas.openxmlformats.org/drawingml/2006/main">
              <a:ext uri="{FF2B5EF4-FFF2-40B4-BE49-F238E27FC236}">
                <a16:creationId xmlns:a16="http://schemas.microsoft.com/office/drawing/2014/main" id="{0EDFE34C-6420-4469-89BA-E8BDA328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05325"/>
            <a:ext cx="3571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활용할 경험</a:t>
            </a:r>
          </a:p>
        </p:txBody>
      </p:sp>
      <p:sp>
        <p:nvSpPr>
          <p:cNvPr id="14" name="훈련에서 표 입력 과제를 해본 경험">
            <a:extLst xmlns:a="http://schemas.openxmlformats.org/drawingml/2006/main">
              <a:ext uri="{FF2B5EF4-FFF2-40B4-BE49-F238E27FC236}">
                <a16:creationId xmlns:a16="http://schemas.microsoft.com/office/drawing/2014/main" id="{8C91A275-FE36-4C52-91D3-FE60CC66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05325"/>
            <a:ext cx="12334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훈련에서 표 입력 과제를 해본 경험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50BC61-7E73-4DEE-8C6E-6474F21C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72075"/>
            <a:ext cx="16287750" cy="9525"/>
          </a:xfrm>
          <a:custGeom xmlns:a="http://schemas.openxmlformats.org/drawingml/2006/main">
            <a:pathLst>
              <a:path w="16287750" h="9525">
                <a:moveTo>
                  <a:pt x="0" y="0"/>
                </a:moveTo>
                <a:lnTo>
                  <a:pt x="1628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6DB"/>
            </a:solidFill>
          </a:ln>
        </p:spPr>
      </p:sp>
      <p:sp>
        <p:nvSpPr>
          <p:cNvPr id="16" name="이번 주 행동">
            <a:extLst xmlns:a="http://schemas.openxmlformats.org/drawingml/2006/main">
              <a:ext uri="{FF2B5EF4-FFF2-40B4-BE49-F238E27FC236}">
                <a16:creationId xmlns:a16="http://schemas.microsoft.com/office/drawing/2014/main" id="{2AC24FB0-E06C-4C4F-8C58-B6E18228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43525"/>
            <a:ext cx="3571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이번 주 행동</a:t>
            </a:r>
          </a:p>
        </p:txBody>
      </p:sp>
      <p:sp>
        <p:nvSpPr>
          <p:cNvPr id="17" name="명단 예제 한 개를 점검하고 답안과 비교">
            <a:extLst xmlns:a="http://schemas.openxmlformats.org/drawingml/2006/main">
              <a:ext uri="{FF2B5EF4-FFF2-40B4-BE49-F238E27FC236}">
                <a16:creationId xmlns:a16="http://schemas.microsoft.com/office/drawing/2014/main" id="{1B3A09DA-63ED-4916-BD14-14700170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343525"/>
            <a:ext cx="12334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명단 예제 한 개를 점검하고 답안과 비교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6F4CFF-44FE-4750-938C-E07A28B3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10275"/>
            <a:ext cx="16287750" cy="9525"/>
          </a:xfrm>
          <a:custGeom xmlns:a="http://schemas.openxmlformats.org/drawingml/2006/main">
            <a:pathLst>
              <a:path w="16287750" h="9525">
                <a:moveTo>
                  <a:pt x="0" y="0"/>
                </a:moveTo>
                <a:lnTo>
                  <a:pt x="1628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6DB"/>
            </a:solidFill>
          </a:ln>
        </p:spPr>
      </p:sp>
      <p:sp>
        <p:nvSpPr>
          <p:cNvPr id="19" name="시작 / 완료">
            <a:extLst xmlns:a="http://schemas.openxmlformats.org/drawingml/2006/main">
              <a:ext uri="{FF2B5EF4-FFF2-40B4-BE49-F238E27FC236}">
                <a16:creationId xmlns:a16="http://schemas.microsoft.com/office/drawing/2014/main" id="{E421083B-5A3F-49C3-847B-E61CA4A1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81725"/>
            <a:ext cx="3571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시작 / 완료</a:t>
            </a:r>
          </a:p>
        </p:txBody>
      </p:sp>
      <p:sp>
        <p:nvSpPr>
          <p:cNvPr id="20" name="화요일 훈련 후 15분 / 오류 수정까지">
            <a:extLst xmlns:a="http://schemas.openxmlformats.org/drawingml/2006/main">
              <a:ext uri="{FF2B5EF4-FFF2-40B4-BE49-F238E27FC236}">
                <a16:creationId xmlns:a16="http://schemas.microsoft.com/office/drawing/2014/main" id="{76247DFB-4633-4E50-9C9D-0BA57393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181725"/>
            <a:ext cx="12334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화요일 훈련 후 15분 / 오류 수정까지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06E436-BA47-42C0-8298-A6422405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48475"/>
            <a:ext cx="16287750" cy="9525"/>
          </a:xfrm>
          <a:custGeom xmlns:a="http://schemas.openxmlformats.org/drawingml/2006/main">
            <a:pathLst>
              <a:path w="16287750" h="9525">
                <a:moveTo>
                  <a:pt x="0" y="0"/>
                </a:moveTo>
                <a:lnTo>
                  <a:pt x="1628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6DB"/>
            </a:solidFill>
          </a:ln>
        </p:spPr>
      </p:sp>
      <p:sp>
        <p:nvSpPr>
          <p:cNvPr id="22" name="막히면">
            <a:extLst xmlns:a="http://schemas.openxmlformats.org/drawingml/2006/main">
              <a:ext uri="{FF2B5EF4-FFF2-40B4-BE49-F238E27FC236}">
                <a16:creationId xmlns:a16="http://schemas.microsoft.com/office/drawing/2014/main" id="{F0066890-BE3C-48ED-ABB6-28B685E0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019925"/>
            <a:ext cx="3571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막히면</a:t>
            </a:r>
          </a:p>
        </p:txBody>
      </p:sp>
      <p:sp>
        <p:nvSpPr>
          <p:cNvPr id="23" name="한 열만 점검하고 강사에게 질문">
            <a:extLst xmlns:a="http://schemas.openxmlformats.org/drawingml/2006/main">
              <a:ext uri="{FF2B5EF4-FFF2-40B4-BE49-F238E27FC236}">
                <a16:creationId xmlns:a16="http://schemas.microsoft.com/office/drawing/2014/main" id="{EDCD98DC-6810-43EC-A4DE-E94ABB22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7019925"/>
            <a:ext cx="12334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한 열만 점검하고 강사에게 질문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5404D7-AE35-4F2E-A85A-10684779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25" name="개인 계획은 본인만 확인하고, 강사 화면에는 행동 종류만 익명으로 공유합니다.">
            <a:extLst xmlns:a="http://schemas.openxmlformats.org/drawingml/2006/main">
              <a:ext uri="{FF2B5EF4-FFF2-40B4-BE49-F238E27FC236}">
                <a16:creationId xmlns:a16="http://schemas.microsoft.com/office/drawing/2014/main" id="{C5809247-06CE-4EEA-8B1F-F4A5E9A2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개인 계획은 본인만 확인하고, 강사 화면에는 행동 종류만 익명으로 공유합니다.</a:t>
            </a:r>
          </a:p>
        </p:txBody>
      </p:sp>
      <p:sp xmlns:a="http://schemas.openxmlformats.org/drawingml/2006/main">
        <p:nvSpPr>
          <p:cNvPr id="27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28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72068266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4교시 · 지원과 실행">
            <a:extLst xmlns:a="http://schemas.openxmlformats.org/drawingml/2006/main">
              <a:ext uri="{FF2B5EF4-FFF2-40B4-BE49-F238E27FC236}">
                <a16:creationId xmlns:a16="http://schemas.microsoft.com/office/drawing/2014/main" id="{9A8B9EDF-E0C8-44F2-8836-67CEE64F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4교시 · 지원과 실행</a:t>
            </a:r>
          </a:p>
        </p:txBody>
      </p:sp>
      <p:sp>
        <p:nvSpPr>
          <p:cNvPr id="2" name="03:40–03:45  ·  5분">
            <a:extLst xmlns:a="http://schemas.openxmlformats.org/drawingml/2006/main">
              <a:ext uri="{FF2B5EF4-FFF2-40B4-BE49-F238E27FC236}">
                <a16:creationId xmlns:a16="http://schemas.microsoft.com/office/drawing/2014/main" id="{B40424E0-105C-4A43-A55D-45193E52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03:40–03:45  ·  5분</a:t>
            </a:r>
          </a:p>
        </p:txBody>
      </p:sp>
      <p:sp>
        <p:nvSpPr>
          <p:cNvPr id="3" name="A의 변화는 이렇게 설명할 수 있습니다">
            <a:extLst xmlns:a="http://schemas.openxmlformats.org/drawingml/2006/main">
              <a:ext uri="{FF2B5EF4-FFF2-40B4-BE49-F238E27FC236}">
                <a16:creationId xmlns:a16="http://schemas.microsoft.com/office/drawing/2014/main" id="{4F8C4010-A6DE-44C6-BEA2-0E5F9D5F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A의 변화는 이렇게 설명할 수 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C4E15-D550-4394-8427-EF02AD15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교육용 가상 변화 예시 · 실제 수업 효과나 참여자 성과가 아닙니다.">
            <a:extLst xmlns:a="http://schemas.openxmlformats.org/drawingml/2006/main">
              <a:ext uri="{FF2B5EF4-FFF2-40B4-BE49-F238E27FC236}">
                <a16:creationId xmlns:a16="http://schemas.microsoft.com/office/drawing/2014/main" id="{A584198C-7A62-4332-8FB5-5A7ACEAF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교육용 가상 변화 예시 · 실제 수업 효과나 참여자 성과가 아닙니다.</a:t>
            </a:r>
          </a:p>
        </p:txBody>
      </p:sp>
      <p:sp>
        <p:nvSpPr>
          <p:cNvPr id="6" name="49">
            <a:extLst xmlns:a="http://schemas.openxmlformats.org/drawingml/2006/main">
              <a:ext uri="{FF2B5EF4-FFF2-40B4-BE49-F238E27FC236}">
                <a16:creationId xmlns:a16="http://schemas.microsoft.com/office/drawing/2014/main" id="{93A5E393-829A-413A-8E6C-14D12829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49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EB87C-98B4-4B65-88FC-25EBD3B04A55}"/>
              </a:ext>
            </a:extLst>
          </p:cNvPr>
          <p:cNvGraphicFramePr/>
          <p:nvPr/>
        </p:nvGraphicFramePr>
        <p:xfrm>
          <a:off xmlns:a="http://schemas.openxmlformats.org/drawingml/2006/main" x="952500" y="2762250"/>
          <a:ext xmlns:a="http://schemas.openxmlformats.org/drawingml/2006/main" cx="16383000" cy="5095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9715500"/>
              </a:tblGrid>
              <a:tr h="1019175">
                <a:tc>
                  <a:txBody>
                    <a:bodyPr wrap="square"/>
                    <a:lstStyle/>
                    <a:p>
                      <a:r>
                        <a:rPr sz="255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처음의 말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5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수업 후 정리할 수 있는 말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19175">
                <a:tc>
                  <a:txBody>
                    <a:bodyPr wrap="square"/>
                    <a:lstStyle/>
                    <a:p>
                      <a:r>
                        <a:rPr sz="25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“어디에 지원할지 막막해요.”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기준에 맞는 조건을 먼저 비교할 수 있어요.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19175">
                <a:tc>
                  <a:txBody>
                    <a:bodyPr wrap="square"/>
                    <a:lstStyle/>
                    <a:p>
                      <a:r>
                        <a:rPr sz="25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“내세울 경험이 없어요.”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해본 행동과 남은 결과를 설명할 수 있어요.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19175">
                <a:tc>
                  <a:txBody>
                    <a:bodyPr wrap="square"/>
                    <a:lstStyle/>
                    <a:p>
                      <a:r>
                        <a:rPr sz="25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“컴퓨터를 잘해야 할 것 같아요.”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명단 점검을 해봤고, 다음 연습이 무엇인지 알아요.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19175">
                <a:tc>
                  <a:txBody>
                    <a:bodyPr wrap="square"/>
                    <a:lstStyle/>
                    <a:p>
                      <a:r>
                        <a:rPr sz="25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“나중에 준비해야겠어요.”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화요일 훈련 후 15분 연습할 계획이 있어요.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9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0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41075725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4교시 · 지원과 실행">
            <a:extLst xmlns:a="http://schemas.openxmlformats.org/drawingml/2006/main">
              <a:ext uri="{FF2B5EF4-FFF2-40B4-BE49-F238E27FC236}">
                <a16:creationId xmlns:a16="http://schemas.microsoft.com/office/drawing/2014/main" id="{BA98C7CA-48B7-460C-AB0F-362DA75F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4교시 · 지원과 실행</a:t>
            </a:r>
          </a:p>
        </p:txBody>
      </p:sp>
      <p:sp>
        <p:nvSpPr>
          <p:cNvPr id="2" name="03:45–03:50  ·  5분">
            <a:extLst xmlns:a="http://schemas.openxmlformats.org/drawingml/2006/main">
              <a:ext uri="{FF2B5EF4-FFF2-40B4-BE49-F238E27FC236}">
                <a16:creationId xmlns:a16="http://schemas.microsoft.com/office/drawing/2014/main" id="{2B6938C9-6986-46C1-AB6A-B1E9C922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03:45–03:50  ·  5분</a:t>
            </a:r>
          </a:p>
        </p:txBody>
      </p:sp>
      <p:sp>
        <p:nvSpPr>
          <p:cNvPr id="3" name="동기가 이어지도록 확인할 네 가지">
            <a:extLst xmlns:a="http://schemas.openxmlformats.org/drawingml/2006/main">
              <a:ext uri="{FF2B5EF4-FFF2-40B4-BE49-F238E27FC236}">
                <a16:creationId xmlns:a16="http://schemas.microsoft.com/office/drawing/2014/main" id="{A8EEA2DD-F7A2-40B9-9017-4845D9A4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동기가 이어지도록 확인할 네 가지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0649E-4276-49F3-8150-E638DF62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Ryan &amp; Deci (2020), 자기결정성이론 / Lent &amp; Brown">
            <a:extLst xmlns:a="http://schemas.openxmlformats.org/drawingml/2006/main">
              <a:ext uri="{FF2B5EF4-FFF2-40B4-BE49-F238E27FC236}">
                <a16:creationId xmlns:a16="http://schemas.microsoft.com/office/drawing/2014/main" id="{B5BBC565-B081-4DFD-B280-70D90DE1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Ryan &amp; Deci (2020), 자기결정성이론 / Lent &amp; Brown (2019), 사회인지진로이론 / Gollwitzer &amp; Sheeran (2006), 실행의도 메타분석</a:t>
            </a:r>
          </a:p>
        </p:txBody>
      </p:sp>
      <p:sp>
        <p:nvSpPr>
          <p:cNvPr id="6" name="50">
            <a:extLst xmlns:a="http://schemas.openxmlformats.org/drawingml/2006/main">
              <a:ext uri="{FF2B5EF4-FFF2-40B4-BE49-F238E27FC236}">
                <a16:creationId xmlns:a16="http://schemas.microsoft.com/office/drawing/2014/main" id="{E652ED09-D7FB-4D1C-B79B-31889355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50</a:t>
            </a:r>
          </a:p>
        </p:txBody>
      </p:sp>
      <p:sp>
        <p:nvSpPr>
          <p:cNvPr id="7" name="내가 납득하는 이유">
            <a:extLst xmlns:a="http://schemas.openxmlformats.org/drawingml/2006/main">
              <a:ext uri="{FF2B5EF4-FFF2-40B4-BE49-F238E27FC236}">
                <a16:creationId xmlns:a16="http://schemas.microsoft.com/office/drawing/2014/main" id="{F6CDA68A-F86B-4056-A737-B59FAF31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47148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내가 납득하는 이유</a:t>
            </a:r>
          </a:p>
        </p:txBody>
      </p:sp>
      <p:sp>
        <p:nvSpPr>
          <p:cNvPr id="8" name="원하는 생활과 일의 관계가 보이는가?">
            <a:extLst xmlns:a="http://schemas.openxmlformats.org/drawingml/2006/main">
              <a:ext uri="{FF2B5EF4-FFF2-40B4-BE49-F238E27FC236}">
                <a16:creationId xmlns:a16="http://schemas.microsoft.com/office/drawing/2014/main" id="{B654AD49-997E-4B95-A759-FE0FCA8E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62250"/>
            <a:ext cx="1119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원하는 생활과 일의 관계가 보이는가?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4D8EB-48AF-4BA5-990A-D7944EB4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29050"/>
            <a:ext cx="16287750" cy="9525"/>
          </a:xfrm>
          <a:custGeom xmlns:a="http://schemas.openxmlformats.org/drawingml/2006/main">
            <a:pathLst>
              <a:path w="16287750" h="9525">
                <a:moveTo>
                  <a:pt x="0" y="0"/>
                </a:moveTo>
                <a:lnTo>
                  <a:pt x="1628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6DB"/>
            </a:solidFill>
          </a:ln>
        </p:spPr>
      </p:sp>
      <p:sp>
        <p:nvSpPr>
          <p:cNvPr id="10" name="해볼 수 있다는 근거">
            <a:extLst xmlns:a="http://schemas.openxmlformats.org/drawingml/2006/main">
              <a:ext uri="{FF2B5EF4-FFF2-40B4-BE49-F238E27FC236}">
                <a16:creationId xmlns:a16="http://schemas.microsoft.com/office/drawing/2014/main" id="{AB22148D-B948-4602-97CB-EBDE95B1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67175"/>
            <a:ext cx="47148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해볼 수 있다는 근거</a:t>
            </a:r>
          </a:p>
        </p:txBody>
      </p:sp>
      <p:sp>
        <p:nvSpPr>
          <p:cNvPr id="11" name="경험이나 연습에서 확인한 행동이 있는가?">
            <a:extLst xmlns:a="http://schemas.openxmlformats.org/drawingml/2006/main">
              <a:ext uri="{FF2B5EF4-FFF2-40B4-BE49-F238E27FC236}">
                <a16:creationId xmlns:a16="http://schemas.microsoft.com/office/drawing/2014/main" id="{F2DD9EF6-B55F-4BB0-B149-F2A543AD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67175"/>
            <a:ext cx="1119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경험이나 연습에서 확인한 행동이 있는가?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52247-2130-4592-B931-AC479118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33975"/>
            <a:ext cx="16287750" cy="9525"/>
          </a:xfrm>
          <a:custGeom xmlns:a="http://schemas.openxmlformats.org/drawingml/2006/main">
            <a:pathLst>
              <a:path w="16287750" h="9525">
                <a:moveTo>
                  <a:pt x="0" y="0"/>
                </a:moveTo>
                <a:lnTo>
                  <a:pt x="1628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6DB"/>
            </a:solidFill>
          </a:ln>
        </p:spPr>
      </p:sp>
      <p:sp>
        <p:nvSpPr>
          <p:cNvPr id="13" name="도움을 받을 연결">
            <a:extLst xmlns:a="http://schemas.openxmlformats.org/drawingml/2006/main">
              <a:ext uri="{FF2B5EF4-FFF2-40B4-BE49-F238E27FC236}">
                <a16:creationId xmlns:a16="http://schemas.microsoft.com/office/drawing/2014/main" id="{DBF24D26-EE15-4AC1-A0E3-7D5F20B0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72100"/>
            <a:ext cx="47148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도움을 받을 연결</a:t>
            </a:r>
          </a:p>
        </p:txBody>
      </p:sp>
      <p:sp>
        <p:nvSpPr>
          <p:cNvPr id="14" name="막혔을 때 질문하거나 지원받을 곳이 있는가?">
            <a:extLst xmlns:a="http://schemas.openxmlformats.org/drawingml/2006/main">
              <a:ext uri="{FF2B5EF4-FFF2-40B4-BE49-F238E27FC236}">
                <a16:creationId xmlns:a16="http://schemas.microsoft.com/office/drawing/2014/main" id="{678ABE98-37A4-4F87-8E6A-FFC4099D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72100"/>
            <a:ext cx="1119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막혔을 때 질문하거나 지원받을 곳이 있는가?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24C99E-E093-4318-A9B9-52F24946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38900"/>
            <a:ext cx="16287750" cy="9525"/>
          </a:xfrm>
          <a:custGeom xmlns:a="http://schemas.openxmlformats.org/drawingml/2006/main">
            <a:pathLst>
              <a:path w="16287750" h="9525">
                <a:moveTo>
                  <a:pt x="0" y="0"/>
                </a:moveTo>
                <a:lnTo>
                  <a:pt x="1628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6DB"/>
            </a:solidFill>
          </a:ln>
        </p:spPr>
      </p:sp>
      <p:sp>
        <p:nvSpPr>
          <p:cNvPr id="16" name="시작할 상황">
            <a:extLst xmlns:a="http://schemas.openxmlformats.org/drawingml/2006/main">
              <a:ext uri="{FF2B5EF4-FFF2-40B4-BE49-F238E27FC236}">
                <a16:creationId xmlns:a16="http://schemas.microsoft.com/office/drawing/2014/main" id="{2C3155CE-51BE-4EAE-80CE-C00E594A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677025"/>
            <a:ext cx="47148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시작할 상황</a:t>
            </a:r>
          </a:p>
        </p:txBody>
      </p:sp>
      <p:sp>
        <p:nvSpPr>
          <p:cNvPr id="17" name="언제 어디서 무엇을 할지 정했는가?">
            <a:extLst xmlns:a="http://schemas.openxmlformats.org/drawingml/2006/main">
              <a:ext uri="{FF2B5EF4-FFF2-40B4-BE49-F238E27FC236}">
                <a16:creationId xmlns:a16="http://schemas.microsoft.com/office/drawing/2014/main" id="{0C851E01-1B27-46C5-922B-F2D59A08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677025"/>
            <a:ext cx="1119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언제 어디서 무엇을 할지 정했는가?</a:t>
            </a:r>
          </a:p>
        </p:txBody>
      </p:sp>
      <p:sp xmlns:a="http://schemas.openxmlformats.org/drawingml/2006/main">
        <p:nvSpPr>
          <p:cNvPr id="19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20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5234993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마무리 · 10분">
            <a:extLst xmlns:a="http://schemas.openxmlformats.org/drawingml/2006/main">
              <a:ext uri="{FF2B5EF4-FFF2-40B4-BE49-F238E27FC236}">
                <a16:creationId xmlns:a16="http://schemas.microsoft.com/office/drawing/2014/main" id="{B21BF46F-3A2B-47E6-BA3B-4B840192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마무리 · 10분</a:t>
            </a:r>
          </a:p>
        </p:txBody>
      </p:sp>
      <p:sp>
        <p:nvSpPr>
          <p:cNvPr id="2" name="03:50–03:56  ·  6분">
            <a:extLst xmlns:a="http://schemas.openxmlformats.org/drawingml/2006/main">
              <a:ext uri="{FF2B5EF4-FFF2-40B4-BE49-F238E27FC236}">
                <a16:creationId xmlns:a16="http://schemas.microsoft.com/office/drawing/2014/main" id="{42409D95-3073-4684-8F65-C7EFBF83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03:50–03:56  ·  6분</a:t>
            </a:r>
          </a:p>
        </p:txBody>
      </p:sp>
      <p:sp>
        <p:nvSpPr>
          <p:cNvPr id="3" name="마무리. 오늘 더 분명해진 것">
            <a:extLst xmlns:a="http://schemas.openxmlformats.org/drawingml/2006/main">
              <a:ext uri="{FF2B5EF4-FFF2-40B4-BE49-F238E27FC236}">
                <a16:creationId xmlns:a16="http://schemas.microsoft.com/office/drawing/2014/main" id="{A7E321B8-EBB8-4F74-A093-1C73E0AE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마무리. 오늘 더 분명해진 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CFE69-41E0-48F8-AF4F-030BB6EC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수업용 성찰 질문 · 검증된 효과 측정 척도나 취업 성과 평가가 아닙니다.">
            <a:extLst xmlns:a="http://schemas.openxmlformats.org/drawingml/2006/main">
              <a:ext uri="{FF2B5EF4-FFF2-40B4-BE49-F238E27FC236}">
                <a16:creationId xmlns:a16="http://schemas.microsoft.com/office/drawing/2014/main" id="{DE1B9CFC-AF4D-4945-ABBE-01D7334C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수업용 성찰 질문 · 검증된 효과 측정 척도나 취업 성과 평가가 아닙니다.</a:t>
            </a:r>
          </a:p>
        </p:txBody>
      </p:sp>
      <p:sp>
        <p:nvSpPr>
          <p:cNvPr id="6" name="51">
            <a:extLst xmlns:a="http://schemas.openxmlformats.org/drawingml/2006/main">
              <a:ext uri="{FF2B5EF4-FFF2-40B4-BE49-F238E27FC236}">
                <a16:creationId xmlns:a16="http://schemas.microsoft.com/office/drawing/2014/main" id="{82FDB0E9-69EE-4FF7-A991-6E9A3083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4F206-F4DE-4432-93ED-A3AFB1A7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19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8" name="내가 일하려는 이유가 조금 더 분명해졌어요.">
            <a:extLst xmlns:a="http://schemas.openxmlformats.org/drawingml/2006/main">
              <a:ext uri="{FF2B5EF4-FFF2-40B4-BE49-F238E27FC236}">
                <a16:creationId xmlns:a16="http://schemas.microsoft.com/office/drawing/2014/main" id="{918F0466-0ECD-4900-8435-16F3701F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52750"/>
            <a:ext cx="14916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내가 일하려는 이유가 조금 더 분명해졌어요.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7862F-9537-4DB0-9694-73E50408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62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10" name="내 경험에서 활용할 행동을 하나 찾았어요.">
            <a:extLst xmlns:a="http://schemas.openxmlformats.org/drawingml/2006/main">
              <a:ext uri="{FF2B5EF4-FFF2-40B4-BE49-F238E27FC236}">
                <a16:creationId xmlns:a16="http://schemas.microsoft.com/office/drawing/2014/main" id="{E4E5D2EF-6CCB-43F3-ABF3-3ADBF22E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4916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내 경험에서 활용할 행동을 하나 찾았어요.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53A55-1691-4FA3-8D73-2BEE7386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05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12" name="이번 주 시작할 행동과 상황을 정했어요.">
            <a:extLst xmlns:a="http://schemas.openxmlformats.org/drawingml/2006/main">
              <a:ext uri="{FF2B5EF4-FFF2-40B4-BE49-F238E27FC236}">
                <a16:creationId xmlns:a16="http://schemas.microsoft.com/office/drawing/2014/main" id="{E309E74B-461B-44D2-8685-D3388C3D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38750"/>
            <a:ext cx="14916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이번 주 시작할 행동과 상황을 정했어요.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0CBAB-EF2C-4B7B-A95C-70AD056D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48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8A"/>
            </a:solidFill>
          </a:ln>
        </p:spPr>
      </p:sp>
      <p:sp>
        <p:nvSpPr>
          <p:cNvPr id="14" name="아직 도움이 필요해서 질문이나 지원을 선택했어요.">
            <a:extLst xmlns:a="http://schemas.openxmlformats.org/drawingml/2006/main">
              <a:ext uri="{FF2B5EF4-FFF2-40B4-BE49-F238E27FC236}">
                <a16:creationId xmlns:a16="http://schemas.microsoft.com/office/drawing/2014/main" id="{04B7C3E9-0665-4F0D-B307-2A14AAE9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381750"/>
            <a:ext cx="14916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아직 도움이 필요해서 질문이나 지원을 선택했어요.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3A5CF-AE2A-4A72-BDF1-89B8917F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16383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D6DB"/>
            </a:solidFill>
          </a:ln>
        </p:spPr>
      </p:sp>
      <p:sp>
        <p:nvSpPr>
          <p:cNvPr id="16" name="어떤 응답이든 다음 준비에 필요한 정보를 얻은 것입니다.">
            <a:extLst xmlns:a="http://schemas.openxmlformats.org/drawingml/2006/main">
              <a:ext uri="{FF2B5EF4-FFF2-40B4-BE49-F238E27FC236}">
                <a16:creationId xmlns:a16="http://schemas.microsoft.com/office/drawing/2014/main" id="{75087200-6463-4981-9AFD-E1BDEF7E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48675"/>
            <a:ext cx="1633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어떤 응답이든 다음 준비에 필요한 정보를 얻은 것입니다.</a:t>
            </a:r>
          </a:p>
        </p:txBody>
      </p:sp>
      <p:sp xmlns:a="http://schemas.openxmlformats.org/drawingml/2006/main">
        <p:nvSpPr>
          <p:cNvPr id="18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9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80540422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마무리">
            <a:extLst xmlns:a="http://schemas.openxmlformats.org/drawingml/2006/main">
              <a:ext uri="{FF2B5EF4-FFF2-40B4-BE49-F238E27FC236}">
                <a16:creationId xmlns:a16="http://schemas.microsoft.com/office/drawing/2014/main" id="{894CB701-BD65-41D7-A552-B064122B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마무리</a:t>
            </a:r>
          </a:p>
        </p:txBody>
      </p:sp>
      <p:sp>
        <p:nvSpPr>
          <p:cNvPr id="2" name="03:56–04:00  ·  4분">
            <a:extLst xmlns:a="http://schemas.openxmlformats.org/drawingml/2006/main">
              <a:ext uri="{FF2B5EF4-FFF2-40B4-BE49-F238E27FC236}">
                <a16:creationId xmlns:a16="http://schemas.microsoft.com/office/drawing/2014/main" id="{E4725CDE-F6A2-4D1A-9238-8617C009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03:56–04:00  ·  4분</a:t>
            </a:r>
          </a:p>
        </p:txBody>
      </p:sp>
      <p:sp>
        <p:nvSpPr>
          <p:cNvPr id="3" name="오늘 고른 한 걸음을 가지고 돌아갑니다">
            <a:extLst xmlns:a="http://schemas.openxmlformats.org/drawingml/2006/main">
              <a:ext uri="{FF2B5EF4-FFF2-40B4-BE49-F238E27FC236}">
                <a16:creationId xmlns:a16="http://schemas.microsoft.com/office/drawing/2014/main" id="{DC6C93F0-13C7-470A-BA10-AD4A4F92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오늘 고른 한 걸음을 가지고 돌아갑니다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03832-BB05-4E75-B5F8-FACBEE03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Ryan &amp; Deci (2020), 자기결정성이론 / Gollwitzer &amp;">
            <a:extLst xmlns:a="http://schemas.openxmlformats.org/drawingml/2006/main">
              <a:ext uri="{FF2B5EF4-FFF2-40B4-BE49-F238E27FC236}">
                <a16:creationId xmlns:a16="http://schemas.microsoft.com/office/drawing/2014/main" id="{C46194B1-29B7-480D-991B-C2BA3DA0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Ryan &amp; Deci (2020), 자기결정성이론 / Gollwitzer &amp; Sheeran (2006), 실행의도 메타분석</a:t>
            </a:r>
          </a:p>
        </p:txBody>
      </p:sp>
      <p:sp>
        <p:nvSpPr>
          <p:cNvPr id="6" name="52">
            <a:extLst xmlns:a="http://schemas.openxmlformats.org/drawingml/2006/main">
              <a:ext uri="{FF2B5EF4-FFF2-40B4-BE49-F238E27FC236}">
                <a16:creationId xmlns:a16="http://schemas.microsoft.com/office/drawing/2014/main" id="{20D25B5E-1E3D-4F19-8FB8-8732F3C4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52</a:t>
            </a:r>
          </a:p>
        </p:txBody>
      </p:sp>
      <p:sp>
        <p:nvSpPr>
          <p:cNvPr id="7" name="내 삶의 기준을 가지고,&#10;해볼 수 있는 행동 하나를&#10;내가 선택합니다.">
            <a:extLst xmlns:a="http://schemas.openxmlformats.org/drawingml/2006/main">
              <a:ext uri="{FF2B5EF4-FFF2-40B4-BE49-F238E27FC236}">
                <a16:creationId xmlns:a16="http://schemas.microsoft.com/office/drawing/2014/main" id="{18FE41BC-64D5-4DF5-8530-2147533F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16002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60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내 삶의 기준을 가지고,</a:t>
            </a:r>
          </a:p>
          <a:p xmlns:a="http://schemas.openxmlformats.org/drawingml/2006/main">
            <a:pPr algn="l">
              <a:defRPr sz="60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해볼 수 있는 행동 하나를</a:t>
            </a:r>
          </a:p>
          <a:p xmlns:a="http://schemas.openxmlformats.org/drawingml/2006/main">
            <a:pPr algn="l">
              <a:defRPr sz="60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내가 선택합니다.</a:t>
            </a:r>
          </a:p>
        </p:txBody>
      </p:sp>
      <p:sp>
        <p:nvSpPr>
          <p:cNvPr id="8" name="계획은 실행해 보고, 내 상황에 맞게 다시 조정할 수 있습니다.">
            <a:extLst xmlns:a="http://schemas.openxmlformats.org/drawingml/2006/main">
              <a:ext uri="{FF2B5EF4-FFF2-40B4-BE49-F238E27FC236}">
                <a16:creationId xmlns:a16="http://schemas.microsoft.com/office/drawing/2014/main" id="{0D453083-7C71-4D48-993F-F357B89E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58125"/>
            <a:ext cx="1609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계획은 실행해 보고, 내 상황에 맞게 다시 조정할 수 있습니다.</a:t>
            </a:r>
          </a:p>
        </p:txBody>
      </p:sp>
      <p:sp xmlns:a="http://schemas.openxmlformats.org/drawingml/2006/main">
        <p:nvSpPr>
          <p:cNvPr id="10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1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564300337"/>
      </p:ext>
    </p:extLst>
  </p:cSld>
</p:sld>
</file>

<file path=ppt/slides/slide53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강사용 참고 · 수업 설계 근거">
            <a:extLst xmlns:a="http://schemas.openxmlformats.org/drawingml/2006/main">
              <a:ext uri="{FF2B5EF4-FFF2-40B4-BE49-F238E27FC236}">
                <a16:creationId xmlns:a16="http://schemas.microsoft.com/office/drawing/2014/main" id="{202D12F5-EBB1-4C47-897C-1ED3C39A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강사용 참고 · 수업 설계 근거</a:t>
            </a:r>
          </a:p>
        </p:txBody>
      </p:sp>
      <p:sp>
        <p:nvSpPr>
          <p:cNvPr id="2" name="강사용 참고">
            <a:extLst xmlns:a="http://schemas.openxmlformats.org/drawingml/2006/main">
              <a:ext uri="{FF2B5EF4-FFF2-40B4-BE49-F238E27FC236}">
                <a16:creationId xmlns:a16="http://schemas.microsoft.com/office/drawing/2014/main" id="{B08758F6-05D6-4EDE-BF8C-4CE06C60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강사용 참고</a:t>
            </a:r>
          </a:p>
        </p:txBody>
      </p:sp>
      <p:sp>
        <p:nvSpPr>
          <p:cNvPr id="3" name="동기부여 관점에서 이 구성이 갖는 의미">
            <a:extLst xmlns:a="http://schemas.openxmlformats.org/drawingml/2006/main">
              <a:ext uri="{FF2B5EF4-FFF2-40B4-BE49-F238E27FC236}">
                <a16:creationId xmlns:a16="http://schemas.microsoft.com/office/drawing/2014/main" id="{0655C19D-052E-4DC2-A136-77D5E52A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동기부여 관점에서 이 구성이 갖는 의미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32953-63A3-4B03-814F-76DFB5D6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Ryan &amp; Deci (2020), Lent &amp; Brown (2019), L">
            <a:extLst xmlns:a="http://schemas.openxmlformats.org/drawingml/2006/main">
              <a:ext uri="{FF2B5EF4-FFF2-40B4-BE49-F238E27FC236}">
                <a16:creationId xmlns:a16="http://schemas.microsoft.com/office/drawing/2014/main" id="{5E67DBBB-3B94-4459-BD3E-F24CAAE9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Ryan &amp; Deci (2020), Lent &amp; Brown (2019), Liu et al. (2014), Gollwitzer &amp; Sheeran (2006)</a:t>
            </a:r>
          </a:p>
        </p:txBody>
      </p:sp>
      <p:sp>
        <p:nvSpPr>
          <p:cNvPr id="6" name="53">
            <a:extLst xmlns:a="http://schemas.openxmlformats.org/drawingml/2006/main">
              <a:ext uri="{FF2B5EF4-FFF2-40B4-BE49-F238E27FC236}">
                <a16:creationId xmlns:a16="http://schemas.microsoft.com/office/drawing/2014/main" id="{3B49A282-5B5C-48CD-A5FF-E2D333A9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53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06F27-CA4C-402A-A93A-C61A454ECBFF}"/>
              </a:ext>
            </a:extLst>
          </p:cNvPr>
          <p:cNvGraphicFramePr/>
          <p:nvPr/>
        </p:nvGraphicFramePr>
        <p:xfrm>
          <a:off xmlns:a="http://schemas.openxmlformats.org/drawingml/2006/main" x="952500" y="2762250"/>
          <a:ext xmlns:a="http://schemas.openxmlformats.org/drawingml/2006/main" cx="16383000" cy="5048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5524500"/>
                <a:gridCol w="6858000"/>
              </a:tblGrid>
              <a:tr h="1009650"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수업 장치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지원하려는 경험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설계 조건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0965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삶의 기준 선택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내가 납득하는 이유와 선택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수정·보류 허용, 소득과 안정 존중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0965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경험 확인과 짧은 수행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과제에 대한 가능성과 진전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적정 난도, 실제 수행, 구체적 피드백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0965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익명 해설과 도움 요청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존중받고 연결되는 경험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익명 공유만으로 관계성 충족을 가정하지 않음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100965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상황과 행동을 연결한 계획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행동을 시작할 단서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시간·장소·완료 기준과 대안 확인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9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0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1737593323"/>
      </p:ext>
    </p:extLst>
  </p:cSld>
</p:sld>
</file>

<file path=ppt/slides/slide54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강사용 참고 · 시간 배분">
            <a:extLst xmlns:a="http://schemas.openxmlformats.org/drawingml/2006/main">
              <a:ext uri="{FF2B5EF4-FFF2-40B4-BE49-F238E27FC236}">
                <a16:creationId xmlns:a16="http://schemas.microsoft.com/office/drawing/2014/main" id="{DB9D182B-54E3-4D77-96CD-E6C3B202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강사용 참고 · 시간 배분</a:t>
            </a:r>
          </a:p>
        </p:txBody>
      </p:sp>
      <p:sp>
        <p:nvSpPr>
          <p:cNvPr id="2" name="강사용 참고">
            <a:extLst xmlns:a="http://schemas.openxmlformats.org/drawingml/2006/main">
              <a:ext uri="{FF2B5EF4-FFF2-40B4-BE49-F238E27FC236}">
                <a16:creationId xmlns:a16="http://schemas.microsoft.com/office/drawing/2014/main" id="{B2389B12-40AE-45CF-BB1A-9B108090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강사용 참고</a:t>
            </a:r>
          </a:p>
        </p:txBody>
      </p:sp>
      <p:sp>
        <p:nvSpPr>
          <p:cNvPr id="3" name="4시간 운영표">
            <a:extLst xmlns:a="http://schemas.openxmlformats.org/drawingml/2006/main">
              <a:ext uri="{FF2B5EF4-FFF2-40B4-BE49-F238E27FC236}">
                <a16:creationId xmlns:a16="http://schemas.microsoft.com/office/drawing/2014/main" id="{6C45F7D0-EFAF-4FA0-9E54-F5D1DA62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4시간 운영표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978D7-3DA3-41E4-9815-7B5535DA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개인 PC 활동과 강의 해설">
            <a:extLst xmlns:a="http://schemas.openxmlformats.org/drawingml/2006/main">
              <a:ext uri="{FF2B5EF4-FFF2-40B4-BE49-F238E27FC236}">
                <a16:creationId xmlns:a16="http://schemas.microsoft.com/office/drawing/2014/main" id="{00B8B433-378F-4825-9913-AADE8455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개인 PC 활동과 강의 해설</a:t>
            </a:r>
          </a:p>
        </p:txBody>
      </p:sp>
      <p:sp>
        <p:nvSpPr>
          <p:cNvPr id="6" name="54">
            <a:extLst xmlns:a="http://schemas.openxmlformats.org/drawingml/2006/main">
              <a:ext uri="{FF2B5EF4-FFF2-40B4-BE49-F238E27FC236}">
                <a16:creationId xmlns:a16="http://schemas.microsoft.com/office/drawing/2014/main" id="{CC86FD1E-AEBA-4A95-82C0-A4238968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54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149F5-639B-4520-B804-A443FEF73DB7}"/>
              </a:ext>
            </a:extLst>
          </p:cNvPr>
          <p:cNvGraphicFramePr/>
          <p:nvPr/>
        </p:nvGraphicFramePr>
        <p:xfrm>
          <a:off xmlns:a="http://schemas.openxmlformats.org/drawingml/2006/main" x="952500" y="2667000"/>
          <a:ext xmlns:a="http://schemas.openxmlformats.org/drawingml/2006/main" cx="1638300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2762250"/>
                <a:gridCol w="9810750"/>
              </a:tblGrid>
              <a:tr h="687917">
                <a:tc>
                  <a:txBody>
                    <a:bodyPr wrap="square"/>
                    <a:lstStyle/>
                    <a:p>
                      <a:r>
                        <a:rPr sz="225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경과 시간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25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슬라이드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25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 내용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687917"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00:00–00:50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1–13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상황, 삶의 기준, 방향 문장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687917"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00:50–01:00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휴식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687917"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01:00–01:50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15–26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행동 조건, 경험 근거, 직무 연결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687917"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01:50–02:00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휴식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687917"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02:00–02:50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28–39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공고 읽기, 짧은 직무 연습, 준비 과제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687917"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02:50–03:00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휴식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687917"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03:00–03:50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41–50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코칭 휠, 지원, 실행 계획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687917"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03:50–04:00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51–52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2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성찰과 개인 결과 저장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9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0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913134816"/>
      </p:ext>
    </p:extLst>
  </p:cSld>
</p:sld>
</file>

<file path=ppt/slides/slide55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강사용 참고 · 문헌">
            <a:extLst xmlns:a="http://schemas.openxmlformats.org/drawingml/2006/main">
              <a:ext uri="{FF2B5EF4-FFF2-40B4-BE49-F238E27FC236}">
                <a16:creationId xmlns:a16="http://schemas.microsoft.com/office/drawing/2014/main" id="{E4DA4B60-FEB0-48F8-A330-2BA49800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강사용 참고 · 문헌</a:t>
            </a:r>
          </a:p>
        </p:txBody>
      </p:sp>
      <p:sp>
        <p:nvSpPr>
          <p:cNvPr id="2" name="강사용 참고">
            <a:extLst xmlns:a="http://schemas.openxmlformats.org/drawingml/2006/main">
              <a:ext uri="{FF2B5EF4-FFF2-40B4-BE49-F238E27FC236}">
                <a16:creationId xmlns:a16="http://schemas.microsoft.com/office/drawing/2014/main" id="{68E53066-571B-44D7-A218-741E529C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강사용 참고</a:t>
            </a:r>
          </a:p>
        </p:txBody>
      </p:sp>
      <p:sp>
        <p:nvSpPr>
          <p:cNvPr id="3" name="근거 문헌 1. 동기와 구직 프로그램">
            <a:extLst xmlns:a="http://schemas.openxmlformats.org/drawingml/2006/main">
              <a:ext uri="{FF2B5EF4-FFF2-40B4-BE49-F238E27FC236}">
                <a16:creationId xmlns:a16="http://schemas.microsoft.com/office/drawing/2014/main" id="{0C933DAF-A022-4D74-8CB9-CE35BF70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근거 문헌 1. 동기와 구직 프로그램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CABF5-374C-4D08-9C4C-8CA2B5A1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개인 PC 활동과 강의 해설">
            <a:extLst xmlns:a="http://schemas.openxmlformats.org/drawingml/2006/main">
              <a:ext uri="{FF2B5EF4-FFF2-40B4-BE49-F238E27FC236}">
                <a16:creationId xmlns:a16="http://schemas.microsoft.com/office/drawing/2014/main" id="{68BEACD4-D71F-460F-9F78-4B33F249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개인 PC 활동과 강의 해설</a:t>
            </a:r>
          </a:p>
        </p:txBody>
      </p:sp>
      <p:sp>
        <p:nvSpPr>
          <p:cNvPr id="6" name="55">
            <a:extLst xmlns:a="http://schemas.openxmlformats.org/drawingml/2006/main">
              <a:ext uri="{FF2B5EF4-FFF2-40B4-BE49-F238E27FC236}">
                <a16:creationId xmlns:a16="http://schemas.microsoft.com/office/drawing/2014/main" id="{4E630C11-5C4E-4DD2-AC70-95AC28E4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55</a:t>
            </a:r>
          </a:p>
        </p:txBody>
      </p:sp>
      <p:sp>
        <p:nvSpPr>
          <p:cNvPr id="7" name="Ryan &amp; Deci, 2020">
            <a:extLst xmlns:a="http://schemas.openxmlformats.org/drawingml/2006/main">
              <a:ext uri="{FF2B5EF4-FFF2-40B4-BE49-F238E27FC236}">
                <a16:creationId xmlns:a16="http://schemas.microsoft.com/office/drawing/2014/main" id="{46756D08-87DD-4085-B0B3-B9245E7E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4333875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Ryan &amp; Deci, 2020</a:t>
            </a:r>
          </a:p>
        </p:txBody>
      </p:sp>
      <p:sp>
        <p:nvSpPr>
          <p:cNvPr id="8" name="자율성·유능감·관계성 및 자율적 외재동기&#10;Contemporary Educational Ps">
            <a:extLst xmlns:a="http://schemas.openxmlformats.org/drawingml/2006/main">
              <a:ext uri="{FF2B5EF4-FFF2-40B4-BE49-F238E27FC236}">
                <a16:creationId xmlns:a16="http://schemas.microsoft.com/office/drawing/2014/main" id="{F10F79D4-309D-4EBC-BC28-9CAC7BA5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62250"/>
            <a:ext cx="11572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자율성·유능감·관계성 및 자율적 외재동기</a:t>
            </a:r>
          </a:p>
          <a:p xmlns:a="http://schemas.openxmlformats.org/drawingml/2006/main">
            <a:pPr algn="l">
              <a:defRPr sz="24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Contemporary Educational Psychology, 61, 101860</a:t>
            </a:r>
          </a:p>
          <a:p xmlns:a="http://schemas.openxmlformats.org/drawingml/2006/main">
            <a:pPr algn="l">
              <a:defRPr sz="24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doi.org/10.1016/j.cedpsych.2020.101860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A8E48-B8D7-4050-923E-E73E56DF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16287750" cy="9525"/>
          </a:xfrm>
          <a:custGeom xmlns:a="http://schemas.openxmlformats.org/drawingml/2006/main">
            <a:pathLst>
              <a:path w="16287750" h="9525">
                <a:moveTo>
                  <a:pt x="0" y="0"/>
                </a:moveTo>
                <a:lnTo>
                  <a:pt x="1628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6DB"/>
            </a:solidFill>
          </a:ln>
        </p:spPr>
      </p:sp>
      <p:sp>
        <p:nvSpPr>
          <p:cNvPr id="10" name="Liu et al., 2014">
            <a:extLst xmlns:a="http://schemas.openxmlformats.org/drawingml/2006/main">
              <a:ext uri="{FF2B5EF4-FFF2-40B4-BE49-F238E27FC236}">
                <a16:creationId xmlns:a16="http://schemas.microsoft.com/office/drawing/2014/main" id="{4802B38E-6650-4C25-BE9A-8E6F6036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4333875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Liu et al., 2014</a:t>
            </a:r>
          </a:p>
        </p:txBody>
      </p:sp>
      <p:sp>
        <p:nvSpPr>
          <p:cNvPr id="11" name="47개 구직 개입 연구의 메타분석&#10;Psychological Bulletin, 140(4),">
            <a:extLst xmlns:a="http://schemas.openxmlformats.org/drawingml/2006/main">
              <a:ext uri="{FF2B5EF4-FFF2-40B4-BE49-F238E27FC236}">
                <a16:creationId xmlns:a16="http://schemas.microsoft.com/office/drawing/2014/main" id="{550D5EBB-B4B1-4141-8B3D-2D98FB44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810125"/>
            <a:ext cx="11572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47개 구직 개입 연구의 메타분석</a:t>
            </a:r>
          </a:p>
          <a:p xmlns:a="http://schemas.openxmlformats.org/drawingml/2006/main">
            <a:pPr algn="l">
              <a:defRPr sz="24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Psychological Bulletin, 140(4), 1009–1041</a:t>
            </a:r>
          </a:p>
          <a:p xmlns:a="http://schemas.openxmlformats.org/drawingml/2006/main">
            <a:pPr algn="l">
              <a:defRPr sz="24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doi.org/10.1037/a0035923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CA6E94-D82A-495F-AB5E-815B173D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619875"/>
            <a:ext cx="16287750" cy="9525"/>
          </a:xfrm>
          <a:custGeom xmlns:a="http://schemas.openxmlformats.org/drawingml/2006/main">
            <a:pathLst>
              <a:path w="16287750" h="9525">
                <a:moveTo>
                  <a:pt x="0" y="0"/>
                </a:moveTo>
                <a:lnTo>
                  <a:pt x="1628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6DB"/>
            </a:solidFill>
          </a:ln>
        </p:spPr>
      </p:sp>
      <p:sp>
        <p:nvSpPr>
          <p:cNvPr id="13" name="Lent &amp; Brown, 2019">
            <a:extLst xmlns:a="http://schemas.openxmlformats.org/drawingml/2006/main">
              <a:ext uri="{FF2B5EF4-FFF2-40B4-BE49-F238E27FC236}">
                <a16:creationId xmlns:a16="http://schemas.microsoft.com/office/drawing/2014/main" id="{FE3A9178-F4B3-4F3F-BD52-D626DCF9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4333875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Lent &amp; Brown, 2019</a:t>
            </a:r>
          </a:p>
        </p:txBody>
      </p:sp>
      <p:sp>
        <p:nvSpPr>
          <p:cNvPr id="14" name="사회인지진로이론의 관심·선택·수행 모형 검토&#10;Journal of Vocational Beh">
            <a:extLst xmlns:a="http://schemas.openxmlformats.org/drawingml/2006/main">
              <a:ext uri="{FF2B5EF4-FFF2-40B4-BE49-F238E27FC236}">
                <a16:creationId xmlns:a16="http://schemas.microsoft.com/office/drawing/2014/main" id="{0C5962F5-D387-4E16-8410-307FE2EE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858000"/>
            <a:ext cx="11572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사회인지진로이론의 관심·선택·수행 모형 검토</a:t>
            </a:r>
          </a:p>
          <a:p xmlns:a="http://schemas.openxmlformats.org/drawingml/2006/main">
            <a:pPr algn="l">
              <a:defRPr sz="24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Journal of Vocational Behavior, 115, 103316</a:t>
            </a:r>
          </a:p>
          <a:p xmlns:a="http://schemas.openxmlformats.org/drawingml/2006/main">
            <a:pPr algn="l">
              <a:defRPr sz="24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doi.org/10.1016/j.jvb.2019.06.004</a:t>
            </a:r>
          </a:p>
        </p:txBody>
      </p:sp>
      <p:sp xmlns:a="http://schemas.openxmlformats.org/drawingml/2006/main">
        <p:nvSpPr>
          <p:cNvPr id="16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7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991926741"/>
      </p:ext>
    </p:extLst>
  </p:cSld>
</p:sld>
</file>

<file path=ppt/slides/slide56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강사용 참고 · 문헌">
            <a:extLst xmlns:a="http://schemas.openxmlformats.org/drawingml/2006/main">
              <a:ext uri="{FF2B5EF4-FFF2-40B4-BE49-F238E27FC236}">
                <a16:creationId xmlns:a16="http://schemas.microsoft.com/office/drawing/2014/main" id="{EF5FD5F4-C2DD-4119-817E-2D4A57D6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강사용 참고 · 문헌</a:t>
            </a:r>
          </a:p>
        </p:txBody>
      </p:sp>
      <p:sp>
        <p:nvSpPr>
          <p:cNvPr id="2" name="강사용 참고">
            <a:extLst xmlns:a="http://schemas.openxmlformats.org/drawingml/2006/main">
              <a:ext uri="{FF2B5EF4-FFF2-40B4-BE49-F238E27FC236}">
                <a16:creationId xmlns:a16="http://schemas.microsoft.com/office/drawing/2014/main" id="{ED07AB00-C3B2-4264-999F-3C041568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강사용 참고</a:t>
            </a:r>
          </a:p>
        </p:txBody>
      </p:sp>
      <p:sp>
        <p:nvSpPr>
          <p:cNvPr id="3" name="근거 문헌 2. 방향과 실행">
            <a:extLst xmlns:a="http://schemas.openxmlformats.org/drawingml/2006/main">
              <a:ext uri="{FF2B5EF4-FFF2-40B4-BE49-F238E27FC236}">
                <a16:creationId xmlns:a16="http://schemas.microsoft.com/office/drawing/2014/main" id="{D4158557-D058-4050-8EDA-3F607539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근거 문헌 2. 방향과 실행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2C7DC-00EA-4B81-A9C5-2B2DD118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개인 PC 활동과 강의 해설">
            <a:extLst xmlns:a="http://schemas.openxmlformats.org/drawingml/2006/main">
              <a:ext uri="{FF2B5EF4-FFF2-40B4-BE49-F238E27FC236}">
                <a16:creationId xmlns:a16="http://schemas.microsoft.com/office/drawing/2014/main" id="{AE7016F8-FE84-4D5C-85D8-E85A38A2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개인 PC 활동과 강의 해설</a:t>
            </a:r>
          </a:p>
        </p:txBody>
      </p:sp>
      <p:sp>
        <p:nvSpPr>
          <p:cNvPr id="6" name="56">
            <a:extLst xmlns:a="http://schemas.openxmlformats.org/drawingml/2006/main">
              <a:ext uri="{FF2B5EF4-FFF2-40B4-BE49-F238E27FC236}">
                <a16:creationId xmlns:a16="http://schemas.microsoft.com/office/drawing/2014/main" id="{15433C9B-3857-4D1E-B87D-02BA17F8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56</a:t>
            </a:r>
          </a:p>
        </p:txBody>
      </p:sp>
      <p:sp>
        <p:nvSpPr>
          <p:cNvPr id="7" name="Gati et al., 1996">
            <a:extLst xmlns:a="http://schemas.openxmlformats.org/drawingml/2006/main">
              <a:ext uri="{FF2B5EF4-FFF2-40B4-BE49-F238E27FC236}">
                <a16:creationId xmlns:a16="http://schemas.microsoft.com/office/drawing/2014/main" id="{BD243CBB-9726-4E8A-91EF-A86348F5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4619625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Gati et al., 1996</a:t>
            </a:r>
          </a:p>
        </p:txBody>
      </p:sp>
      <p:sp>
        <p:nvSpPr>
          <p:cNvPr id="8" name="진로의사결정의 어려움 분류&#10;Journal of Counseling Psychology, 4">
            <a:extLst xmlns:a="http://schemas.openxmlformats.org/drawingml/2006/main">
              <a:ext uri="{FF2B5EF4-FFF2-40B4-BE49-F238E27FC236}">
                <a16:creationId xmlns:a16="http://schemas.microsoft.com/office/drawing/2014/main" id="{F46E1332-74FE-4B7E-9AD7-E12D03C5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62250"/>
            <a:ext cx="11287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진로의사결정의 어려움 분류</a:t>
            </a:r>
          </a:p>
          <a:p xmlns:a="http://schemas.openxmlformats.org/drawingml/2006/main">
            <a:pPr algn="l">
              <a:defRPr sz="23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Journal of Counseling Psychology, 43(4), 510–526</a:t>
            </a:r>
          </a:p>
          <a:p xmlns:a="http://schemas.openxmlformats.org/drawingml/2006/main">
            <a:pPr algn="l">
              <a:defRPr sz="23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doi.org/10.1037/0022-0167.43.4.510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A4654-E83B-4133-8E39-6192D226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16287750" cy="9525"/>
          </a:xfrm>
          <a:custGeom xmlns:a="http://schemas.openxmlformats.org/drawingml/2006/main">
            <a:pathLst>
              <a:path w="16287750" h="9525">
                <a:moveTo>
                  <a:pt x="0" y="0"/>
                </a:moveTo>
                <a:lnTo>
                  <a:pt x="1628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6DB"/>
            </a:solidFill>
          </a:ln>
        </p:spPr>
      </p:sp>
      <p:sp>
        <p:nvSpPr>
          <p:cNvPr id="10" name="Savickas et al., 2009">
            <a:extLst xmlns:a="http://schemas.openxmlformats.org/drawingml/2006/main">
              <a:ext uri="{FF2B5EF4-FFF2-40B4-BE49-F238E27FC236}">
                <a16:creationId xmlns:a16="http://schemas.microsoft.com/office/drawing/2014/main" id="{59A37CB3-E9B2-42CD-BDD7-8E594392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4619625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Savickas et al., 2009</a:t>
            </a:r>
          </a:p>
        </p:txBody>
      </p:sp>
      <p:sp>
        <p:nvSpPr>
          <p:cNvPr id="11" name="일과 삶의 맥락을 함께 다루는 생애설계&#10;Journal of Vocational Behavi">
            <a:extLst xmlns:a="http://schemas.openxmlformats.org/drawingml/2006/main">
              <a:ext uri="{FF2B5EF4-FFF2-40B4-BE49-F238E27FC236}">
                <a16:creationId xmlns:a16="http://schemas.microsoft.com/office/drawing/2014/main" id="{9961697F-0B7C-442C-BAB2-03B128D8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810125"/>
            <a:ext cx="11287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일과 삶의 맥락을 함께 다루는 생애설계</a:t>
            </a:r>
          </a:p>
          <a:p xmlns:a="http://schemas.openxmlformats.org/drawingml/2006/main">
            <a:pPr algn="l">
              <a:defRPr sz="23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Journal of Vocational Behavior, 75(3), 239–250</a:t>
            </a:r>
          </a:p>
          <a:p xmlns:a="http://schemas.openxmlformats.org/drawingml/2006/main">
            <a:pPr algn="l">
              <a:defRPr sz="23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doi.org/10.1016/j.jvb.2009.04.004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546B8-224C-4C65-BBD1-4D9A77BB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619875"/>
            <a:ext cx="16287750" cy="9525"/>
          </a:xfrm>
          <a:custGeom xmlns:a="http://schemas.openxmlformats.org/drawingml/2006/main">
            <a:pathLst>
              <a:path w="16287750" h="9525">
                <a:moveTo>
                  <a:pt x="0" y="0"/>
                </a:moveTo>
                <a:lnTo>
                  <a:pt x="1628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6DB"/>
            </a:solidFill>
          </a:ln>
        </p:spPr>
      </p:sp>
      <p:sp>
        <p:nvSpPr>
          <p:cNvPr id="13" name="Gollwitzer &amp; Sheeran, 2006">
            <a:extLst xmlns:a="http://schemas.openxmlformats.org/drawingml/2006/main">
              <a:ext uri="{FF2B5EF4-FFF2-40B4-BE49-F238E27FC236}">
                <a16:creationId xmlns:a16="http://schemas.microsoft.com/office/drawing/2014/main" id="{AE83182C-6268-4080-B2FF-CB2CA6CE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4619625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Gollwitzer &amp; Sheeran, 2006</a:t>
            </a:r>
          </a:p>
        </p:txBody>
      </p:sp>
      <p:sp>
        <p:nvSpPr>
          <p:cNvPr id="14" name="상황과 행동을 연결하는 실행의도 메타분석&#10;Advances in Experimental So">
            <a:extLst xmlns:a="http://schemas.openxmlformats.org/drawingml/2006/main">
              <a:ext uri="{FF2B5EF4-FFF2-40B4-BE49-F238E27FC236}">
                <a16:creationId xmlns:a16="http://schemas.microsoft.com/office/drawing/2014/main" id="{292CCDC1-CA57-434B-9C80-1F38A812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858000"/>
            <a:ext cx="11287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상황과 행동을 연결하는 실행의도 메타분석</a:t>
            </a:r>
          </a:p>
          <a:p xmlns:a="http://schemas.openxmlformats.org/drawingml/2006/main">
            <a:pPr algn="l">
              <a:defRPr sz="23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Advances in Experimental Social Psychology, 38, 69–119</a:t>
            </a:r>
          </a:p>
          <a:p xmlns:a="http://schemas.openxmlformats.org/drawingml/2006/main">
            <a:pPr algn="l">
              <a:defRPr sz="23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doi.org/10.1016/S0065-2601(06)38002-1</a:t>
            </a:r>
          </a:p>
        </p:txBody>
      </p:sp>
      <p:sp xmlns:a="http://schemas.openxmlformats.org/drawingml/2006/main">
        <p:nvSpPr>
          <p:cNvPr id="16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7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31367193"/>
      </p:ext>
    </p:extLst>
  </p:cSld>
</p:sld>
</file>

<file path=ppt/slides/slide57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강사용 참고 · 시스템 준비">
            <a:extLst xmlns:a="http://schemas.openxmlformats.org/drawingml/2006/main">
              <a:ext uri="{FF2B5EF4-FFF2-40B4-BE49-F238E27FC236}">
                <a16:creationId xmlns:a16="http://schemas.microsoft.com/office/drawing/2014/main" id="{385C4AA0-8666-4DB0-9262-B1644CD9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강사용 참고 · 시스템 준비</a:t>
            </a:r>
          </a:p>
        </p:txBody>
      </p:sp>
      <p:sp>
        <p:nvSpPr>
          <p:cNvPr id="2" name="강사용 참고">
            <a:extLst xmlns:a="http://schemas.openxmlformats.org/drawingml/2006/main">
              <a:ext uri="{FF2B5EF4-FFF2-40B4-BE49-F238E27FC236}">
                <a16:creationId xmlns:a16="http://schemas.microsoft.com/office/drawing/2014/main" id="{1B237AFF-4E45-4711-907D-81E31C9A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강사용 참고</a:t>
            </a:r>
          </a:p>
        </p:txBody>
      </p:sp>
      <p:sp>
        <p:nvSpPr>
          <p:cNvPr id="3" name="PC와 AI 활동의 운영 조건">
            <a:extLst xmlns:a="http://schemas.openxmlformats.org/drawingml/2006/main">
              <a:ext uri="{FF2B5EF4-FFF2-40B4-BE49-F238E27FC236}">
                <a16:creationId xmlns:a16="http://schemas.microsoft.com/office/drawing/2014/main" id="{38B793FF-12D6-4623-AF67-C9A3B976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PC와 AI 활동의 운영 조건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DFE1E-363D-4160-A3C1-41C940D3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개인 PC 활동과 강의 해설">
            <a:extLst xmlns:a="http://schemas.openxmlformats.org/drawingml/2006/main">
              <a:ext uri="{FF2B5EF4-FFF2-40B4-BE49-F238E27FC236}">
                <a16:creationId xmlns:a16="http://schemas.microsoft.com/office/drawing/2014/main" id="{7587EE5C-3737-4449-96B3-C58E373E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개인 PC 활동과 강의 해설</a:t>
            </a:r>
          </a:p>
        </p:txBody>
      </p:sp>
      <p:sp>
        <p:nvSpPr>
          <p:cNvPr id="6" name="57">
            <a:extLst xmlns:a="http://schemas.openxmlformats.org/drawingml/2006/main">
              <a:ext uri="{FF2B5EF4-FFF2-40B4-BE49-F238E27FC236}">
                <a16:creationId xmlns:a16="http://schemas.microsoft.com/office/drawing/2014/main" id="{0E1AC396-2195-4C5B-B42C-40CD5E63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57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DCB82-32DA-4F31-BA28-A50B041CCFF2}"/>
              </a:ext>
            </a:extLst>
          </p:cNvPr>
          <p:cNvGraphicFramePr/>
          <p:nvPr/>
        </p:nvGraphicFramePr>
        <p:xfrm>
          <a:off xmlns:a="http://schemas.openxmlformats.org/drawingml/2006/main" x="952500" y="2762250"/>
          <a:ext xmlns:a="http://schemas.openxmlformats.org/drawingml/2006/main" cx="16383000" cy="561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2763500"/>
              </a:tblGrid>
              <a:tr h="936625">
                <a:tc>
                  <a:txBody>
                    <a:bodyPr wrap="square"/>
                    <a:lstStyle/>
                    <a:p>
                      <a:r>
                        <a:rPr sz="247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준비할 내용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936625"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화면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선택·슬라이더, 본인 결과 확인·수정·저장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936625"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강사 화면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동의한 전체 집계만 표시, 이름과 개인 조합 제외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936625"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역할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사실 정리, 공고 원문 근거 표시, 질문 후보 제공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936625"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금지할 추론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경험 생성, 성격·적성 진단, 합격 가능성 점수화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936625"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수업 전 점검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475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접속과 저장 테스트, 문의처 확인, 소수 응답 비공개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9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0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984130560"/>
      </p:ext>
    </p:extLst>
  </p:cSld>
</p:sld>
</file>

<file path=ppt/slides/slide58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강사용 참고 · 피드백 언어">
            <a:extLst xmlns:a="http://schemas.openxmlformats.org/drawingml/2006/main">
              <a:ext uri="{FF2B5EF4-FFF2-40B4-BE49-F238E27FC236}">
                <a16:creationId xmlns:a16="http://schemas.microsoft.com/office/drawing/2014/main" id="{02802F26-63CB-497B-A6A9-A1A850F7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E3A8A"/>
                </a:solidFill>
                <a:latin typeface="Malgun Gothic"/>
                <a:ea typeface="Malgun Gothic"/>
                <a:cs typeface="Malgun Gothic"/>
              </a:rPr>
              <a:t>강사용 참고 · 피드백 언어</a:t>
            </a:r>
          </a:p>
        </p:txBody>
      </p:sp>
      <p:sp>
        <p:nvSpPr>
          <p:cNvPr id="2" name="강사용 참고">
            <a:extLst xmlns:a="http://schemas.openxmlformats.org/drawingml/2006/main">
              <a:ext uri="{FF2B5EF4-FFF2-40B4-BE49-F238E27FC236}">
                <a16:creationId xmlns:a16="http://schemas.microsoft.com/office/drawing/2014/main" id="{F51A664B-E614-4C36-AD5E-561F0CBE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강사용 참고</a:t>
            </a:r>
          </a:p>
        </p:txBody>
      </p:sp>
      <p:sp>
        <p:nvSpPr>
          <p:cNvPr id="3" name="참여자의 반응에 따른 강사 해설">
            <a:extLst xmlns:a="http://schemas.openxmlformats.org/drawingml/2006/main">
              <a:ext uri="{FF2B5EF4-FFF2-40B4-BE49-F238E27FC236}">
                <a16:creationId xmlns:a16="http://schemas.microsoft.com/office/drawing/2014/main" id="{EC4100B0-21AE-417F-8843-B09BB176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636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D45"/>
                </a:solidFill>
                <a:latin typeface="Malgun Gothic"/>
                <a:ea typeface="Malgun Gothic"/>
                <a:cs typeface="Malgun Gothic"/>
              </a:rPr>
              <a:t>참여자의 반응에 따른 강사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5D6CE-D7FE-4863-9E46-FC145875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48800"/>
            <a:ext cx="12400000" cy="9525"/>
          </a:xfrm>
          <a:custGeom xmlns:a="http://schemas.openxmlformats.org/drawingml/2006/main">
            <a:pathLst>
              <a:path w="16383000" h="9525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6DB"/>
            </a:solidFill>
          </a:ln>
        </p:spPr>
      </p:sp>
      <p:sp>
        <p:nvSpPr>
          <p:cNvPr id="5" name="이론적 참고: Ryan &amp; Deci (2020), 자기결정성이론 / Lent &amp; Brown">
            <a:extLst xmlns:a="http://schemas.openxmlformats.org/drawingml/2006/main">
              <a:ext uri="{FF2B5EF4-FFF2-40B4-BE49-F238E27FC236}">
                <a16:creationId xmlns:a16="http://schemas.microsoft.com/office/drawing/2014/main" id="{75200327-CECB-4F71-886B-1549965A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91675"/>
            <a:ext cx="1240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이론적 참고: Ryan &amp; Deci (2020), 자기결정성이론 / Lent &amp; Brown (2019), 사회인지진로이론</a:t>
            </a:r>
          </a:p>
        </p:txBody>
      </p:sp>
      <p:sp>
        <p:nvSpPr>
          <p:cNvPr id="6" name="58">
            <a:extLst xmlns:a="http://schemas.openxmlformats.org/drawingml/2006/main">
              <a:ext uri="{FF2B5EF4-FFF2-40B4-BE49-F238E27FC236}">
                <a16:creationId xmlns:a16="http://schemas.microsoft.com/office/drawing/2014/main" id="{15C5EB07-2C89-4FF5-BDB4-0BCDC306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63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373"/>
                </a:solidFill>
                <a:latin typeface="Malgun Gothic"/>
                <a:ea typeface="Malgun Gothic"/>
                <a:cs typeface="Malgun Gothic"/>
              </a:rPr>
              <a:t>58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6B023-598A-4DA1-845B-9B1972FBE7B5}"/>
              </a:ext>
            </a:extLst>
          </p:cNvPr>
          <p:cNvGraphicFramePr/>
          <p:nvPr/>
        </p:nvGraphicFramePr>
        <p:xfrm>
          <a:off xmlns:a="http://schemas.openxmlformats.org/drawingml/2006/main" x="952500" y="2762250"/>
          <a:ext xmlns:a="http://schemas.openxmlformats.org/drawingml/2006/main" cx="16383000" cy="552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10953750"/>
              </a:tblGrid>
              <a:tr h="920750">
                <a:tc>
                  <a:txBody>
                    <a:bodyPr wrap="square"/>
                    <a:lstStyle/>
                    <a:p>
                      <a:r>
                        <a:rPr sz="255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참여자의 말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50" b="1">
                          <a:solidFill>
                            <a:srgbClr val="1E3A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강사가 이어갈 말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T w="9525">
                      <a:solidFill>
                        <a:srgbClr val="CCD6DB"/>
                      </a:solidFill>
                      <a:prstDash val="solid"/>
                    </a:lnT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920750">
                <a:tc>
                  <a:txBody>
                    <a:bodyPr wrap="square"/>
                    <a:lstStyle/>
                    <a:p>
                      <a:r>
                        <a:rPr sz="25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“아직 방향을 모르겠어요.”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지금 덜 맞는 조건 하나부터 골라도 됩니다.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920750">
                <a:tc>
                  <a:txBody>
                    <a:bodyPr wrap="square"/>
                    <a:lstStyle/>
                    <a:p>
                      <a:r>
                        <a:rPr sz="25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“해본 게 없어요.”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훈련에서 직접 한 과제는 무엇이 있나요?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920750">
                <a:tc>
                  <a:txBody>
                    <a:bodyPr wrap="square"/>
                    <a:lstStyle/>
                    <a:p>
                      <a:r>
                        <a:rPr sz="25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“연습을 틀렸어요.”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열씩 보며 기준을 다시 적용해 볼까요?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920750">
                <a:tc>
                  <a:txBody>
                    <a:bodyPr wrap="square"/>
                    <a:lstStyle/>
                    <a:p>
                      <a:r>
                        <a:rPr sz="25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“실행할 시간이 없어요.”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줄일 수 있는 행동과 필요한 지원을 나눠 봅시다.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  <a:tr h="920750">
                <a:tc>
                  <a:txBody>
                    <a:bodyPr wrap="square"/>
                    <a:lstStyle/>
                    <a:p>
                      <a:r>
                        <a:rPr sz="25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“AI 문장이 저와 달라요.”</a:t>
                      </a:r>
                    </a:p>
                  </a:txBody>
                  <a:tcPr marL="209550" marR="190500" marT="171450" marB="142875" anchor="ctr">
                    <a:lnL w="9525">
                      <a:solidFill>
                        <a:srgbClr val="CCD6DB"/>
                      </a:solidFill>
                      <a:prstDash val="solid"/>
                    </a:lnL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50" b="0">
                          <a:solidFill>
                            <a:srgbClr val="172D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어떤 사실이 다른지 확인하고 본인 표현으로 수정합시다.</a:t>
                      </a:r>
                    </a:p>
                  </a:txBody>
                  <a:tcPr marL="209550" marR="190500" marT="171450" marB="142875" anchor="ctr">
                    <a:lnR w="9525">
                      <a:solidFill>
                        <a:srgbClr val="CCD6DB"/>
                      </a:solidFill>
                      <a:prstDash val="solid"/>
                    </a:lnR>
                    <a:lnB w="9525">
                      <a:solidFill>
                        <a:srgbClr val="CCD6D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9" name="Navy Accent Line"/>
          <p:cNvSpPr/>
          <p:nvPr/>
        </p:nvSpPr>
        <p:spPr>
          <a:xfrm>
            <a:off x="520000" y="438150"/>
            <a:ext cx="64000" cy="94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 xmlns:a="http://schemas.openxmlformats.org/drawingml/2006/main">
        <p:nvSpPr>
          <p:cNvPr id="10" name="Credit"/>
          <p:cNvSpPr txBox="1"/>
          <p:nvPr/>
        </p:nvSpPr>
        <p:spPr>
          <a:xfrm>
            <a:off x="13500000" y="9591675"/>
            <a:ext cx="2900000" cy="47625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pPr algn="r"/>
            <a:r>
              <a:rPr lang="en-US" sz="1400" b="1">
                <a:solidFill>
                  <a:srgbClr val="1E3A8A"/>
                </a:solidFill>
                <a:latin typeface="Malgun Gothic"/>
                <a:ea typeface="Malgun Gothic"/>
              </a:rPr>
              <a:t>An Eun Kyoung</a:t>
            </a:r>
          </a:p>
        </p:txBody>
      </p:sp>
    </p:spTree>
    <p:extLst>
      <p:ext uri="{BB962C8B-B14F-4D97-AF65-F5344CB8AC3E}">
        <p14:creationId xmlns:p14="http://schemas.microsoft.com/office/powerpoint/2010/main" val="861703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Malgun Gothic"/>
        <a:cs typeface=""/>
      </a:majorFont>
      <a:minorFont>
        <a:latin typeface="Malgun Gothic"/>
        <a:ea typeface="Malgun Gothic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2026-10-15T07:11:04.4590000Z</dcterms:created>
  <dcterms:modified xsi:type="dcterms:W3CDTF">2026-10-15T07:11:04.4600000Z</dcterms:modified>
</coreProperties>
</file>