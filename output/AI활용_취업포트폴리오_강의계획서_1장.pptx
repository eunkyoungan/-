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ript.google.com/macros/s/AKfycbwfNRBAoDQ-eDHeUTti7drgyL58p6fgm8-tv5hlf1tZfCfrHDhWztLyWEW6ZEYwoTftXA/exec" TargetMode="External"/><Relationship Id="rId3" Type="http://schemas.openxmlformats.org/officeDocument/2006/relationships/hyperlink" Target="https://kaleidoscopic-stardust-5d149f.netlify.app/" TargetMode="External"/><Relationship Id="rId4" Type="http://schemas.openxmlformats.org/officeDocument/2006/relationships/hyperlink" Target="https://eunkyoungan.github.io/-/portfolio-builder/" TargetMode="External"/><Relationship Id="rId5" Type="http://schemas.openxmlformats.org/officeDocument/2006/relationships/hyperlink" Target="https://docs.github.com/en/repositories/managing-your-repositorys-settings-and-features/customizing-your-repository/about-readmes" TargetMode="External"/><Relationship Id="rId6" Type="http://schemas.openxmlformats.org/officeDocument/2006/relationships/hyperlink" Target="https://huggingface.co/docs/hub/model-cards" TargetMode="External"/><Relationship Id="rId7" Type="http://schemas.openxmlformats.org/officeDocument/2006/relationships/hyperlink" Target="https://amazon.jobs/content/en/how-we-hire/applied-scientist-interview-pre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41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70000"/>
            <a:ext cx="12192000" cy="38100"/>
          </a:xfrm>
          <a:prstGeom prst="rect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228600"/>
            <a:ext cx="825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EEAD4"/>
                </a:solidFill>
                <a:latin typeface="Pretendard"/>
              </a:rPr>
              <a:t>강의계획서  ·  총 16시간 (2회기 × 8시간)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19100"/>
            <a:ext cx="8255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Pretendard"/>
              </a:rPr>
              <a:t>AI 활용 취업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939800"/>
            <a:ext cx="825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CCE8"/>
                </a:solidFill>
                <a:latin typeface="Pretendard"/>
              </a:rPr>
              <a:t>AI·Data·CV 직무 지원자를 위한 기술이력서·포트폴리오·면접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571500"/>
            <a:ext cx="3429000" cy="44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강사 안은경</a:t>
            </a:r>
          </a:p>
          <a:p>
            <a:pPr algn="r">
              <a:lnSpc>
                <a:spcPct val="115000"/>
              </a:lnSpc>
            </a:pPr>
            <a:r>
              <a:rPr sz="1200" b="0">
                <a:solidFill>
                  <a:srgbClr val="C7CCE8"/>
                </a:solidFill>
                <a:latin typeface="Pretendard"/>
              </a:rPr>
              <a:t>커리어캐쳐(CareerCatcher)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498600"/>
            <a:ext cx="88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F7A"/>
                </a:solidFill>
                <a:latin typeface="Pretendard"/>
              </a:rPr>
              <a:t>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500" y="1498600"/>
            <a:ext cx="1079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A3C"/>
                </a:solidFill>
                <a:latin typeface="Pretendard"/>
              </a:rPr>
              <a:t>AI·Data·CV 프로젝트 경험이 있는 취업 준비생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39900"/>
            <a:ext cx="88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9F7A"/>
                </a:solidFill>
                <a:latin typeface="Pretendard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1739900"/>
            <a:ext cx="1079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A3C"/>
                </a:solidFill>
                <a:latin typeface="Pretendard"/>
              </a:rPr>
              <a:t>AI로 돕고 본인이 근거를 검증해, 프로젝트 1개의 채용 문서와 면접 답변을 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095500"/>
            <a:ext cx="5461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9F7A"/>
                </a:solidFill>
                <a:latin typeface="Pretendard"/>
              </a:rPr>
              <a:t>1회기  이력서 · 자기소개서</a:t>
            </a:r>
            <a:r>
              <a:rPr sz="1100" b="0">
                <a:solidFill>
                  <a:srgbClr val="8A90A8"/>
                </a:solidFill>
                <a:latin typeface="Pretendard"/>
              </a:rPr>
              <a:t>   8시간 · 2시간 × 4모듈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3876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000" y="24765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24765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3876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채용공고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23876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직무 분석표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9210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000" y="30099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99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29210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경험 탐색·구조화</a:t>
            </a:r>
            <a:r>
              <a:rPr sz="1200" b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>
                <a:solidFill>
                  <a:srgbClr val="0E9F7A"/>
                </a:solidFill>
                <a:latin typeface="Pretendard"/>
                <a:hlinkClick r:id="rId2"/>
              </a:rPr>
              <a:t>도구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29210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경험카드 · 근거 목록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34544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000" y="35433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35433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" y="34544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기술이력서 문장화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9500" y="34544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이력서 초안 · 핵심 문장 3개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39878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000" y="4076700"/>
            <a:ext cx="279400" cy="279400"/>
          </a:xfrm>
          <a:prstGeom prst="ellipse">
            <a:avLst/>
          </a:prstGeom>
          <a:solidFill>
            <a:srgbClr val="0E9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40767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39878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자기소개서 작성</a:t>
            </a:r>
            <a:r>
              <a:rPr sz="1200" b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>
                <a:solidFill>
                  <a:srgbClr val="0E9F7A"/>
                </a:solidFill>
                <a:latin typeface="Pretendard"/>
                <a:hlinkClick r:id="rId3"/>
              </a:rPr>
              <a:t>도구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0" y="39878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9F7A"/>
                </a:solidFill>
                <a:latin typeface="Pretendard"/>
              </a:rPr>
              <a:t>자소서 1문항 · 이력서 수정본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2095500"/>
            <a:ext cx="5461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C4CF5"/>
                </a:solidFill>
                <a:latin typeface="Pretendard"/>
              </a:rPr>
              <a:t>2회기  포트폴리오 · 면접</a:t>
            </a:r>
            <a:r>
              <a:rPr sz="1100" b="0">
                <a:solidFill>
                  <a:srgbClr val="8A90A8"/>
                </a:solidFill>
                <a:latin typeface="Pretendard"/>
              </a:rPr>
              <a:t>   8시간 · 2시간 × 4모듈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3000" y="23876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50000" y="24765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00" y="24765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6400" y="23876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프로젝트 설명 설계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4500" y="23876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설명 원고 · 한계 점검표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3000" y="29210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0000" y="30099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0000" y="30099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6400" y="29210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포트폴리오 소개</a:t>
            </a:r>
            <a:r>
              <a:rPr sz="1200" b="0">
                <a:solidFill>
                  <a:srgbClr val="4A5070"/>
                </a:solidFill>
                <a:latin typeface="Pretendard"/>
              </a:rPr>
              <a:t>   </a:t>
            </a:r>
            <a:r>
              <a:rPr sz="1100" b="1" u="sng">
                <a:solidFill>
                  <a:srgbClr val="6C4CF5"/>
                </a:solidFill>
                <a:latin typeface="Pretendard"/>
                <a:hlinkClick r:id="rId4"/>
              </a:rPr>
              <a:t>도구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4500" y="29210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소개 1쪽 수정본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23000" y="34544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000" y="35433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000" y="35433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6400" y="34544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GitHub README 작성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4500" y="34544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README · 일관성 체크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3000" y="3987800"/>
            <a:ext cx="546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50000" y="4076700"/>
            <a:ext cx="279400" cy="279400"/>
          </a:xfrm>
          <a:prstGeom prst="ellipse">
            <a:avLst/>
          </a:prstGeom>
          <a:solidFill>
            <a:srgbClr val="6C4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0000" y="4076700"/>
            <a:ext cx="279400" cy="279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0" y="3987800"/>
            <a:ext cx="2540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A3C"/>
                </a:solidFill>
                <a:latin typeface="Pretendard"/>
              </a:rPr>
              <a:t>짝 모의면접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34500" y="39878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C4CF5"/>
                </a:solidFill>
                <a:latin typeface="Pretendard"/>
              </a:rPr>
              <a:t>2분 소개 · 예상 질문 5개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92760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평가 기준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156200"/>
            <a:ext cx="3200400" cy="1257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직무 연결성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본인 기여의 명확성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결과 근거 · 한계 설명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문서·발표의 일관성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1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95800" y="492760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지도 원칙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5800" y="5156200"/>
            <a:ext cx="3200400" cy="1257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개인정보·기밀 제외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경험·성과 창작 금지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AI 출력은 본인이 근거 확인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코드·모델 검증은 기술 멘토 범위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28000" y="4775200"/>
            <a:ext cx="3556000" cy="17653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05800" y="492760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9F7A"/>
                </a:solidFill>
                <a:latin typeface="Pretendard"/>
              </a:rPr>
              <a:t>실습 도구 · 참고 자료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5800" y="5156200"/>
            <a:ext cx="3200400" cy="1257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2"/>
              </a:rPr>
              <a:t>도구 1  기업·경험 찾기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3"/>
              </a:rPr>
              <a:t>도구 2  AI 자기소개서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4"/>
              </a:rPr>
              <a:t>도구 3  포트폴리오 빌더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5"/>
              </a:rPr>
              <a:t>GitHub README 가이드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6"/>
              </a:rPr>
              <a:t>Hugging Face Model Cards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5070"/>
                </a:solidFill>
                <a:latin typeface="Pretendard"/>
              </a:rPr>
              <a:t>•  </a:t>
            </a:r>
            <a:r>
              <a:rPr sz="1250" b="0" u="sng">
                <a:solidFill>
                  <a:srgbClr val="2F5BD8"/>
                </a:solidFill>
                <a:latin typeface="Pretendard"/>
                <a:hlinkClick r:id="rId7"/>
              </a:rPr>
              <a:t>Amazon 면접 준비 안내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8000" y="6642100"/>
            <a:ext cx="1117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8"/>
                </a:solidFill>
                <a:latin typeface="Pretendard"/>
              </a:rPr>
              <a:t>사전 준비: 노트북 · 채용공고 · 프로젝트 자료 · 이력서   |   휴게·점심 별도, 산출물 범위는 수준별 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