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41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6500"/>
            <a:ext cx="12192000" cy="38100"/>
          </a:xfrm>
          <a:prstGeom prst="rect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177800"/>
            <a:ext cx="8255000" cy="254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1300" b="1">
                <a:solidFill>
                  <a:srgbClr val="5EEAD4"/>
                </a:solidFill>
                <a:latin typeface="Pretendard"/>
              </a:rPr>
              <a:t>강의계획서 · 총 16시간 (2회기 × 8시간)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330200"/>
            <a:ext cx="8890000" cy="4445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Pretendard"/>
              </a:rPr>
              <a:t>AI 활용 취업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57250"/>
            <a:ext cx="9525000" cy="254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1400" b="0">
                <a:solidFill>
                  <a:srgbClr val="C7CCE8"/>
                </a:solidFill>
                <a:latin typeface="Pretendard"/>
              </a:rPr>
              <a:t>AI·Data·CV 직무 지원자를 위한 기술이력서와 포트폴리오 면접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500" y="444500"/>
            <a:ext cx="2667000" cy="508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Pretendard"/>
              </a:rPr>
              <a:t>강사 안은경</a:t>
            </a:r>
          </a:p>
          <a:p>
            <a:pPr algn="r"/>
            <a:r>
              <a:rPr sz="1200" b="0">
                <a:solidFill>
                  <a:srgbClr val="C7CCE8"/>
                </a:solidFill>
                <a:latin typeface="Pretendard"/>
              </a:rPr>
              <a:t>커리어캐쳐(CareerCatcher)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397000"/>
            <a:ext cx="11430000" cy="635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60500"/>
            <a:ext cx="355600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200" b="1">
                <a:solidFill>
                  <a:srgbClr val="10A37F"/>
                </a:solidFill>
                <a:latin typeface="Pretendard"/>
              </a:rPr>
              <a:t>대상  </a:t>
            </a:r>
            <a:r>
              <a:rPr sz="1200" b="0">
                <a:solidFill>
                  <a:srgbClr val="4A5070"/>
                </a:solidFill>
                <a:latin typeface="Pretendard"/>
              </a:rPr>
              <a:t>AI·Data·CV 프로젝트 경험이 있는 취업 준비생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0" y="1460500"/>
            <a:ext cx="762000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200" b="1">
                <a:solidFill>
                  <a:srgbClr val="10A37F"/>
                </a:solidFill>
                <a:latin typeface="Pretendard"/>
              </a:rPr>
              <a:t>목표  </a:t>
            </a:r>
            <a:r>
              <a:rPr sz="1200" b="0">
                <a:solidFill>
                  <a:srgbClr val="4A5070"/>
                </a:solidFill>
                <a:latin typeface="Pretendard"/>
              </a:rPr>
              <a:t>AI로 경험 분석·문서 작성·면접 연습을 돕고, 본인이 근거를 검증하여 프로젝트 1개의 채용 문서와 답변을 개선 (회기별 피드백 후 수정본 완성)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190750"/>
            <a:ext cx="56515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1400" b="1">
                <a:solidFill>
                  <a:srgbClr val="10A37F"/>
                </a:solidFill>
                <a:latin typeface="Pretendard"/>
              </a:rPr>
              <a:t>1회기 · 이력서·자기소개서 (8시간)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000" y="24574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1000" y="2457450"/>
            <a:ext cx="50800" cy="635000"/>
          </a:xfrm>
          <a:prstGeom prst="rect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25082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1회기 ①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25082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AI로 채용공고의 요구 역량 추출·분류. 공고 원문과 대조하고 목표 직무와 준비 범위 확정.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1500" y="25209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9600" y="25209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10A37F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직무 분석표 1개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000" y="31559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1000" y="3155950"/>
            <a:ext cx="50800" cy="635000"/>
          </a:xfrm>
          <a:prstGeom prst="rect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000" y="32067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1회기 ②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32067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[도구 1]로 경험 탐색·구조화. AI 질문에 답하고 프로젝트 자료로 역할·기여·성과 근거 확인.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1500" y="32194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9600" y="32194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10A37F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경험카드 1개 · 근거 자료 목록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8544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854450"/>
            <a:ext cx="50800" cy="635000"/>
          </a:xfrm>
          <a:prstGeom prst="rect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39052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1회기 ③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3500" y="39052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AI로 경험카드를 기술이력서 문장으로 변환. 기술·행동·기여 구분, 수치·표현 수정.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1500" y="39179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9600" y="39179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10A37F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기술이력서 초안 · 핵심 문장 3개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45529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1000" y="4552950"/>
            <a:ext cx="50800" cy="635000"/>
          </a:xfrm>
          <a:prstGeom prst="rect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46037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1회기 ④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3500" y="46037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[도구 2]로 기업·경험 기반 자기소개서 작성. 피드백 후 허위·과장 제거, 이력서와 일치 검토.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1500" y="46164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19600" y="46164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10A37F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자기소개서 1문항 · 이력서 수정본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9500" y="2190750"/>
            <a:ext cx="56515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1400" b="1">
                <a:solidFill>
                  <a:srgbClr val="6C4CF5"/>
                </a:solidFill>
                <a:latin typeface="Pretendard"/>
              </a:rPr>
              <a:t>2회기 · 포트폴리오·면접 (8시간)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9500" y="24574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9500" y="2457450"/>
            <a:ext cx="50800" cy="635000"/>
          </a:xfrm>
          <a:prstGeom prst="rect">
            <a:avLst/>
          </a:prstGeom>
          <a:solidFill>
            <a:srgbClr val="6C4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6500" y="25082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2회기 ①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2000" y="25082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AI로 프로젝트 설명 구조·보완 질문 생성. 데이터·접근법·평가 조건·한계를 실제 자료와 대조.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60000" y="25209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8100" y="25209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6C4CF5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프로젝트 설명 원고 · 근거·한계 점검표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9500" y="31559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9500" y="3155950"/>
            <a:ext cx="50800" cy="635000"/>
          </a:xfrm>
          <a:prstGeom prst="rect">
            <a:avLst/>
          </a:prstGeom>
          <a:solidFill>
            <a:srgbClr val="6C4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86500" y="32067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2회기 ②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0" y="32067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[도구 3]으로 소개 페이지 구성, AI로 가독성 개선. 본인 기여와 팀 성과를 구분해 반영.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60000" y="32194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98100" y="32194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6C4CF5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포트폴리오 소개 1쪽 수정본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59500" y="38544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59500" y="3854450"/>
            <a:ext cx="50800" cy="635000"/>
          </a:xfrm>
          <a:prstGeom prst="rect">
            <a:avLst/>
          </a:prstGeom>
          <a:solidFill>
            <a:srgbClr val="6C4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39052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2회기 ③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0" y="39052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별도 AI 실습으로 GitHub README 작성. 사용 방법·평가 조건·링크 확인, 포트폴리오와 대조.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60000" y="39179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98100" y="39179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6C4CF5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README 작성본 · 문서 일관성 체크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9500" y="4552950"/>
            <a:ext cx="56515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59500" y="4552950"/>
            <a:ext cx="50800" cy="635000"/>
          </a:xfrm>
          <a:prstGeom prst="rect">
            <a:avLst/>
          </a:prstGeom>
          <a:solidFill>
            <a:srgbClr val="6C4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6500" y="4603750"/>
            <a:ext cx="825500" cy="5715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300" b="1">
                <a:solidFill>
                  <a:srgbClr val="141A3C"/>
                </a:solidFill>
                <a:latin typeface="Pretendard"/>
              </a:rPr>
              <a:t>2회기 ④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2시간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2000" y="4603750"/>
            <a:ext cx="2984500" cy="584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1100" b="0">
                <a:solidFill>
                  <a:srgbClr val="4A5070"/>
                </a:solidFill>
                <a:latin typeface="Pretendard"/>
              </a:rPr>
              <a:t>AI로 예상 질문·답변 피드백 생성, 짝 모의면접. 사실·기술 선택 이유를 설명하고 수정.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60000" y="4616450"/>
            <a:ext cx="1555750" cy="508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98100" y="4616450"/>
            <a:ext cx="1492250" cy="5080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r>
              <a:rPr sz="900" b="1">
                <a:solidFill>
                  <a:srgbClr val="6C4CF5"/>
                </a:solidFill>
                <a:latin typeface="Pretendard"/>
              </a:rPr>
              <a:t>산출물</a:t>
            </a:r>
          </a:p>
          <a:p>
            <a:r>
              <a:rPr sz="1100" b="1">
                <a:solidFill>
                  <a:srgbClr val="141A3C"/>
                </a:solidFill>
                <a:latin typeface="Pretendard"/>
              </a:rPr>
              <a:t>2분 소개·질문 5개 · 답변 개선 목록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000" y="5270500"/>
            <a:ext cx="11430000" cy="130175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8000" y="5334000"/>
            <a:ext cx="7112000" cy="12065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1100" b="1">
                <a:solidFill>
                  <a:srgbClr val="10A37F"/>
                </a:solidFill>
                <a:latin typeface="Pretendard"/>
              </a:rPr>
              <a:t>사전 준비  </a:t>
            </a:r>
            <a:r>
              <a:rPr sz="1050" b="0">
                <a:solidFill>
                  <a:srgbClr val="4A5070"/>
                </a:solidFill>
                <a:latin typeface="Pretendard"/>
              </a:rPr>
              <a:t>노트북·채용공고·프로젝트 자료·이력서. AI API 이용 조건·비용·전송/저장 동의 확인, 연결 장애 시 워크시트·강사 시연으로 진행</a:t>
            </a:r>
          </a:p>
          <a:p>
            <a:r>
              <a:rPr sz="1100" b="1">
                <a:solidFill>
                  <a:srgbClr val="10A37F"/>
                </a:solidFill>
                <a:latin typeface="Pretendard"/>
              </a:rPr>
              <a:t>평가 기준  </a:t>
            </a:r>
            <a:r>
              <a:rPr sz="1050" b="0">
                <a:solidFill>
                  <a:srgbClr val="4A5070"/>
                </a:solidFill>
                <a:latin typeface="Pretendard"/>
              </a:rPr>
              <a:t>직무 연결성 / 본인 기여의 명확성 / 결과 근거 / 한계 설명 / 문서·발표의 일관성</a:t>
            </a:r>
          </a:p>
          <a:p>
            <a:r>
              <a:rPr sz="1100" b="1">
                <a:solidFill>
                  <a:srgbClr val="10A37F"/>
                </a:solidFill>
                <a:latin typeface="Pretendard"/>
              </a:rPr>
              <a:t>지도 원칙  </a:t>
            </a:r>
            <a:r>
              <a:rPr sz="1050" b="0">
                <a:solidFill>
                  <a:srgbClr val="4A5070"/>
                </a:solidFill>
                <a:latin typeface="Pretendard"/>
              </a:rPr>
              <a:t>개인정보·기밀 제외, 경험·성과 창작 금지, AI 출력은 본인이 근거 확인. 코드·모델 성능 검증은 기술 멘토 별도 범위</a:t>
            </a:r>
          </a:p>
          <a:p>
            <a:r>
              <a:rPr sz="1100" b="1">
                <a:solidFill>
                  <a:srgbClr val="10A37F"/>
                </a:solidFill>
                <a:latin typeface="Pretendard"/>
              </a:rPr>
              <a:t>도구·참고  </a:t>
            </a:r>
            <a:r>
              <a:rPr sz="1050" b="0">
                <a:solidFill>
                  <a:srgbClr val="4A5070"/>
                </a:solidFill>
                <a:latin typeface="Pretendard"/>
              </a:rPr>
              <a:t>[도구 1] 기업·경험 찾기 · [도구 2] AI 자기소개서 · [도구 3] 포트폴리오 빌더 | GitHub README · Hugging Face Model Cards · Amazon 면접 안내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47000" y="5346700"/>
            <a:ext cx="3937000" cy="9525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1100" b="1">
                <a:solidFill>
                  <a:srgbClr val="10A37F"/>
                </a:solidFill>
                <a:latin typeface="Pretendard"/>
              </a:rPr>
              <a:t>관련 경험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오즈 AI헬스케어 이력서·포트폴리오 상담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엘리스 AI·SW 커리어 컨설팅</a:t>
            </a:r>
          </a:p>
          <a:p>
            <a:r>
              <a:rPr sz="1100" b="0">
                <a:solidFill>
                  <a:srgbClr val="4A5070"/>
                </a:solidFill>
                <a:latin typeface="Pretendard"/>
              </a:rPr>
              <a:t>SSAFY 자기소개서·면접 지도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1000" y="6629400"/>
            <a:ext cx="11430000" cy="1651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r>
              <a:rPr sz="900" b="0">
                <a:solidFill>
                  <a:srgbClr val="8A90A8"/>
                </a:solidFill>
                <a:latin typeface="Pretendard"/>
              </a:rPr>
              <a:t>각 회기 2시간 × 4모듈 = 8시간 · 휴게·점심 별도 · 산출물 범위는 수준별 조정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