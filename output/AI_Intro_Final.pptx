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jpeg" ContentType="image/jpeg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3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반품률</c:v>
                </c:pt>
              </c:strCache>
            </c:strRef>
          </c:tx>
          <c:spPr>
            <a:solidFill>
              <a:srgbClr val="213edb"/>
            </a:solidFill>
            <a:ln w="0">
              <a:noFill/>
            </a:ln>
          </c:spPr>
          <c:invertIfNegative val="0"/>
          <c:dLbls>
            <c:numFmt formatCode="0.00\%" sourceLinked="0"/>
            <c:txPr>
              <a:bodyPr wrap="square"/>
              <a:lstStyle/>
              <a:p>
                <a:pPr>
                  <a:defRPr b="0" sz="1275" spc="-1" strike="noStrike">
                    <a:solidFill>
                      <a:srgbClr val="101456"/>
                    </a:solidFill>
                    <a:latin typeface="Malgun Gothic"/>
                    <a:ea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파우치</c:v>
                </c:pt>
                <c:pt idx="1">
                  <c:v>키링</c:v>
                </c:pt>
              </c:strCache>
            </c:strRef>
          </c:cat>
          <c:val>
            <c:numRef>
              <c:f>0</c:f>
              <c:numCache>
                <c:formatCode>0\%</c:formatCode>
                <c:ptCount val="2"/>
                <c:pt idx="0">
                  <c:v>15.56</c:v>
                </c:pt>
                <c:pt idx="1">
                  <c:v>5</c:v>
                </c:pt>
              </c:numCache>
            </c:numRef>
          </c:val>
        </c:ser>
        <c:gapWidth val="170"/>
        <c:overlap val="0"/>
        <c:axId val="26243630"/>
        <c:axId val="27987505"/>
      </c:barChart>
      <c:catAx>
        <c:axId val="2624363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350" spc="-1" strike="noStrike">
                <a:solidFill>
                  <a:srgbClr val="666666"/>
                </a:solidFill>
                <a:latin typeface="Malgun Gothic"/>
                <a:ea typeface="Malgun Gothic"/>
              </a:defRPr>
            </a:pPr>
          </a:p>
        </c:txPr>
        <c:crossAx val="27987505"/>
        <c:crosses val="autoZero"/>
        <c:auto val="1"/>
        <c:lblAlgn val="ctr"/>
        <c:lblOffset val="100"/>
        <c:noMultiLvlLbl val="0"/>
      </c:catAx>
      <c:valAx>
        <c:axId val="27987505"/>
        <c:scaling>
          <c:orientation val="minMax"/>
        </c:scaling>
        <c:delete val="0"/>
        <c:axPos val="l"/>
        <c:majorGridlines>
          <c:spPr>
            <a:ln w="9360">
              <a:solidFill>
                <a:srgbClr val="dadde5"/>
              </a:solidFill>
              <a:round/>
            </a:ln>
          </c:spPr>
        </c:majorGridlines>
        <c:numFmt formatCode="0\%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125" spc="-1" strike="noStrike">
                <a:solidFill>
                  <a:srgbClr val="666666"/>
                </a:solidFill>
                <a:latin typeface="Malgun Gothic"/>
                <a:ea typeface="Malgun Gothic"/>
              </a:defRPr>
            </a:pPr>
          </a:p>
        </c:txPr>
        <c:crossAx val="26243630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8월</c:v>
                </c:pt>
              </c:strCache>
            </c:strRef>
          </c:tx>
          <c:spPr>
            <a:solidFill>
              <a:srgbClr val="213edb"/>
            </a:solidFill>
            <a:ln w="0">
              <a:noFill/>
            </a:ln>
          </c:spPr>
          <c:invertIfNegative val="0"/>
          <c:dLbls>
            <c:numFmt formatCode="0.00\%" sourceLinked="0"/>
            <c:txPr>
              <a:bodyPr wrap="square"/>
              <a:lstStyle/>
              <a:p>
                <a:pPr>
                  <a:defRPr b="0" sz="1275" spc="-1" strike="noStrike">
                    <a:solidFill>
                      <a:srgbClr val="101456"/>
                    </a:solidFill>
                    <a:latin typeface="Malgun Gothic"/>
                    <a:ea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문서기획</c:v>
                </c:pt>
                <c:pt idx="1">
                  <c:v>카드뉴스</c:v>
                </c:pt>
              </c:strCache>
            </c:strRef>
          </c:cat>
          <c:val>
            <c:numRef>
              <c:f>0</c:f>
              <c:numCache>
                <c:formatCode>0\%</c:formatCode>
                <c:ptCount val="2"/>
                <c:pt idx="0">
                  <c:v>83.33</c:v>
                </c:pt>
                <c:pt idx="1">
                  <c:v>87.5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9월</c:v>
                </c:pt>
              </c:strCache>
            </c:strRef>
          </c:tx>
          <c:spPr>
            <a:solidFill>
              <a:srgbClr val="101456"/>
            </a:solidFill>
            <a:ln w="0">
              <a:noFill/>
            </a:ln>
          </c:spPr>
          <c:invertIfNegative val="0"/>
          <c:dLbls>
            <c:numFmt formatCode="0.00\%" sourceLinked="0"/>
            <c:txPr>
              <a:bodyPr wrap="square"/>
              <a:lstStyle/>
              <a:p>
                <a:pPr>
                  <a:defRPr b="0" sz="1275" spc="-1" strike="noStrike">
                    <a:solidFill>
                      <a:srgbClr val="101456"/>
                    </a:solidFill>
                    <a:latin typeface="Malgun Gothic"/>
                    <a:ea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문서기획</c:v>
                </c:pt>
                <c:pt idx="1">
                  <c:v>카드뉴스</c:v>
                </c:pt>
              </c:strCache>
            </c:strRef>
          </c:cat>
          <c:val>
            <c:numRef>
              <c:f>1</c:f>
              <c:numCache>
                <c:formatCode>0\%</c:formatCode>
                <c:ptCount val="2"/>
                <c:pt idx="0">
                  <c:v>80</c:v>
                </c:pt>
                <c:pt idx="1">
                  <c:v>66.67</c:v>
                </c:pt>
              </c:numCache>
            </c:numRef>
          </c:val>
        </c:ser>
        <c:gapWidth val="90"/>
        <c:overlap val="0"/>
        <c:axId val="73820965"/>
        <c:axId val="74183239"/>
      </c:barChart>
      <c:catAx>
        <c:axId val="7382096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350" spc="-1" strike="noStrike">
                <a:solidFill>
                  <a:srgbClr val="666666"/>
                </a:solidFill>
                <a:latin typeface="Malgun Gothic"/>
                <a:ea typeface="Malgun Gothic"/>
              </a:defRPr>
            </a:pPr>
          </a:p>
        </c:txPr>
        <c:crossAx val="74183239"/>
        <c:crosses val="autoZero"/>
        <c:auto val="1"/>
        <c:lblAlgn val="ctr"/>
        <c:lblOffset val="100"/>
        <c:noMultiLvlLbl val="0"/>
      </c:catAx>
      <c:valAx>
        <c:axId val="74183239"/>
        <c:scaling>
          <c:orientation val="minMax"/>
        </c:scaling>
        <c:delete val="0"/>
        <c:axPos val="l"/>
        <c:majorGridlines>
          <c:spPr>
            <a:ln w="9360">
              <a:solidFill>
                <a:srgbClr val="dadde5"/>
              </a:solidFill>
              <a:round/>
            </a:ln>
          </c:spPr>
        </c:majorGridlines>
        <c:numFmt formatCode="0\%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125" spc="-1" strike="noStrike">
                <a:solidFill>
                  <a:srgbClr val="666666"/>
                </a:solidFill>
                <a:latin typeface="Malgun Gothic"/>
                <a:ea typeface="Malgun Gothic"/>
              </a:defRPr>
            </a:pPr>
          </a:p>
        </c:txPr>
        <c:crossAx val="73820965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000000"/>
              </a:solidFill>
              <a:latin typeface="Malgun Gothic"/>
              <a:ea typeface="Malgun Gothic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가용재고</c:v>
                </c:pt>
              </c:strCache>
            </c:strRef>
          </c:tx>
          <c:spPr>
            <a:solidFill>
              <a:srgbClr val="213ed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50" spc="-1" strike="noStrike">
                    <a:solidFill>
                      <a:srgbClr val="101456"/>
                    </a:solidFill>
                    <a:latin typeface="Malgun Gothic"/>
                    <a:ea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종이컵</c:v>
                </c:pt>
                <c:pt idx="1">
                  <c:v>용기</c:v>
                </c:pt>
                <c:pt idx="2">
                  <c:v>냅킨</c:v>
                </c:pt>
                <c:pt idx="3">
                  <c:v>봉투</c:v>
                </c:pt>
              </c:strCache>
            </c:strRef>
          </c:cat>
          <c:val>
            <c:numRef>
              <c:f>0</c:f>
              <c:numCache>
                <c:formatCode>#,##0</c:formatCode>
                <c:ptCount val="4"/>
                <c:pt idx="0">
                  <c:v>1200</c:v>
                </c:pt>
                <c:pt idx="1">
                  <c:v>300</c:v>
                </c:pt>
                <c:pt idx="2">
                  <c:v>2000</c:v>
                </c:pt>
                <c:pt idx="3">
                  <c:v>150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재주문 기준</c:v>
                </c:pt>
              </c:strCache>
            </c:strRef>
          </c:tx>
          <c:spPr>
            <a:solidFill>
              <a:srgbClr val="10145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50" spc="-1" strike="noStrike">
                    <a:solidFill>
                      <a:srgbClr val="101456"/>
                    </a:solidFill>
                    <a:latin typeface="Malgun Gothic"/>
                    <a:ea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종이컵</c:v>
                </c:pt>
                <c:pt idx="1">
                  <c:v>용기</c:v>
                </c:pt>
                <c:pt idx="2">
                  <c:v>냅킨</c:v>
                </c:pt>
                <c:pt idx="3">
                  <c:v>봉투</c:v>
                </c:pt>
              </c:strCache>
            </c:strRef>
          </c:cat>
          <c:val>
            <c:numRef>
              <c:f>1</c:f>
              <c:numCache>
                <c:formatCode>#,##0</c:formatCode>
                <c:ptCount val="4"/>
                <c:pt idx="0">
                  <c:v>800</c:v>
                </c:pt>
                <c:pt idx="1">
                  <c:v>420</c:v>
                </c:pt>
                <c:pt idx="2">
                  <c:v>1000</c:v>
                </c:pt>
                <c:pt idx="3">
                  <c:v>180</c:v>
                </c:pt>
              </c:numCache>
            </c:numRef>
          </c:val>
        </c:ser>
        <c:gapWidth val="90"/>
        <c:overlap val="0"/>
        <c:axId val="47793318"/>
        <c:axId val="39449639"/>
      </c:barChart>
      <c:catAx>
        <c:axId val="4779331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350" spc="-1" strike="noStrike">
                <a:solidFill>
                  <a:srgbClr val="666666"/>
                </a:solidFill>
                <a:latin typeface="Malgun Gothic"/>
                <a:ea typeface="Malgun Gothic"/>
              </a:defRPr>
            </a:pPr>
          </a:p>
        </c:txPr>
        <c:crossAx val="39449639"/>
        <c:crosses val="autoZero"/>
        <c:auto val="1"/>
        <c:lblAlgn val="ctr"/>
        <c:lblOffset val="100"/>
        <c:noMultiLvlLbl val="0"/>
      </c:catAx>
      <c:valAx>
        <c:axId val="39449639"/>
        <c:scaling>
          <c:orientation val="minMax"/>
        </c:scaling>
        <c:delete val="0"/>
        <c:axPos val="l"/>
        <c:majorGridlines>
          <c:spPr>
            <a:ln w="9360">
              <a:solidFill>
                <a:srgbClr val="dadde5"/>
              </a:solidFill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  <a:round/>
          </a:ln>
        </c:spPr>
        <c:txPr>
          <a:bodyPr/>
          <a:lstStyle/>
          <a:p>
            <a:pPr>
              <a:defRPr b="0" sz="1125" spc="-1" strike="noStrike">
                <a:solidFill>
                  <a:srgbClr val="666666"/>
                </a:solidFill>
                <a:latin typeface="Malgun Gothic"/>
                <a:ea typeface="Malgun Gothic"/>
              </a:defRPr>
            </a:pPr>
          </a:p>
        </c:txPr>
        <c:crossAx val="47793318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000000"/>
              </a:solidFill>
              <a:latin typeface="Malgun Gothic"/>
              <a:ea typeface="Malgun Gothic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Malgun Gothic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792C52D-E39C-4D4F-978D-54BA64919CF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279180-1965-48E3-888B-B63E3BE5C67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Anthropic Economic Index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첫 보고서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개인정보 보호 분석 시스템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(Clio)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으로 대화를 집계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단일 플랫폼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(Claude.ai)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데이터라는 한계가 있음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관찰 노출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(observed exposure):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이론적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LLM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가능성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(Eloundou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2023) +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Claude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 데이터를 결합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업무용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자동화 사용에 가중치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수치는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2026.3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보고서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미국 데이터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(CPS, BLS)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보고서도 인과 해석에 신중함을 명시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한국 상황에 그대로 적용하지 않도록 안내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형식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) → 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지선다 객관식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파일 첨부 실습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실습형은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“특정할 수 없다”고 답해도 사람이 조건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 주문 시 마지막만 유효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)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을 다시 적용해 검증해야 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정답 ③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①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잘못된 처리 기준 유지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②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페르소나 조건 불일치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④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 출력 조건 누락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시험도 보기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개가 한 조건씩만 어긋나도록 출제됨 → 조건을 하나씩 대조하는 습관이 핵심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정답 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민준→자소서반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서연→면접반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하은→면접반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지우→면접반 → 면접반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자소서반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도윤은 기록 없음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신청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(4·3)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셌고 명단 대조도 틀림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시험처럼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질문 횟수가 제한되므로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규칙을 담아 한 번에 정확히 묻고 결과는 직접 검증해야 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0DC847F-F5B3-44C8-B62B-F261EBC330C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 질문 설계와 기획 초안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 덱은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 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 중 첫 회기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 교안입니다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휴식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분이며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 수업 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 휴식을 세 번 운영합니다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기본 표를 읽을 수 있는 성인 실무 입문자입니다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사전 준비로 앱 설치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계정 접근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실습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ZIP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압축 해제를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직무의 작은 과제를 선택하여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대시보드 초안 확인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문안 초안까지 연결합니다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가장 자주 반복하는 업무와 오늘 만들 결과물을 한 문장으로 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이번 수업에서 내가 줄이고 싶은 반복 작업은 무엇인가요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표지를 실제로 가져와 유지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표지 사진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Kevin Bessat / Unsplash: https://unsplash.com/photos/architectural-design-of-a-building-in-black-and-white-pAvCsFr13pU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 진행표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직무 선택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무료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Codex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파일 시작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 시범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직무 예시 비교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컨텍스트 작성과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슬라이드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1~5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중심으로 진행하며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7~12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사례 선택용으로 빠르게 훑습니다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점검 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처리안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대시보드 생성 또는 완성 예시 확인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수치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슬라이드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 선택 직무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7~12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문안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짝 피드백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제출과 다음 행동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슬라이드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13~15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마지막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170~180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분도 휴식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퇴실 시간으로 계산합니다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 직무의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결과물을 모두 새로 만드는 것이 아니라 하나의 직무를 선택하게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도구 접근이 막히면 배포 예시로 입력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 수정 활동을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오늘 만든 자료와 다음 회기에 완성할 결과물은 어떻게 연결되나요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Codex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실습 폴더 열기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블록의 시작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학습자마다 직무 폴더 하나를 작업 위치로 엽니다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지정하고 목적을 먼저 말하게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별도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키나 외부 패키지 설치가 기본 단계가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요청 자체는 온라인이며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배포된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보기만 외부 서비스 호출 없이 가능합니다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버전에 따라 메뉴 명칭이 다를 수 있으므로 폴더 선택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새 채팅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파일 지정의 기능을 중심으로 시연합니다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ZIP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README.txt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내 폴더에서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example.html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을 먼저 엽니다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prompts.txt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 자료 점검을 실행합니다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시작 요청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 폴더의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직무와 결정할 문제를 두 문장으로 요약하고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필요한 입력과 모르는 정보를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원본은 수정하지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유료 서비스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패키지 설치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발송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발주는 추가하지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이번에는 자료 점검 계획만 제시하고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market=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온라인 마켓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educator=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wholesale=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학생 결과는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*_student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이름으로 저장하여 원본과 예시를 보존합니다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선택한 폴더에서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에게 읽게 할 자료와 보존할 원본은 무엇인가요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공식 시작 안내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https://learn.chatgpt.com/docs/app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로컬 결과 브라우저 확인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https://learn.chatgpt.com/docs/browser?surface=app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실습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ZIP README.txt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 폴더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무료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Codex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수업 범위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기능 제공과 수업 설계의 판단을 구분합니다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2026-10-22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공식 가격 안내는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Free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데스크톱의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GPT-6 Luna Standard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접근을 순차 제공한다고 설명하며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Free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이미지 생성은 제공하지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사용량은 작업 크기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복잡도와 모델 등에 따라 달라집니다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API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인증은 별도 과금이므로 무료 계정 로그인과 혼동하지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수강생 계정별 접근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폴더 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남은 사용량을 사전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배포 파일은 현재 환경에서 계산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오류 안내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쪽 인쇄를 확인했지만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별도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Free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계정으로 수업 전체를 재현한 테스트는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계정 접근이 되는 학습자는 작은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TXT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요청을 시험합니다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접근 불가 또는 한도 도달 시 완성 파일에서 자료와 문안을 직접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범위를 줄이는 요청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번에 한 결과물만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필요한 자료는 이 폴더의 지정 파일뿐입니다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새 프레임워크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서버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서비스는 추가하지 말고 로컬에서 여는 단일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저장하세요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원본을 보존하고 작업이 끝나면 파일을 여는 방법을 알려주세요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어떤 기능은 무료 계정에서 먼저 확인해야 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어떤 활동은 배포 파일로 계속할 수 있나요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공식 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무료 이미지 생성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·API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과금 안내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https://learn.chatgpt.com/docs/pricing (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2026-10-22)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 작성과 질문 설계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 후반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분에 내 상황을 작성합니다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CO-STAR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연결하면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역할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Objective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결정할 문제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Style·Tone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은 간결한 실무 문체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Audience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내부 담당자 또는 외부 고객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Response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문안입니다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결과물을 요청하기 전에 자료의 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행의 의미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분모를 확정합니다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도매업자의 전체 컨텍스트는 각 사례 입력 슬라이드의 노트에 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직무의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조건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개를 표시하고 미확인 사항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개를 고릅니다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양식에 맞게 한 가지 업무로 범위를 좁힙니다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재사용 질문 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직무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역할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반복 업무의 문제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해결하려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대상은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담당자 또는 외부 대상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기간은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집계 단위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단위와 분모는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입력 자료는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승인된 파일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정보는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모르는 정보는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먼저 자료의 문제와 처리안을 제시하고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원본은 보존하고 모르는 수치를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으로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 후 대시보드 지표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계산 근거를 제시하고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기획안을 간결한 실무 문체로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문안에는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입력 금지 정보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제공하지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효능은 만들지 말고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제안을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나쁜 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사업을 알아서 자동화해줘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좋은 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단위와 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기준을 지정하고 먼저 점검표를 요청합니다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모르는 정보를 빈칸으로 둔 이유를 설명할 수 있나요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데이터 점검표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블록의 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분과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행의 의미와 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분모를 다시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중복임이 확인된 다섯 번째 행은 제외하고 여섯 번째 행은 필요한 값이 미확인이므로 보류합니다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 행 자체를 삭제하지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누락을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으로 채우면 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비율이 왜곡되므로 같은 비교 행 집합을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직무의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보고 점검표를 작성합니다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짝과 포함한 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대조합니다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프리랜서와 온라인 마켓 자료 점검 요청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 자료 점검 요청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 자료 점검 요청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직무에서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행을 같은 비교 대상으로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행을 별도로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학습자가 결론을 내리기 전에 수치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분모를 직접 확인하게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빠진 값은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 어떻게 다른가요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보류한 자료가 복구되면 무엇을 다시 계산해야 하나요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온라인 마켓 입력 컨텍스트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사례 선택용으로 간략히 보여주고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선택한 직무의 자료를 상세하게 읽습니다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화면은 유효한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행을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행을 포함한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행이며 아래에 복사할 수 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조건을 먼저 말하게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직무에서 결정할 문제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정의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조건을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점검하고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사용을 승인합니다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온라인 소품 판매와 콘텐츠 제작을 혼자 운영하는 프리랜서입니다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1~2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주차 상품별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반품을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상세페이지 개선안과 상품 소개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상품 한 개의 한 주 집계이며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같은 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상품은 한 번만 집계합니다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주문수는 반품 전 주문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주문수는 그 결제 주문 중 환불 확정된 주문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광고비는 원 단위입니다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수수료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원가는 제공하지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순매출은 결제액−환불액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반품률은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순이익을 계산할 수는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중복 내보낸 기록입니다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M06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이번 비교는 필요한 값이 모두 확인된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M01~M04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같은 행 집합만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상품 소개 정보는 면 원단 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지퍼형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18cm·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12cm,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판매가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색상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세탁법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할인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원산지는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기능이나 고객 후기를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수치는 고객용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개인정보 없는 가상 자료만 쓰며 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CSV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광고비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M01,9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,40,4,400000,40000,60000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M02,9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,50,10,500000,100000,80000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M03,9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,60,3,300000,15000,30000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M04,9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,80,4,400000,20000,40000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M05,9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,50,10,500000,100000,80000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M06,9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스티커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,30,,90000,,20000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결제액 합계−환불액 합계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주문수 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 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유효 결제 주문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230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21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1,425,000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9.13%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15.56%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5.00%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자료에 없는 원인이나 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덧붙이지 않았나요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프리랜서와 온라인 마켓 결과물 예시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모든 직무 결과를 짧게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선택한 직무의 화면은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 실습에서 다시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그래프는 관찰된 차이이며 원인의 증거가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이 근거로 기획안과 카드뉴스 문안 초안을 만듭니다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처음부터 예시와 같은 디자인을 새로 만드는 것을 필수로 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example.html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내 직무의 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탭을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M01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반품 주문수를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바꾸고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반품률이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25/230=10.87%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되는지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환불액과 반품 주문수는 별개 입력이므로 서로 자동 변경되지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결과 수치 두 개를 직접 검산합니다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온라인 소품 판매와 콘텐츠 제작을 혼자 운영하는 프리랜서입니다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1~2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주차 상품별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반품을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상세페이지 개선안과 상품 소개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상품 한 개의 한 주 집계이며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같은 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상품은 한 번만 집계합니다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주문수는 반품 전 주문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주문수는 그 결제 주문 중 환불 확정된 주문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광고비는 원 단위입니다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수수료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원가는 제공하지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순매출은 결제액−환불액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반품률은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순이익을 계산할 수는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중복 내보낸 기록입니다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M06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이번 비교는 필요한 값이 모두 확인된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M01~M04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같은 행 집합만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상품 소개 정보는 면 원단 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지퍼형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18cm·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12cm,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판매가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색상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세탁법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할인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원산지는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기능이나 고객 후기를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수치는 고객용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개인정보 없는 가상 자료만 쓰며 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컨텍스트의 규칙대로 앞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행을 사용하고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번째 중복 행은 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번째 미확인 행은 보류하는 처리를 승인합니다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승인된 자료를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clean_student.csv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저장하고 원본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유지하세요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주차 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순매출과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상품별 반품률 비교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포함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문장을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행별 반품률을 단순 평균하지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이면 계산 불가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자료가 없으면 비교 불가로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clean_student.csv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값을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안에 넣어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dashboard_student.html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개로 만들어 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계산 근거를 넣고 확인된 사실과 추가 확인 질문을 분리하세요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수치를 고칠 수 있는 입력표와 재계산 기능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잘못된 입력의 오류 안내를 넣으세요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데이터 자동 동기화는 넣지 말고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검증할 수 있는 계산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파일 여는 방법을 설명하세요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승인한 자료만 사용해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 상세정보 개선 시험안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제목의 기획안을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분량으로 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담당자와 실행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지표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한계와 추가 확인 순서로 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사실과 가설을 구분하고 수치마다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주지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매출 상승률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사항은 확인 필요로 남기고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계획의 가정은 가정이라고 쓰세요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외부 소개에 써도 되는 정보와 검토한 기획안만 사용해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초안을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순서는 관심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특징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필수 조건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 안내입니다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목록을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등 운영 수치는 외부 문안에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효능을 지어내지 말고 확인되지 않은 조건은 확인 필요로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글자와 단순 도형만 쓰는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구성하세요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이미지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이미지 생성은 사용하지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브라우저에서 네 장을 확인하고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인쇄할 수 있게 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유효 결제 주문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230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21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1,425,000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9.13%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15.56%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 반품률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5.00%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 완성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 파우치 반품률이 비교 상품보다 높지만 이유는 확인되지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 유효 자료에서 파우치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14/90=15.56%,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7/140=5.00%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  파우치의 실제 규격과 수납 예시를 확인해 상세페이지를 보완합니다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사유를 함께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실행  운영자가 문안을 고치고 실제 상품 정보와 일치하는지 검토합니다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변경일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주문 집계 기준을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 같은 기준의 새 주문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자료와 작성 시간을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표본 차이를 표시하고 원인을 단정하지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 반품 확정 시차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상품별 원가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수수료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고객 문의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 조건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할인이나 매출 증가율은 임의로 넣지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카드뉴스 문안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가방 속 작은 물건을 한곳에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작은 소품을 담을 파우치를 찾고 있나요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규격부터 확인하세요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18cm ·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면 원단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지퍼형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판매가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배송비와 배송 일정은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확인되지 않은 할인은 표시하지 않아요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내 소품과 크기를 비교해 보세요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상세 정보와 배송 조건을 확인한 뒤 주문하세요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 링크 확인 필요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파우치의 관찰 반품률은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15.56%,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5.00%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 특성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구매층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사유가 달라 원인을 확정할 수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 입력 컨텍스트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사례 선택용으로 간략히 보여주고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선택한 직무의 자료를 상세하게 읽습니다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화면은 유효한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행을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행을 포함한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행이며 아래에 복사할 수 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조건을 먼저 말하게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직무에서 결정할 문제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정의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조건을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점검하고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사용을 승인합니다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성인 대상 교육을 기획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운영하는 교육자입니다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8~9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과정별 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만족도를 비교하고 다음 운영안과 모집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과정 하나의 월별 운영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동일한 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응답은 명 단위이며 신청은 확정 등록자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출석은 그 등록자 중 참석한 사람입니다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만족도는 출석자에게 받은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 척도입니다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만족점수합계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응답수로 계산하며 과정별 평균을 단순 평균하지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동일인이 여러 과정에 참여할 수 있어 합계는 고유 인원이 아니라 운영별 참여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점수 합계가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E01~E04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같은 비교 대상으로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모집 안내에 쓸 확인된 가상 조건은 생활 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 체험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성인 입문자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참가비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링크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 규정은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취업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성과 보장 문구를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수강생 이름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연락처와 내부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 수치를 외부 모집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문자 발송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CSV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만족점수합계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E01,8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,20,18,15,12,54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E02,9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,20,20,16,14,63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E03,8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,20,16,14,10,44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E04,9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,20,18,12,8,34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E05,9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,20,18,12,8,34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E06,9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,20,15,,,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만족점수합계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 대비 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90.00%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대비 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79.17%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 대비 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77.19%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 가중 만족도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4.43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카드뉴스 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66.67%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유효 운영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자료에 없는 원인이나 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덧붙이지 않았나요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 결과물 예시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모든 직무 결과를 짧게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선택한 직무의 화면은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 실습에서 다시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그래프는 관찰된 차이이며 원인의 증거가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이 근거로 기획안과 카드뉴스 문안 초안을 만듭니다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처음부터 예시와 같은 디자인을 새로 만드는 것을 필수로 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example.html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내 직무의 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탭을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출석을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바꾸면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카드뉴스 출석률은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83.33%,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출석률은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83.33%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출석이 신청을 넘으면 결과 생성을 멈추고 오류를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결과 수치 두 개를 직접 검산합니다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성인 대상 교육을 기획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운영하는 교육자입니다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8~9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과정별 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만족도를 비교하고 다음 운영안과 모집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과정 하나의 월별 운영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동일한 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응답은 명 단위이며 신청은 확정 등록자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출석은 그 등록자 중 참석한 사람입니다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만족도는 출석자에게 받은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 척도입니다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만족점수합계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응답수로 계산하며 과정별 평균을 단순 평균하지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동일인이 여러 과정에 참여할 수 있어 합계는 고유 인원이 아니라 운영별 참여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점수 합계가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E01~E04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같은 비교 대상으로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모집 안내에 쓸 확인된 가상 조건은 생활 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 체험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성인 입문자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참가비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링크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 규정은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취업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성과 보장 문구를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수강생 이름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연락처와 내부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 수치를 외부 모집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문자 발송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컨텍스트의 규칙대로 앞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행을 사용하고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번째 중복 행은 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번째 미확인 행은 보류하는 처리를 승인합니다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승인된 자료를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clean_student.csv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저장하고 원본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유지하세요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과정 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 가중 만족도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과정별 출석률 비교와 보류 행을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고유 참여자 수로 해석하지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이면 계산 불가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자료가 없으면 비교 불가로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clean_student.csv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값을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안에 넣어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dashboard_student.html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개로 만들어 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계산 근거를 넣고 확인된 사실과 추가 확인 질문을 분리하세요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수치를 고칠 수 있는 입력표와 재계산 기능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잘못된 입력의 오류 안내를 넣으세요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데이터 자동 동기화는 넣지 말고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검증할 수 있는 계산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파일 여는 방법을 설명하세요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승인한 자료만 사용해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과정 참여 안내 개선안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제목의 기획안을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분량으로 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담당자와 실행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지표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한계와 추가 확인 순서로 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사실과 가설을 구분하고 수치마다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주지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매출 상승률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사항은 확인 필요로 남기고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계획의 가정은 가정이라고 쓰세요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외부 소개에 써도 되는 정보와 검토한 기획안만 사용해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초안을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순서는 관심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특징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필수 조건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 안내입니다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목록을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등 운영 수치는 외부 문안에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효능을 지어내지 말고 확인되지 않은 조건은 확인 필요로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글자와 단순 도형만 쓰는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구성하세요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이미지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이미지 생성은 사용하지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브라우저에서 네 장을 확인하고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인쇄할 수 있게 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 대비 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90.00%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대비 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79.17%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 대비 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77.19%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 가중 만족도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4.43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카드뉴스 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66.67%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유효 운영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 완성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카드뉴스 과정의 출석률이 이전 운영보다 낮게 관찰됩니다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14/16=87.50%, 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12/18=66.67%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평균 만족도는 응답자 가중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4.43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  수업 전 안내에서 실습 준비와 참여 방법을 명확히 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불참 사유를 익명 범주로 수집합니다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실행  교육자가 안내문을 작성하고 담당자가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준비물을 확인한 뒤 승인된 채널로 수동 전달합니다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 비슷한 과정의 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응답률과 안내 작성 시간을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만족도는 응답률을 함께 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 일정 변경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등록자 특성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불참 사유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미응답자 차이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 변화의 원인을 단정하거나 수강 효과를 보장하지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카드뉴스 문안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문서 초안을 시작해 볼까요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성인 입문자를 위한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생활 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 체험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 체험 과정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참가비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참여 조건을 먼저 확인하세요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준비물은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정보로 바꾼 뒤 공유하세요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조건 확인 후 신청하세요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 규정과 모집 정보를 확인한 뒤 신청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링크 확인 필요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과정 출석률은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87.50%, 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66.67%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적은 표본이고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대상 차이가 있어 운영 방식의 효과를 단정할 수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 입력 컨텍스트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사례 선택용으로 간략히 보여주고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선택한 직무의 자료를 상세하게 읽습니다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화면은 유효한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행을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행을 포함한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행이며 아래에 복사할 수 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조건을 먼저 말하게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직무에서 결정할 문제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정의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조건을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점검하고 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사용을 승인합니다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소규모 포장용품 도매업을 운영합니다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 기준 가용재고를 점검해 발주 검토 우선순위를 정하고 거래처용 제품 안내를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기준일의 품목별 가용재고입니다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재고와 안전재고는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일입니다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가용재고는 이미 확정된 출고 예약분을 뺀 값입니다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과거 평균이며 납기 보장이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재주문 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안전재고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예상 소진일수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가용재고가 재주문 기준 이하이면 발주 검토 대상으로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 미달만으로 실제 주문을 확정하지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재고는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W01~W04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수량을 결정할 목표 재고일수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제공하지 않았으므로 주문량을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거래처용 가상 정보는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투명용기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부가세별도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뚜껑별도입니다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전자레인지 사용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고객명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공급처 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재고 수치를 외부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API·ERP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발주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CSV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안전재고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W01,2026-09-30,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종이컵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,1200,100,5,300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W02,2026-09-30,500mL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,300,80,4,100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W03,2026-09-30,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냅킨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,2000,200,3,400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W04,2026-09-30,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봉투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,150,60,2,60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W05,2026-09-30,500mL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,300,80,4,100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W06,2026-09-30,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컵뚜껑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,,50,3,100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재주문 기준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안전재고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예상 소진일수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유효 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검토 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3.75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봉투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2.50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종이컵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12.00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냅킨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10.00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자료에 없는 원인이나 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덧붙이지 않았나요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 결과물 예시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모든 직무 결과를 짧게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선택한 직무의 화면은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 실습에서 다시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그래프는 관찰된 차이이며 원인의 증거가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블록에서 이 근거로 기획안과 카드뉴스 문안 초안을 만듭니다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처음부터 예시와 같은 디자인을 새로 만드는 것을 필수로 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example.html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내 직무의 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탭을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가용재고를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으로 바꾸면 봉투가 검토 대상에서 빠지고 대상은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개가 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기준과 정확히 같은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이면 검토 대상에 남아야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결과 수치 두 개를 직접 검산합니다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소규모 포장용품 도매업을 운영합니다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 기준 가용재고를 점검해 발주 검토 우선순위를 정하고 거래처용 제품 안내를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기준일의 품목별 가용재고입니다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재고와 안전재고는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일입니다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가용재고는 이미 확정된 출고 예약분을 뺀 값입니다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과거 평균이며 납기 보장이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재주문 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안전재고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예상 소진일수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가용재고가 재주문 기준 이하이면 발주 검토 대상으로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 미달만으로 실제 주문을 확정하지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재고는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W01~W04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수량을 결정할 목표 재고일수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제공하지 않았으므로 주문량을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거래처용 가상 정보는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투명용기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부가세별도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뚜껑별도입니다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전자레인지 사용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고객명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공급처 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재고 수치를 외부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API·ERP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발주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 점검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읽고 분석 전 점검표를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 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분석 포함 여부 순서로 답하세요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행의 원본은 보존하고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컨텍스트에 확인된 처리와 추가 확인이 필요한 처리를 구분하세요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아직 대시보드를 만들거나 결론을 내리지 말고 내 승인을 기다리세요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대시보드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컨텍스트의 규칙대로 앞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행을 사용하고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번째 중복 행은 제외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번째 미확인 행은 보류하는 처리를 승인합니다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승인된 자료를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clean_student.csv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저장하고 원본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raw.csv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유지하세요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품목 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검토 품목 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재주문 기준 비교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소진일수와 조달기간을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품목별 차이 때문에 소진일수를 단순 평균하지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이면 계산 불가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자료가 없으면 비교 불가로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clean_student.csv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값을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안에 넣어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dashboard_student.html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개로 만들어 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계산 근거를 넣고 확인된 사실과 추가 확인 질문을 분리하세요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수치를 고칠 수 있는 입력표와 재계산 기능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잘못된 입력의 오류 안내를 넣으세요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데이터 자동 동기화는 넣지 말고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검증할 수 있는 계산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파일 여는 방법을 설명하세요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승인한 자료만 사용해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용기와 봉투 발주 검토안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제목의 기획안을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분량으로 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담당자와 실행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지표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한계와 추가 확인 순서로 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사실과 가설을 구분하고 수치마다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주지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매출 상승률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사항은 확인 필요로 남기고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계획의 가정은 가정이라고 쓰세요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외부 소개에 써도 되는 정보와 검토한 기획안만 사용해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초안을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순서는 관심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특징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필수 조건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 안내입니다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목록을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등 운영 수치는 외부 문안에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효능을 지어내지 말고 확인되지 않은 조건은 확인 필요로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글자와 단순 도형만 쓰는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구성하세요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이미지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이미지 생성은 사용하지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브라우저에서 네 장을 확인하고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인쇄할 수 있게 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유효 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검토 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3.75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봉투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2.50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종이컵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12.00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냅킨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10.00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 완성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 용기와 봉투의 가용재고가 재주문 기준 이하입니다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 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봉투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소진일수는 각각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3.75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  담당자가 입고 예정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공급 가능일을 먼저 확인하고 발주 여부와 수량을 결정합니다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실행  매일 같은 시각에 재고표를 확인하고 검토 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내용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승인자를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주문은 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 재고 확인과 검토안 작성 시간을 기록하고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누락 품목과 계산 오류가 없는지 검토합니다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 확정 입고일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수요 변동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 재고일수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평균 조달기간을 고객에게 확정 납기로 안내하지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카드뉴스 문안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거래처용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투명용기 안내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규격과 포장 단위를 확인하세요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뚜껑은 별도입니다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 조건은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박스당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부가세 별도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배송비는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공급 가능 수량과 납기 문의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필요 수량과 희망일을 알려 주세요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후 공급 일정을 안내합니다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용기와 봉투가 발주 검토 대상입니다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봉투는 예상 소진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평균 조달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일로 여유가 작지만 실제 입고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수요 변동을 확인해야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 작성 양식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블록의 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초안과 근거 설명을 목표로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직무별 예시의 수치와 단위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분모를 유지하고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만들어낸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 수치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실명은 삭제하게 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회기에 문서 구성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표현과 실행 가능성을 더 보완합니다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선택 직무의 요청을 입력하여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만들고 표의 항목을 채웁니다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자료에 없는 사실은 확인 필요로 남깁니다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프리랜서와 온라인 마켓 기획안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승인한 자료만 사용해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 상세정보 개선 시험안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제목의 기획안을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분량으로 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담당자와 실행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지표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한계와 추가 확인 순서로 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사실과 가설을 구분하고 수치마다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주지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매출 상승률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사항은 확인 필요로 남기고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계획의 가정은 가정이라고 쓰세요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해당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온라인 소품 판매와 콘텐츠 제작을 혼자 운영하는 프리랜서입니다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1~2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주차 상품별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반품을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상세페이지 개선안과 상품 소개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상품 한 개의 한 주 집계이며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같은 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상품은 한 번만 집계합니다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주문수는 반품 전 주문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주문수는 그 결제 주문 중 환불 확정된 주문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광고비는 원 단위입니다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수수료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원가는 제공하지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순매출은 결제액−환불액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반품률은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순이익을 계산할 수는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중복 내보낸 기록입니다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M06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이번 비교는 필요한 값이 모두 확인된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M01~M04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같은 행 집합만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상품 소개 정보는 면 원단 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지퍼형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18cm·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12cm,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판매가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색상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세탁법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할인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원산지는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기능이나 고객 후기를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수치는 고객용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개인정보 없는 가상 자료만 쓰며 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 기획안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승인한 자료만 사용해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과정 참여 안내 개선안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제목의 기획안을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분량으로 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담당자와 실행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지표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한계와 추가 확인 순서로 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사실과 가설을 구분하고 수치마다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주지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매출 상승률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사항은 확인 필요로 남기고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계획의 가정은 가정이라고 쓰세요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해당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성인 대상 교육을 기획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운영하는 교육자입니다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8~9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과정별 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만족도를 비교하고 다음 운영안과 모집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과정 하나의 월별 운영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동일한 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응답은 명 단위이며 신청은 확정 등록자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출석은 그 등록자 중 참석한 사람입니다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만족도는 출석자에게 받은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 척도입니다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만족점수합계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응답수로 계산하며 과정별 평균을 단순 평균하지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동일인이 여러 과정에 참여할 수 있어 합계는 고유 인원이 아니라 운영별 참여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점수 합계가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E01~E04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같은 비교 대상으로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모집 안내에 쓸 확인된 가상 조건은 생활 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 체험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성인 입문자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참가비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링크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 규정은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취업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성과 보장 문구를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수강생 이름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연락처와 내부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 수치를 외부 모집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문자 발송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 기획안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승인한 자료만 사용해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용기와 봉투 발주 검토안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제목의 기획안을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장 분량으로 문제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담당자와 실행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지표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한계와 추가 확인 순서로 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사실과 가설을 구분하고 수치마다 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단위를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내가 주지 않은 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매출 상승률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담당자 실명을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미확인 사항은 확인 필요로 남기고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계획의 가정은 가정이라고 쓰세요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해당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소규모 포장용품 도매업을 운영합니다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 기준 가용재고를 점검해 발주 검토 우선순위를 정하고 거래처용 제품 안내를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기준일의 품목별 가용재고입니다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재고와 안전재고는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일입니다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가용재고는 이미 확정된 출고 예약분을 뺀 값입니다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과거 평균이며 납기 보장이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재주문 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안전재고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예상 소진일수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가용재고가 재주문 기준 이하이면 발주 검토 대상으로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 미달만으로 실제 주문을 확정하지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재고는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W01~W04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수량을 결정할 목표 재고일수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제공하지 않았으므로 주문량을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거래처용 가상 정보는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투명용기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부가세별도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뚜껑별도입니다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전자레인지 사용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고객명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공급처 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재고 수치를 외부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API·ERP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발주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파우치 상세정보 개선 시험안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 파우치 반품률이 비교 상품보다 높지만 이유는 확인되지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 유효 자료에서 파우치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14/90=15.56%,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키링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7/140=5.00%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  파우치의 실제 규격과 수납 예시를 확인해 상세페이지를 보완합니다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사유를 함께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실행  운영자가 문안을 고치고 실제 상품 정보와 일치하는지 검토합니다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변경일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주문 집계 기준을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 같은 기준의 새 주문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자료와 작성 시간을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표본 차이를 표시하고 원인을 단정하지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 반품 확정 시차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상품별 원가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수수료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고객 문의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 조건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할인이나 매출 증가율은 임의로 넣지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과정 참여 안내 개선안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카드뉴스 과정의 출석률이 이전 운영보다 낮게 관찰됩니다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14/16=87.50%, 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12/18=66.67%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전체 평균 만족도는 응답자 가중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4.43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  수업 전 안내에서 실습 준비와 참여 방법을 명확히 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불참 사유를 익명 범주로 수집합니다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실행  교육자가 안내문을 작성하고 담당자가 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준비물을 확인한 뒤 승인된 채널로 수동 전달합니다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 비슷한 과정의 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응답률과 안내 작성 시간을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만족도는 응답률을 함께 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 일정 변경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등록자 특성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불참 사유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미응답자 차이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 변화의 원인을 단정하거나 수강 효과를 보장하지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용기와 봉투 발주 검토안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문제  용기와 봉투의 가용재고가 재주문 기준 이하입니다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  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봉투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소진일수는 각각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3.75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  담당자가 입고 예정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공급 가능일을 먼저 확인하고 발주 여부와 수량을 결정합니다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실행  매일 같은 시각에 재고표를 확인하고 검토 품목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내용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승인자를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주문은 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평가  재고 확인과 검토안 작성 시간을 기록하고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누락 품목과 계산 오류가 없는지 검토합니다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 확정 입고일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수요 변동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 재고일수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평균 조달기간을 고객에게 확정 납기로 안내하지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제안을 다른 사람에게 설명할 수 있나요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 기존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직무별 실습 문서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·CSV.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모든 사업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수치와 상품 조건은 교육용 가상 자료입니다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문안과 구조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블록의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만드는 것과 공개 게시를 구분합니다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회기는 각 장의 목적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짧은 문장 초안을 작성하고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회기에 디자인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공유 전 검토를 더 진행합니다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속도가 빠르면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을 생성하거나 배포 예시 문안을 편집하고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Free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계정의 이미지 생성은 기본으로 두지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수치를 고객 문안에 그대로 넣지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만듭니다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확인되지 않은 조건은 확인 필요로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짝과 교환하여 대상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행동이 맞는지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프리랜서와 온라인 마켓 카드뉴스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외부 소개에 써도 되는 정보와 검토한 기획안만 사용해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초안을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순서는 관심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특징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필수 조건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 안내입니다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목록을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등 운영 수치는 외부 문안에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효능을 지어내지 말고 확인되지 않은 조건은 확인 필요로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글자와 단순 도형만 쓰는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구성하세요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이미지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이미지 생성은 사용하지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브라우저에서 네 장을 확인하고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인쇄할 수 있게 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사용할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온라인 소품 판매와 콘텐츠 제작을 혼자 운영하는 프리랜서입니다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1~2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주차 상품별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반품을 비교하고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상세페이지 개선안과 상품 소개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상품 한 개의 한 주 집계이며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같은 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상품은 한 번만 집계합니다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주문수는 반품 전 주문 건수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주문수는 그 결제 주문 중 환불 확정된 주문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광고비는 원 단위입니다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수수료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원가는 제공하지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순매출은 결제액−환불액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반품률은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순이익을 계산할 수는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중복 내보낸 기록입니다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M06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반품 주문수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환불액은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이번 비교는 필요한 값이 모두 확인된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M01~M04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같은 행 집합만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상품 소개 정보는 면 원단 파우치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지퍼형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18cm·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12cm,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판매가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색상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세탁법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할인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원산지는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기능이나 고객 후기를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반품 수치는 고객용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개인정보 없는 가상 자료만 쓰며 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 카드뉴스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외부 소개에 써도 되는 정보와 검토한 기획안만 사용해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초안을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순서는 관심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특징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필수 조건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 안내입니다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목록을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등 운영 수치는 외부 문안에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효능을 지어내지 말고 확인되지 않은 조건은 확인 필요로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글자와 단순 도형만 쓰는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구성하세요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이미지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이미지 생성은 사용하지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브라우저에서 네 장을 확인하고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인쇄할 수 있게 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사용할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성인 대상 교육을 기획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운영하는 교육자입니다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8~9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 과정별 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만족도를 비교하고 다음 운영안과 모집 카드뉴스를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과정 하나의 월별 운영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와 동일한 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응답은 명 단위이며 신청은 확정 등록자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출석은 그 등록자 중 참석한 사람입니다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만족도는 출석자에게 받은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 척도입니다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만족점수합계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응답수로 계산하며 과정별 평균을 단순 평균하지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출석합계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동일인이 여러 과정에 참여할 수 있어 합계는 고유 인원이 아니라 운영별 참여 건수입니다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응답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점수 합계가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E01~E04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같은 비교 대상으로 사용합니다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모집 안내에 쓸 확인된 가상 조건은 생활 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 체험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성인 입문자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참가비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링크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 규정은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취업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성과 보장 문구를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수강생 이름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연락처와 내부 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만족도 수치를 외부 모집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문자 발송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 카드뉴스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외부 소개에 써도 되는 정보와 검토한 기획안만 사용해 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초안을 만드세요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순서는 관심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특징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필수 조건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행동 안내입니다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 목록을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작성하세요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매출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 등 운영 수치는 외부 문안에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효능을 지어내지 말고 확인되지 않은 조건은 확인 필요로 표시하세요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문안을 글자와 단순 도형만 쓰는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cards_student.html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구성하세요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이미지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이미지 생성은 사용하지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브라우저에서 네 장을 확인하고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PDF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인쇄할 수 있게 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사용할 컨텍스트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교육용 가상 상황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나는 소규모 포장용품 도매업을 운영합니다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목표는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 기준 가용재고를 점검해 발주 검토 우선순위를 정하고 거래처용 제품 안내를 만드는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한 행은 기준일의 품목별 가용재고입니다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재고와 안전재고는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일평균출고는 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일입니다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가용재고는 이미 확정된 출고 예약분을 뺀 값입니다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조달기간은 과거 평균이며 납기 보장이 아닙니다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재주문 기준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×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조달기간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+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안전재고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예상 소진일수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일평균출고입니다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가용재고가 재주문 기준 이하이면 발주 검토 대상으로 표시합니다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기준 미달만으로 실제 주문을 확정하지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W02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중복 내보내기입니다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의 재고는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W01~W04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만 비교합니다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발주 수량을 결정할 목표 재고일수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최소주문량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제공하지 않았으므로 주문량을 만들지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확인된 거래처용 가상 정보는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투명용기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부가세별도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뚜껑별도입니다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전자레인지 사용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확정 납기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입고예정은 미확인입니다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고객명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공급처 단가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재고 수치를 외부 카드뉴스에 넣지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외부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API·ERP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연결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발주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자동 게시 기능은 만들지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프리랜서와 온라인 마켓 문안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가방 속 작은 물건을 한곳에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작은 소품을 담을 파우치를 찾고 있나요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규격부터 확인하세요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18cm ·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세로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면 원단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지퍼형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판매가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배송비와 배송 일정은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확인되지 않은 할인은 표시하지 않아요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내 소품과 크기를 비교해 보세요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상세 정보와 배송 조건을 확인한 뒤 주문하세요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상품 링크 확인 필요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교육자 문안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문서 초안을 시작해 볼까요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성인 입문자를 위한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생활 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문서기획 체험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 체험 과정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참가비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참여 조건을 먼저 확인하세요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준비물은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확인한 정보로 바꾼 뒤 공유하세요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조건 확인 후 신청하세요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환불 규정과 모집 정보를 확인한 뒤 신청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신청 링크 확인 필요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도매업자 문안 예시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거래처용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500mL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투명용기 안내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규격과 포장 단위를 확인하세요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박스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뚜껑은 별도입니다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소재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 조건은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박스당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22,000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부가세 별도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배송비는 확인 필요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공급 가능 수량과 납기 문의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필요 수량과 희망일을 알려 주세요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후 공급 일정을 안내합니다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자료와 공개 가능한 조건을 구분했나요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제공하지 않은 효능이나 가격을 덧붙이지 않았나요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직무별 가상 컨텍스트와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cards_answer.txt.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무료 플랜 이미지 생성 범위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https://learn.chatgpt.com/docs/pricing (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2026-10-22)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 완료 기준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강사 설명과 시간 배분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블록의 마지막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분입니다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짝이 수치 하나와 미확인 조건 하나를 확인하고 작성자가 수정합니다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결과물의 화려함보다 근거를 설명하고 수정했는지를 평가합니다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첫 회기는 대시보드 초안 또는 예시 확인과 기획안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 문안에 집중합니다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 기능이 제한된 학습자는 배포 예시와 작성 양식으로 동일한 검토 활동을 수행합니다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주 적용 계획의 상세 설계와 디자인 완성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운영 확장은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회기에 이어갑니다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학습자 활동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직무의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context_student.txt·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점검표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검산 수치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·plan_student.txt·cards_student.txt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제출하거나 준비된 양식에 기록합니다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다음 시간까지 확인할 자료와 날짜를 한 문장으로 적습니다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복사용 상세 컨텍스트와 프롬프트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마지막 수정 요청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컨텍스트와 원본에 없는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일정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효능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원인 단정을 찾아 주세요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근거가 있는 사실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 제안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확인 필요를 나누고 제안서를 한 장 분량으로 줄이세요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장으로 유지하고 각 장 제목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개와 짧은 본문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문장 이내로 정리하세요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내부 수치는 외부 문안에서 제거하고 아직 게시하지 마세요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예시 답안과 검산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최소 제출은 선택 직무의 컨텍스트와 점검 기록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직접 검산한 수치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기획안 초안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카드뉴스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장 문안입니다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도구 제약으로 파일 생성이 안 되면 작성 양식의 내용과 검토 기록으로 확인합니다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성찰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에 맡길 일 하나와 내가 직접 확인할 일 하나는 무엇인가요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출처와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사용자 제공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시간 조건과 교육 자료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교육 설계 참고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KPC https://www.kpc.or.kr/PTWED003_dtil_view.do?ecno=48131 ; KSA https://www.ksaedu.or.kr/front/btoc/crs/off/crssesDetail.html?crscd=COL0105343 ;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서울시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플러스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https://www.50plus.or.kr/education-detail.do?educationKind=aiDigital&amp;id=73679063 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공식 공개 과정 확인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2026-10-22.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유사한 실무 결과물과 자료 검증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·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피드백 방식을 입문자용으로 조정했습니다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19320" y="2590920"/>
            <a:ext cx="97531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Malgun Gothic"/>
              </a:rPr>
              <a:t>Click to edit the title text format</a:t>
            </a:r>
            <a:endParaRPr b="0" lang="en-US" sz="480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9320" y="2857680"/>
            <a:ext cx="97531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chemeClr val="dk1"/>
                </a:solidFill>
                <a:latin typeface="Malgun Gothic"/>
              </a:rPr>
              <a:t>Click to edit the title text format</a:t>
            </a:r>
            <a:endParaRPr b="0" lang="en-US" sz="420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Malgun Gothic"/>
              </a:rPr>
              <a:t>Click to edit the title text format</a:t>
            </a:r>
            <a:endParaRPr b="0" lang="en-US" sz="33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1082016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Click to edit the outline text format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Second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Third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Fourth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Fifth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Sixth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Seventh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Malgun Gothic"/>
              </a:rPr>
              <a:t>Click to edit the title text format</a:t>
            </a:r>
            <a:endParaRPr b="0" lang="en-US" sz="33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Click to edit the outline text format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Second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Third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Fourth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Fifth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Sixth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Seventh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47712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Click to edit the outline text format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Second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Third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Fourth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Fifth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Sixth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Malgun Gothic"/>
              </a:rPr>
              <a:t>Seventh Outline Level</a:t>
            </a:r>
            <a:endParaRPr b="0" lang="en-US" sz="210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Malgun Gothic"/>
              </a:rPr>
              <a:t>Click to edit the title text format</a:t>
            </a:r>
            <a:endParaRPr b="0" lang="en-US" sz="33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Click to edit the outline text format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Second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Third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Fourth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Fifth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Sixth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50" spc="-1" strike="noStrike">
                <a:solidFill>
                  <a:schemeClr val="dk1"/>
                </a:solidFill>
                <a:latin typeface="Malgun Gothic"/>
              </a:rPr>
              <a:t>Seventh Outline Level</a:t>
            </a:r>
            <a:endParaRPr b="0" lang="en-US" sz="225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Malgun Gothic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Malgun Gothic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Malgun Gothic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Malgun Gothic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Malgun Gothic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algun Gothic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algun Gothic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Malgun Gothic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bg.png"/>
          <p:cNvPicPr/>
          <p:nvPr/>
        </p:nvPicPr>
        <p:blipFill>
          <a:blip r:embed="rId1"/>
          <a:stretch/>
        </p:blipFill>
        <p:spPr>
          <a:xfrm>
            <a:off x="0" y="664920"/>
            <a:ext cx="12191760" cy="5721840"/>
          </a:xfrm>
          <a:prstGeom prst="rect">
            <a:avLst/>
          </a:prstGeom>
          <a:ln w="0">
            <a:noFill/>
          </a:ln>
        </p:spPr>
      </p:pic>
      <p:sp>
        <p:nvSpPr>
          <p:cNvPr id="20" name="TextBox 4"/>
          <p:cNvSpPr/>
          <p:nvPr/>
        </p:nvSpPr>
        <p:spPr>
          <a:xfrm>
            <a:off x="762120" y="1270080"/>
            <a:ext cx="6349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5eead4"/>
                </a:solidFill>
                <a:latin typeface="Pretendard"/>
              </a:rPr>
              <a:t>AI </a:t>
            </a:r>
            <a:r>
              <a:rPr b="1" lang="ko-KR" sz="2000" spc="-1" strike="noStrike">
                <a:solidFill>
                  <a:srgbClr val="5eead4"/>
                </a:solidFill>
                <a:latin typeface="Pretendard"/>
              </a:rPr>
              <a:t>실무 활용 교육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5"/>
          <p:cNvSpPr/>
          <p:nvPr/>
        </p:nvSpPr>
        <p:spPr>
          <a:xfrm>
            <a:off x="762120" y="1778040"/>
            <a:ext cx="66672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Pretendard"/>
              </a:rPr>
              <a:t>ChatGPT × Copilot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ko-KR" sz="5400" spc="-1" strike="noStrike">
                <a:solidFill>
                  <a:srgbClr val="ffffff"/>
                </a:solidFill>
                <a:latin typeface="Pretendard"/>
              </a:rPr>
              <a:t>일 잘하는 </a:t>
            </a:r>
            <a:r>
              <a:rPr b="1" lang="en-US" sz="5400" spc="-1" strike="noStrike">
                <a:solidFill>
                  <a:srgbClr val="ffffff"/>
                </a:solidFill>
                <a:latin typeface="Pretendard"/>
              </a:rPr>
              <a:t>AI </a:t>
            </a:r>
            <a:r>
              <a:rPr b="1" lang="ko-KR" sz="5400" spc="-1" strike="noStrike">
                <a:solidFill>
                  <a:srgbClr val="ffffff"/>
                </a:solidFill>
                <a:latin typeface="Pretendard"/>
              </a:rPr>
              <a:t>활용법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6"/>
          <p:cNvSpPr/>
          <p:nvPr/>
        </p:nvSpPr>
        <p:spPr>
          <a:xfrm>
            <a:off x="762120" y="4064040"/>
            <a:ext cx="634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2200" spc="-1" strike="noStrike">
                <a:solidFill>
                  <a:srgbClr val="c7cce8"/>
                </a:solidFill>
                <a:latin typeface="Pretendard"/>
              </a:rPr>
              <a:t>생성형 </a:t>
            </a:r>
            <a:r>
              <a:rPr b="0" lang="en-US" sz="2200" spc="-1" strike="noStrike">
                <a:solidFill>
                  <a:srgbClr val="c7cce8"/>
                </a:solidFill>
                <a:latin typeface="Pretendard"/>
              </a:rPr>
              <a:t>AI</a:t>
            </a:r>
            <a:r>
              <a:rPr b="0" lang="ko-KR" sz="2200" spc="-1" strike="noStrike">
                <a:solidFill>
                  <a:srgbClr val="c7cce8"/>
                </a:solidFill>
                <a:latin typeface="Pretendard"/>
              </a:rPr>
              <a:t>로 문서</a:t>
            </a:r>
            <a:r>
              <a:rPr b="0" lang="en-US" sz="2200" spc="-1" strike="noStrike">
                <a:solidFill>
                  <a:srgbClr val="c7cce8"/>
                </a:solidFill>
                <a:latin typeface="Pretendard"/>
              </a:rPr>
              <a:t>·</a:t>
            </a:r>
            <a:r>
              <a:rPr b="0" lang="ko-KR" sz="2200" spc="-1" strike="noStrike">
                <a:solidFill>
                  <a:srgbClr val="c7cce8"/>
                </a:solidFill>
                <a:latin typeface="Pretendard"/>
              </a:rPr>
              <a:t>기획</a:t>
            </a:r>
            <a:r>
              <a:rPr b="0" lang="en-US" sz="2200" spc="-1" strike="noStrike">
                <a:solidFill>
                  <a:srgbClr val="c7cce8"/>
                </a:solidFill>
                <a:latin typeface="Pretendard"/>
              </a:rPr>
              <a:t>·</a:t>
            </a:r>
            <a:r>
              <a:rPr b="0" lang="ko-KR" sz="2200" spc="-1" strike="noStrike">
                <a:solidFill>
                  <a:srgbClr val="c7cce8"/>
                </a:solidFill>
                <a:latin typeface="Pretendard"/>
              </a:rPr>
              <a:t>보고 업무를 빠르게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762120" y="4826160"/>
            <a:ext cx="571320" cy="378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Malgun Gothic"/>
            </a:endParaRPr>
          </a:p>
        </p:txBody>
      </p:sp>
      <p:sp>
        <p:nvSpPr>
          <p:cNvPr id="24" name="TextBox 8"/>
          <p:cNvSpPr/>
          <p:nvPr/>
        </p:nvSpPr>
        <p:spPr>
          <a:xfrm>
            <a:off x="762120" y="5079960"/>
            <a:ext cx="634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800" spc="-1" strike="noStrike">
                <a:solidFill>
                  <a:srgbClr val="9aa3c7"/>
                </a:solidFill>
                <a:latin typeface="Pretendard"/>
              </a:rPr>
              <a:t>커리어캐쳐</a:t>
            </a:r>
            <a:r>
              <a:rPr b="0" lang="en-US" sz="1800" spc="-1" strike="noStrike">
                <a:solidFill>
                  <a:srgbClr val="9aa3c7"/>
                </a:solidFill>
                <a:latin typeface="Pretendard"/>
              </a:rPr>
              <a:t>(CareerCatcher)  |  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Freeform 4"/>
          <p:cNvSpPr/>
          <p:nvPr/>
        </p:nvSpPr>
        <p:spPr>
          <a:xfrm>
            <a:off x="10843200" y="23760"/>
            <a:ext cx="1234440" cy="565560"/>
          </a:xfrm>
          <a:custGeom>
            <a:avLst/>
            <a:gdLst>
              <a:gd name="textAreaLeft" fmla="*/ 0 w 1234440"/>
              <a:gd name="textAreaRight" fmla="*/ 1234800 w 1234440"/>
              <a:gd name="textAreaTop" fmla="*/ 0 h 565560"/>
              <a:gd name="textAreaBottom" fmla="*/ 565920 h 565560"/>
            </a:gdLst>
            <a:ahLst/>
            <a:rect l="textAreaLeft" t="textAreaTop" r="textAreaRight" b="textAreaBottom"/>
            <a:pathLst>
              <a:path w="2385860" h="1093519">
                <a:moveTo>
                  <a:pt x="0" y="0"/>
                </a:moveTo>
                <a:lnTo>
                  <a:pt x="2385860" y="0"/>
                </a:lnTo>
                <a:lnTo>
                  <a:pt x="2385860" y="1093519"/>
                </a:lnTo>
                <a:lnTo>
                  <a:pt x="0" y="10935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"/>
          <p:cNvPicPr/>
          <p:nvPr/>
        </p:nvPicPr>
        <p:blipFill>
          <a:blip r:embed="rId1"/>
          <a:stretch/>
        </p:blipFill>
        <p:spPr>
          <a:xfrm rot="16200000">
            <a:off x="7111800" y="990720"/>
            <a:ext cx="465480" cy="1785960"/>
          </a:xfrm>
          <a:prstGeom prst="rect">
            <a:avLst/>
          </a:prstGeom>
          <a:ln w="0">
            <a:noFill/>
          </a:ln>
        </p:spPr>
      </p:pic>
      <p:sp>
        <p:nvSpPr>
          <p:cNvPr id="27" name="TextBox 7"/>
          <p:cNvSpPr/>
          <p:nvPr/>
        </p:nvSpPr>
        <p:spPr>
          <a:xfrm>
            <a:off x="6502320" y="2410200"/>
            <a:ext cx="5740200" cy="41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퍼플커리어컨설팅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 대표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㈜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스탭스 파트너 강사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/ 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전임 컨설턴트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비쥬에듀 파트너 강사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㈜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유니에스 전문 강사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남부여성발전센터 단기과정 운영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前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한국여성벤처협회 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SW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인력양성 사업 운영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前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부트캠프 엘리스 커리어 컨설턴트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前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대학일자리플러스센터 컨설턴트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前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고용노동부 사업 파트장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멘토링 브릿지 멘토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ja-JP" sz="1200" spc="-1" strike="noStrike">
                <a:solidFill>
                  <a:srgbClr val="000000"/>
                </a:solidFill>
                <a:latin typeface="맑은 고딕"/>
                <a:ea typeface="NanumSquareRoundOTF Bold"/>
              </a:rPr>
              <a:t>現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한국취업컨설턴트협회 정회원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6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NCS 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확인강사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[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전자책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] 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취업 준비를 위한 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Chat GPT 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프롬프트 활용 가이드 저자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KAC(</a:t>
            </a: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한국코치협회</a:t>
            </a:r>
            <a:r>
              <a:rPr b="1" lang="en-US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6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숙명여자대학교 인력개발정책학과 박사과정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숙명여자대학교 인재개발전공 석사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16000"/>
              </a:lnSpc>
              <a:buClr>
                <a:srgbClr val="000000"/>
              </a:buClr>
              <a:buFont typeface="Arial"/>
              <a:buChar char="●"/>
            </a:pPr>
            <a:r>
              <a:rPr b="1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청소년 교육학 전공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8"/>
          <p:cNvSpPr/>
          <p:nvPr/>
        </p:nvSpPr>
        <p:spPr>
          <a:xfrm>
            <a:off x="6883560" y="1735560"/>
            <a:ext cx="98172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b="1" lang="ko-KR" sz="1800" spc="-1" strike="noStrike">
                <a:solidFill>
                  <a:schemeClr val="dk1"/>
                </a:solidFill>
                <a:latin typeface="Malgun Gothic"/>
                <a:ea typeface="NanumSquareRoundOTF Bold"/>
              </a:rPr>
              <a:t>강사소개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11"/>
          <p:cNvSpPr/>
          <p:nvPr/>
        </p:nvSpPr>
        <p:spPr>
          <a:xfrm>
            <a:off x="3056400" y="516600"/>
            <a:ext cx="6070320" cy="84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6000"/>
              </a:lnSpc>
            </a:pPr>
            <a:r>
              <a:rPr b="0" lang="en-US" sz="4730" spc="-1" strike="noStrike">
                <a:solidFill>
                  <a:schemeClr val="dk1"/>
                </a:solidFill>
                <a:latin typeface="페이퍼로지 8 ExtraBold"/>
                <a:ea typeface="페이퍼로지 8 ExtraBold"/>
              </a:rPr>
              <a:t>CAREER CATCHER</a:t>
            </a:r>
            <a:endParaRPr b="0" lang="en-US" sz="4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그림 5" descr=""/>
          <p:cNvPicPr/>
          <p:nvPr/>
        </p:nvPicPr>
        <p:blipFill>
          <a:blip r:embed="rId2"/>
          <a:srcRect l="13408" t="11268" r="16575" b="-1254"/>
          <a:stretch/>
        </p:blipFill>
        <p:spPr>
          <a:xfrm>
            <a:off x="1131480" y="1883520"/>
            <a:ext cx="3047760" cy="4660920"/>
          </a:xfrm>
          <a:prstGeom prst="rect">
            <a:avLst/>
          </a:prstGeom>
          <a:ln w="0">
            <a:noFill/>
          </a:ln>
        </p:spPr>
      </p:pic>
      <p:pic>
        <p:nvPicPr>
          <p:cNvPr id="31" name="그림 12" descr=""/>
          <p:cNvPicPr/>
          <p:nvPr/>
        </p:nvPicPr>
        <p:blipFill>
          <a:blip r:embed="rId3"/>
          <a:srcRect l="7326" t="5216" r="0" b="0"/>
          <a:stretch/>
        </p:blipFill>
        <p:spPr>
          <a:xfrm>
            <a:off x="3403440" y="3835440"/>
            <a:ext cx="1961640" cy="261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58000" p14:dur="2000"/>
    </mc:Choice>
    <mc:Fallback>
      <p:transition spd="slow" advTm="5800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Malgun Gothic"/>
            </a:endParaRPr>
          </a:p>
        </p:txBody>
      </p:sp>
      <p:sp>
        <p:nvSpPr>
          <p:cNvPr id="33" name="Rectangle 2"/>
          <p:cNvSpPr/>
          <p:nvPr/>
        </p:nvSpPr>
        <p:spPr>
          <a:xfrm>
            <a:off x="900000" y="2000160"/>
            <a:ext cx="9999720" cy="4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aab4f0"/>
                </a:solidFill>
                <a:latin typeface="Malgun Gothic"/>
              </a:rPr>
              <a:t>INTRO  ·  </a:t>
            </a:r>
            <a:r>
              <a:rPr b="1" lang="ko-KR" sz="1400" spc="-1" strike="noStrike">
                <a:solidFill>
                  <a:srgbClr val="aab4f0"/>
                </a:solidFill>
                <a:latin typeface="Malgun Gothic"/>
              </a:rPr>
              <a:t>도입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Rectangle 3"/>
          <p:cNvSpPr/>
          <p:nvPr/>
        </p:nvSpPr>
        <p:spPr>
          <a:xfrm>
            <a:off x="900000" y="2549880"/>
            <a:ext cx="10399680" cy="12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Malgun Gothic"/>
              </a:rPr>
              <a:t>AI </a:t>
            </a:r>
            <a:r>
              <a:rPr b="1" lang="ko-KR" sz="3200" spc="-1" strike="noStrike">
                <a:solidFill>
                  <a:srgbClr val="ffffff"/>
                </a:solidFill>
                <a:latin typeface="Malgun Gothic"/>
              </a:rPr>
              <a:t>시대</a:t>
            </a:r>
            <a:r>
              <a:rPr b="1" lang="en-US" sz="3200" spc="-1" strike="noStrike">
                <a:solidFill>
                  <a:srgbClr val="ffffff"/>
                </a:solidFill>
                <a:latin typeface="Malgun Gothic"/>
              </a:rPr>
              <a:t>, </a:t>
            </a:r>
            <a:r>
              <a:rPr b="1" lang="ko-KR" sz="3200" spc="-1" strike="noStrike">
                <a:solidFill>
                  <a:srgbClr val="ffffff"/>
                </a:solidFill>
                <a:latin typeface="Malgun Gothic"/>
              </a:rPr>
              <a:t>지금 우리는 어디에 있나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d2d7f5"/>
                </a:solidFill>
                <a:latin typeface="Malgun Gothic"/>
              </a:rPr>
              <a:t>데이터로 보는 </a:t>
            </a:r>
            <a:r>
              <a:rPr b="0" lang="en-US" sz="1600" spc="-1" strike="noStrike">
                <a:solidFill>
                  <a:srgbClr val="d2d7f5"/>
                </a:solidFill>
                <a:latin typeface="Malgun Gothic"/>
              </a:rPr>
              <a:t>AI</a:t>
            </a:r>
            <a:r>
              <a:rPr b="0" lang="ko-KR" sz="1600" spc="-1" strike="noStrike">
                <a:solidFill>
                  <a:srgbClr val="d2d7f5"/>
                </a:solidFill>
                <a:latin typeface="Malgun Gothic"/>
              </a:rPr>
              <a:t>와 일의 변화 → </a:t>
            </a:r>
            <a:r>
              <a:rPr b="0" lang="en-US" sz="1600" spc="-1" strike="noStrike">
                <a:solidFill>
                  <a:srgbClr val="d2d7f5"/>
                </a:solidFill>
                <a:latin typeface="Malgun Gothic"/>
              </a:rPr>
              <a:t>AI </a:t>
            </a:r>
            <a:r>
              <a:rPr b="0" lang="ko-KR" sz="1600" spc="-1" strike="noStrike">
                <a:solidFill>
                  <a:srgbClr val="d2d7f5"/>
                </a:solidFill>
                <a:latin typeface="Malgun Gothic"/>
              </a:rPr>
              <a:t>역량은 어떻게 측정되는가 → 직접 풀어보기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4"/>
          <p:cNvSpPr/>
          <p:nvPr/>
        </p:nvSpPr>
        <p:spPr>
          <a:xfrm>
            <a:off x="900000" y="5600160"/>
            <a:ext cx="1039968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100" spc="-1" strike="noStrike">
                <a:solidFill>
                  <a:srgbClr val="aab4f0"/>
                </a:solidFill>
                <a:latin typeface="Malgun Gothic"/>
              </a:rPr>
              <a:t>자료</a:t>
            </a:r>
            <a:r>
              <a:rPr b="0" lang="en-US" sz="1100" spc="-1" strike="noStrike">
                <a:solidFill>
                  <a:srgbClr val="aab4f0"/>
                </a:solidFill>
                <a:latin typeface="Malgun Gothic"/>
              </a:rPr>
              <a:t>: Anthropic Economic Index </a:t>
            </a:r>
            <a:r>
              <a:rPr b="0" lang="ko-KR" sz="1100" spc="-1" strike="noStrike">
                <a:solidFill>
                  <a:srgbClr val="aab4f0"/>
                </a:solidFill>
                <a:latin typeface="Malgun Gothic"/>
              </a:rPr>
              <a:t>연구</a:t>
            </a:r>
            <a:r>
              <a:rPr b="0" lang="en-US" sz="1100" spc="-1" strike="noStrike">
                <a:solidFill>
                  <a:srgbClr val="aab4f0"/>
                </a:solidFill>
                <a:latin typeface="Malgun Gothic"/>
              </a:rPr>
              <a:t>(2025·2026) · AI </a:t>
            </a:r>
            <a:r>
              <a:rPr b="0" lang="ko-KR" sz="1100" spc="-1" strike="noStrike">
                <a:solidFill>
                  <a:srgbClr val="aab4f0"/>
                </a:solidFill>
                <a:latin typeface="Malgun Gothic"/>
              </a:rPr>
              <a:t>활용평가 유형 분석  </a:t>
            </a:r>
            <a:r>
              <a:rPr b="0" lang="en-US" sz="1100" spc="-1" strike="noStrike">
                <a:solidFill>
                  <a:srgbClr val="aab4f0"/>
                </a:solidFill>
                <a:latin typeface="Malgun Gothic"/>
              </a:rPr>
              <a:t>|  </a:t>
            </a:r>
            <a:r>
              <a:rPr b="0" lang="ko-KR" sz="1100" spc="-1" strike="noStrike">
                <a:solidFill>
                  <a:srgbClr val="aab4f0"/>
                </a:solidFill>
                <a:latin typeface="Malgun Gothic"/>
              </a:rPr>
              <a:t>커리어캐쳐</a:t>
            </a:r>
            <a:r>
              <a:rPr b="0" lang="en-US" sz="1100" spc="-1" strike="noStrike">
                <a:solidFill>
                  <a:srgbClr val="aab4f0"/>
                </a:solidFill>
                <a:latin typeface="Malgun Gothic"/>
              </a:rPr>
              <a:t>(CareerCatcher)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①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지금 우리는 어떤 시대에 있나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AI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는 이미 ‘일의 과제’ 단위로 들어와 있습니다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출처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Anthropic, Handa·Tamkin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외 「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Which Economic Tasks are Performed with AI? Evidence from Millions of Claude Conversations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」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(arXiv:2503.04761, 2025.2)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Rectangle 5"/>
          <p:cNvSpPr/>
          <p:nvPr/>
        </p:nvSpPr>
        <p:spPr>
          <a:xfrm>
            <a:off x="590400" y="1649880"/>
            <a:ext cx="354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약 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400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만 건의 대화 분석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Rectangle 6"/>
          <p:cNvSpPr/>
          <p:nvPr/>
        </p:nvSpPr>
        <p:spPr>
          <a:xfrm>
            <a:off x="59040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Claude.ai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대화를 미국 노동부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O*NET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직업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과제 분류에 연결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“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AI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가 실제로 어떤 일에 쓰이는가”를 처음 대규모로 측정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7"/>
          <p:cNvSpPr/>
          <p:nvPr/>
        </p:nvSpPr>
        <p:spPr>
          <a:xfrm>
            <a:off x="4290120" y="1649880"/>
            <a:ext cx="354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소프트웨어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·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글쓰기 ≈ 절반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Rectangle 8"/>
          <p:cNvSpPr/>
          <p:nvPr/>
        </p:nvSpPr>
        <p:spPr>
          <a:xfrm>
            <a:off x="429012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전체 사용의 절반 가까이가 개발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글쓰기 과제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신체 작업 직군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건설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마취 등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)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은 사용이 거의 없음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ectangle 9"/>
          <p:cNvSpPr/>
          <p:nvPr/>
        </p:nvSpPr>
        <p:spPr>
          <a:xfrm>
            <a:off x="7989840" y="1649880"/>
            <a:ext cx="3549600" cy="419760"/>
          </a:xfrm>
          <a:prstGeom prst="rect">
            <a:avLst/>
          </a:prstGeom>
          <a:solidFill>
            <a:srgbClr val="21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직업의 약 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36%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10"/>
          <p:cNvSpPr/>
          <p:nvPr/>
        </p:nvSpPr>
        <p:spPr>
          <a:xfrm>
            <a:off x="798984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과제의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25%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이상에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AI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를 쓰는 직업 비율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과제의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75%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이상 사용 직업은 약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4%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Rectangle 11"/>
          <p:cNvSpPr/>
          <p:nvPr/>
        </p:nvSpPr>
        <p:spPr>
          <a:xfrm>
            <a:off x="609480" y="4799880"/>
            <a:ext cx="10858320" cy="699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핵심  직업이 통째로 사라지기보다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, </a:t>
            </a: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직업 안의 ‘과제’부터 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AI</a:t>
            </a: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와 나눠 하기 시작했습니다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②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AI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를 쓰는 방식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‘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대신 해주는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AI’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와 ‘함께 하는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AI’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출처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Anthropic, Handa·Tamkin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외 「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Which Economic Tasks are Performed with AI? Evidence from Millions of Claude Conversations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」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(arXiv:2503.04761, 2025.2)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출처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Anthropic, Massenkoff·McCrory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「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Labor market impacts of AI: A new measure and early evidence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」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(2026.3.5)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Rectangle 5"/>
          <p:cNvSpPr/>
          <p:nvPr/>
        </p:nvSpPr>
        <p:spPr>
          <a:xfrm>
            <a:off x="590400" y="1649880"/>
            <a:ext cx="354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증강 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57% ·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자동화 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43%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ectangle 6"/>
          <p:cNvSpPr/>
          <p:nvPr/>
        </p:nvSpPr>
        <p:spPr>
          <a:xfrm>
            <a:off x="59040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증강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배우고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다듬고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함께 반복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자동화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사람 개입 최소로 결과물 수행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(2025.2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보고서 기준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ectangle 7"/>
          <p:cNvSpPr/>
          <p:nvPr/>
        </p:nvSpPr>
        <p:spPr>
          <a:xfrm>
            <a:off x="4290120" y="1649880"/>
            <a:ext cx="354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역량은 아직 다 쓰이지 않음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ectangle 8"/>
          <p:cNvSpPr/>
          <p:nvPr/>
        </p:nvSpPr>
        <p:spPr>
          <a:xfrm>
            <a:off x="429012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Computer·Math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과제의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94%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가 이론상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AI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가능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실제 관찰된 사용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커버리지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)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은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33%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→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활용 격차가 큼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 9"/>
          <p:cNvSpPr/>
          <p:nvPr/>
        </p:nvSpPr>
        <p:spPr>
          <a:xfrm>
            <a:off x="7989840" y="1649880"/>
            <a:ext cx="3549600" cy="419760"/>
          </a:xfrm>
          <a:prstGeom prst="rect">
            <a:avLst/>
          </a:prstGeom>
          <a:solidFill>
            <a:srgbClr val="21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가장 노출된 직업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ectangle 10"/>
          <p:cNvSpPr/>
          <p:nvPr/>
        </p:nvSpPr>
        <p:spPr>
          <a:xfrm>
            <a:off x="798984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프로그래머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75%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고객상담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데이터 입력 직군 상위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노출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0%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근로자도 약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30%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11"/>
          <p:cNvSpPr/>
          <p:nvPr/>
        </p:nvSpPr>
        <p:spPr>
          <a:xfrm>
            <a:off x="609480" y="4799880"/>
            <a:ext cx="10858320" cy="699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핵심  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AI</a:t>
            </a: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가 ‘할 수 있는 일’과 실제 ‘하고 있는 일’ 사이의 간격 — 이 간격을 채우는 사람이 경쟁력입니다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③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일자리에 미치는 영향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일자리 충격은 아직 작지만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신입 채용부터 신호가 보입니다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출처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Anthropic, Massenkoff·McCrory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「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Labor market impacts of AI: A new measure and early evidence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」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(2026.3.5)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590400" y="1649880"/>
            <a:ext cx="354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실업률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: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뚜렷한 증가 없음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ectangle 6"/>
          <p:cNvSpPr/>
          <p:nvPr/>
        </p:nvSpPr>
        <p:spPr>
          <a:xfrm>
            <a:off x="59040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2022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년 말 이후 고노출 직군의 실업률이 체계적으로 늘지는 않음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7"/>
          <p:cNvSpPr/>
          <p:nvPr/>
        </p:nvSpPr>
        <p:spPr>
          <a:xfrm>
            <a:off x="4290120" y="1649880"/>
            <a:ext cx="3549600" cy="419760"/>
          </a:xfrm>
          <a:prstGeom prst="rect">
            <a:avLst/>
          </a:prstGeom>
          <a:solidFill>
            <a:srgbClr val="213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22~25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세 신규 취업 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429012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고노출 직군 입직률이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2022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년 대비 약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14%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하락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“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시사적 근거” 수준 — 확정 아님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9"/>
          <p:cNvSpPr/>
          <p:nvPr/>
        </p:nvSpPr>
        <p:spPr>
          <a:xfrm>
            <a:off x="7989840" y="1649880"/>
            <a:ext cx="354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성장 전망 둔화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10"/>
          <p:cNvSpPr/>
          <p:nvPr/>
        </p:nvSpPr>
        <p:spPr>
          <a:xfrm>
            <a:off x="7989840" y="2070000"/>
            <a:ext cx="3549600" cy="24796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노출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10%p ↑ → 2034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년까지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BLS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고용 성장 전망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0.6%p ↓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고노출 근로자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고학력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고임금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여성 비율 높음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11"/>
          <p:cNvSpPr/>
          <p:nvPr/>
        </p:nvSpPr>
        <p:spPr>
          <a:xfrm>
            <a:off x="609480" y="4799880"/>
            <a:ext cx="10858320" cy="699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핵심  ‘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AI</a:t>
            </a: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를 쓸 줄 아는가’가 첫 일자리의 문턱이 되고 있습니다 → 그래서 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AI </a:t>
            </a:r>
            <a:r>
              <a:rPr b="1" lang="ko-KR" sz="1700" spc="-1" strike="noStrike">
                <a:solidFill>
                  <a:srgbClr val="213edb"/>
                </a:solidFill>
                <a:latin typeface="Malgun Gothic"/>
              </a:rPr>
              <a:t>역량을 측정합니다</a:t>
            </a:r>
            <a:r>
              <a:rPr b="1" lang="en-US" sz="1700" spc="-1" strike="noStrike">
                <a:solidFill>
                  <a:srgbClr val="213edb"/>
                </a:solidFill>
                <a:latin typeface="Malgun Gothic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④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AI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역량은 이렇게 측정됩니다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AI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활용평가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아는가 → 고르는가 → 해내는가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출처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AI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활용평가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(AI Assessment)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미리보기 화면 — 강사 제공 캡처 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5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종 재구성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.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실제 시험 구성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배점은 시행 기관 공지 기준으로 확인 필요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590400" y="1599840"/>
            <a:ext cx="2599560" cy="69948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1.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개념 이해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 6"/>
          <p:cNvSpPr/>
          <p:nvPr/>
        </p:nvSpPr>
        <p:spPr>
          <a:xfrm>
            <a:off x="3190680" y="1599840"/>
            <a:ext cx="8399520" cy="69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텍스트 생성형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다음 단어 확률 예측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)·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이미지 생성형 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AI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의 기능 차이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모달리티 구분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590400" y="2379960"/>
            <a:ext cx="2599560" cy="69948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2.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프롬프트 설계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3190680" y="2379960"/>
            <a:ext cx="8399520" cy="69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상황 지문을 읽고 페르소나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기준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출력 형식 등 다중 조건을 모두 갖춘 프롬프트 고르기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9"/>
          <p:cNvSpPr/>
          <p:nvPr/>
        </p:nvSpPr>
        <p:spPr>
          <a:xfrm>
            <a:off x="590400" y="3160080"/>
            <a:ext cx="2599560" cy="69948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3.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결과 검증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10"/>
          <p:cNvSpPr/>
          <p:nvPr/>
        </p:nvSpPr>
        <p:spPr>
          <a:xfrm>
            <a:off x="3190680" y="3160080"/>
            <a:ext cx="8399520" cy="69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AI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산출물의 오류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예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결측치를 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0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으로 일괄 대체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)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를 찾아 바로잡기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11"/>
          <p:cNvSpPr/>
          <p:nvPr/>
        </p:nvSpPr>
        <p:spPr>
          <a:xfrm>
            <a:off x="590400" y="3939840"/>
            <a:ext cx="2599560" cy="69948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4.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윤리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·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규제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 12"/>
          <p:cNvSpPr/>
          <p:nvPr/>
        </p:nvSpPr>
        <p:spPr>
          <a:xfrm>
            <a:off x="3190680" y="3939840"/>
            <a:ext cx="8399520" cy="69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개인정보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동의 규정을 지키면서 마감을 맞추는 방법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예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합성 데이터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)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판단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13"/>
          <p:cNvSpPr/>
          <p:nvPr/>
        </p:nvSpPr>
        <p:spPr>
          <a:xfrm>
            <a:off x="590400" y="4719960"/>
            <a:ext cx="2599560" cy="69948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</a:rPr>
              <a:t>5.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</a:rPr>
              <a:t>실습형 과제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14"/>
          <p:cNvSpPr/>
          <p:nvPr/>
        </p:nvSpPr>
        <p:spPr>
          <a:xfrm>
            <a:off x="3190680" y="4719960"/>
            <a:ext cx="8399520" cy="69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첨부 파일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(PDF·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이미지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)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을 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AI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어시스턴트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질문 횟수 제한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)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와 함께 분석해 정답 도출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15"/>
          <p:cNvSpPr/>
          <p:nvPr/>
        </p:nvSpPr>
        <p:spPr>
          <a:xfrm>
            <a:off x="590400" y="5580000"/>
            <a:ext cx="11010600" cy="519480"/>
          </a:xfrm>
          <a:prstGeom prst="rect">
            <a:avLst/>
          </a:prstGeom>
          <a:noFill/>
          <a:ln>
            <a:solidFill>
              <a:srgbClr val="213ed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213edb"/>
                </a:solidFill>
                <a:latin typeface="Malgun Gothic"/>
              </a:rPr>
              <a:t>추천 연습 사이트  프로그래머스</a:t>
            </a:r>
            <a:r>
              <a:rPr b="1" lang="en-US" sz="1300" spc="-1" strike="noStrike">
                <a:solidFill>
                  <a:srgbClr val="213edb"/>
                </a:solidFill>
                <a:latin typeface="Malgun Gothic"/>
              </a:rPr>
              <a:t>(programmers.co.kr) — </a:t>
            </a:r>
            <a:r>
              <a:rPr b="1" lang="ko-KR" sz="1300" spc="-1" strike="noStrike">
                <a:solidFill>
                  <a:srgbClr val="213edb"/>
                </a:solidFill>
                <a:latin typeface="Malgun Gothic"/>
              </a:rPr>
              <a:t>코딩</a:t>
            </a:r>
            <a:r>
              <a:rPr b="1" lang="en-US" sz="1300" spc="-1" strike="noStrike">
                <a:solidFill>
                  <a:srgbClr val="213edb"/>
                </a:solidFill>
                <a:latin typeface="Malgun Gothic"/>
              </a:rPr>
              <a:t>·AI </a:t>
            </a:r>
            <a:r>
              <a:rPr b="1" lang="ko-KR" sz="1300" spc="-1" strike="noStrike">
                <a:solidFill>
                  <a:srgbClr val="213edb"/>
                </a:solidFill>
                <a:latin typeface="Malgun Gothic"/>
              </a:rPr>
              <a:t>관련 문제를 직접 풀며 실전 감각을 기르기 좋습니다</a:t>
            </a:r>
            <a:r>
              <a:rPr b="1" lang="en-US" sz="1300" spc="-1" strike="noStrike">
                <a:solidFill>
                  <a:srgbClr val="213edb"/>
                </a:solidFill>
                <a:latin typeface="Malgun Gothic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⑤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직접 풀어보기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[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연습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1]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실제 시험처럼 풀어보기 — 프롬프트 설계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연습문제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커리어캐쳐 자체 제작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(AI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활용평가 객관식 유형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화면 구성 참고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).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정답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해설은 슬라이드 노트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5"/>
          <p:cNvSpPr/>
          <p:nvPr/>
        </p:nvSpPr>
        <p:spPr>
          <a:xfrm>
            <a:off x="590400" y="1450080"/>
            <a:ext cx="3999600" cy="379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500" spc="-1" strike="noStrike">
                <a:solidFill>
                  <a:srgbClr val="15171c"/>
                </a:solidFill>
                <a:latin typeface="Malgun Gothic"/>
              </a:rPr>
              <a:t>1. </a:t>
            </a:r>
            <a:r>
              <a:rPr b="1" lang="ko-KR" sz="1500" spc="-1" strike="noStrike">
                <a:solidFill>
                  <a:srgbClr val="15171c"/>
                </a:solidFill>
                <a:latin typeface="Malgun Gothic"/>
              </a:rPr>
              <a:t>객관식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4200120" y="1490040"/>
            <a:ext cx="1499760" cy="299520"/>
          </a:xfrm>
          <a:prstGeom prst="rect">
            <a:avLst/>
          </a:prstGeom>
          <a:noFill/>
          <a:ln>
            <a:solidFill>
              <a:srgbClr val="61677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다시 풀 문제 ⚑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7"/>
          <p:cNvSpPr/>
          <p:nvPr/>
        </p:nvSpPr>
        <p:spPr>
          <a:xfrm>
            <a:off x="590400" y="1869840"/>
            <a:ext cx="1101060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다음 지문을 읽고 물음에 답하세요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8"/>
          <p:cNvSpPr/>
          <p:nvPr/>
        </p:nvSpPr>
        <p:spPr>
          <a:xfrm>
            <a:off x="640080" y="2270160"/>
            <a:ext cx="59760" cy="89964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Malgun Gothic"/>
            </a:endParaRPr>
          </a:p>
        </p:txBody>
      </p:sp>
      <p:sp>
        <p:nvSpPr>
          <p:cNvPr id="92" name="Rectangle 9"/>
          <p:cNvSpPr/>
          <p:nvPr/>
        </p:nvSpPr>
        <p:spPr>
          <a:xfrm>
            <a:off x="780120" y="2250000"/>
            <a:ext cx="10799640" cy="94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고용센터 취업지원팀의 김 주임은 참여자 만족도 설문 결과를 정리하기 위해 대화형 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AI 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도구를 사용했습니다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. 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그런데 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AI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의 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1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차 산출물을 검토한 결과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응답하지 않은 문항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(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무응답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)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을 인공지능이 임의로 ‘매우 불만족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(1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점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)’</a:t>
            </a:r>
            <a:r>
              <a:rPr b="0" lang="ko-KR" sz="1200" spc="-1" strike="noStrike">
                <a:solidFill>
                  <a:srgbClr val="616773"/>
                </a:solidFill>
                <a:latin typeface="Malgun Gothic"/>
              </a:rPr>
              <a:t>으로 일괄 처리하여 프로그램 만족도가 실제보다 비정상적으로 낮게 계산되는 오류가 발생했습니다</a:t>
            </a:r>
            <a:r>
              <a:rPr b="0" lang="en-US" sz="1200" spc="-1" strike="noStrike">
                <a:solidFill>
                  <a:srgbClr val="616773"/>
                </a:solidFill>
                <a:latin typeface="Malgun Gothic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10"/>
          <p:cNvSpPr/>
          <p:nvPr/>
        </p:nvSpPr>
        <p:spPr>
          <a:xfrm>
            <a:off x="590400" y="3250080"/>
            <a:ext cx="11010600" cy="619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15171c"/>
                </a:solidFill>
                <a:latin typeface="Malgun Gothic"/>
              </a:rPr>
              <a:t>위 지문의 오류를 해결하기 위해 </a:t>
            </a: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1) </a:t>
            </a:r>
            <a:r>
              <a:rPr b="1" lang="ko-KR" sz="1300" spc="-1" strike="noStrike">
                <a:solidFill>
                  <a:srgbClr val="15171c"/>
                </a:solidFill>
                <a:latin typeface="Malgun Gothic"/>
              </a:rPr>
              <a:t>설문 분석 전문가 페르소나 부여</a:t>
            </a: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, 2) </a:t>
            </a:r>
            <a:r>
              <a:rPr b="1" lang="ko-KR" sz="1300" spc="-1" strike="noStrike">
                <a:solidFill>
                  <a:srgbClr val="15171c"/>
                </a:solidFill>
                <a:latin typeface="Malgun Gothic"/>
              </a:rPr>
              <a:t>올바른 무응답 처리 기준 제시</a:t>
            </a: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, 3) </a:t>
            </a:r>
            <a:r>
              <a:rPr b="1" lang="ko-KR" sz="1300" spc="-1" strike="noStrike">
                <a:solidFill>
                  <a:srgbClr val="15171c"/>
                </a:solidFill>
                <a:latin typeface="Malgun Gothic"/>
              </a:rPr>
              <a:t>최종 결과의 표 형태 출력이라는 다중 제약 조건을 모두 만족하는 최적의 프롬프트는 무엇인가요</a:t>
            </a: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11"/>
          <p:cNvSpPr/>
          <p:nvPr/>
        </p:nvSpPr>
        <p:spPr>
          <a:xfrm>
            <a:off x="590400" y="3870000"/>
            <a:ext cx="3999600" cy="27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답안을 선택하세요 ↴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12"/>
          <p:cNvSpPr/>
          <p:nvPr/>
        </p:nvSpPr>
        <p:spPr>
          <a:xfrm>
            <a:off x="590400" y="4150080"/>
            <a:ext cx="11010600" cy="189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① 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너는 설문 분석 전문가야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통계 왜곡을 막기 위해 무응답을 모두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1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점으로 유지하되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문항별 평균 만족도를 한눈에 볼 수 있도록 표 형태로 정리해 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② 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너는 취업지원팀 팀장이야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통계 왜곡을 막기 위해 무응답은 평균 계산에서 제외하고 문항별 응답 수를 함께 적어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최종 결과를 표 형태로 다시 제시해 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③ 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너는 설문 분석 전문가야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통계 왜곡을 막기 위해 무응답은 평균 계산에서 제외하고 문항별 응답 수를 함께 적어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최종 결과를 표 형태로 다시 제시해 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④ 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너는 설문 분석 전문가야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통계 왜곡을 막기 위해 무응답은 평균 계산에서 제외하고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무응답이 발생하게 된 원인을 서술형 문장으로 자세히 설명해 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⑥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직접 풀어보기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[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연습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2]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실제 시험처럼 풀어보기 — 파일 실습형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연습문제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커리어캐쳐 자체 제작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(AI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활용평가 실습형 화면 구성 참고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).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데이터는 가상이며 정답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해설은 슬라이드 노트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590400" y="1400040"/>
            <a:ext cx="11010600" cy="559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200" spc="-1" strike="noStrike">
                <a:solidFill>
                  <a:srgbClr val="15171c"/>
                </a:solidFill>
                <a:latin typeface="Malgun Gothic"/>
              </a:rPr>
              <a:t>주의사항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• 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한 명당 하나의 반만 신청 가능합니다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한 사람이 여러 번 신청한 경우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가장 마지막 신청 이외에는 모두 취소됩니다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예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) 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민준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: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면접반 → 민준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: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자소서반 순서로 신청 시 앞의 신청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면접반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)</a:t>
            </a: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은 취소됨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590400" y="2049840"/>
            <a:ext cx="2299680" cy="149976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100" spc="-1" strike="noStrike">
                <a:solidFill>
                  <a:srgbClr val="15171c"/>
                </a:solidFill>
                <a:latin typeface="Malgun Gothic"/>
              </a:rPr>
              <a:t>파일 목록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특강신청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.pdf      412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100" spc="-1" strike="noStrike">
                <a:solidFill>
                  <a:srgbClr val="15171c"/>
                </a:solidFill>
                <a:latin typeface="Malgun Gothic"/>
              </a:rPr>
              <a:t>참여자명단</a:t>
            </a: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.png   236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2949840" y="2049840"/>
            <a:ext cx="4299480" cy="3299760"/>
          </a:xfrm>
          <a:prstGeom prst="rect">
            <a:avLst/>
          </a:prstGeom>
          <a:noFill/>
          <a:ln>
            <a:solidFill>
              <a:srgbClr val="61677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100" spc="-1" strike="noStrike">
                <a:solidFill>
                  <a:srgbClr val="15171c"/>
                </a:solidFill>
                <a:latin typeface="Malgun Gothic"/>
              </a:rPr>
              <a:t>특강신청</a:t>
            </a:r>
            <a:r>
              <a:rPr b="1" lang="en-US" sz="1100" spc="-1" strike="noStrike">
                <a:solidFill>
                  <a:srgbClr val="15171c"/>
                </a:solidFill>
                <a:latin typeface="Malgun Gothic"/>
              </a:rPr>
              <a:t>.pdf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09:02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민준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면접반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09:10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서연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자소서반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09:15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민준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자소서반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09:21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하은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면접반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09:33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지우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자소서반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09:40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서연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면접반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09:52 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지우 </a:t>
            </a:r>
            <a:r>
              <a:rPr b="0" lang="en-US" sz="1150" spc="-1" strike="noStrike">
                <a:solidFill>
                  <a:srgbClr val="15171c"/>
                </a:solidFill>
                <a:latin typeface="Malgun Gothic"/>
              </a:rPr>
              <a:t>: </a:t>
            </a:r>
            <a:r>
              <a:rPr b="0" lang="ko-KR" sz="1150" spc="-1" strike="noStrike">
                <a:solidFill>
                  <a:srgbClr val="15171c"/>
                </a:solidFill>
                <a:latin typeface="Malgun Gothic"/>
              </a:rPr>
              <a:t>면접반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참여자명단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.png : </a:t>
            </a: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민준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서연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하은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지우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·</a:t>
            </a: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도윤 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(5</a:t>
            </a:r>
            <a:r>
              <a:rPr b="0" lang="ko-KR" sz="1000" spc="-1" strike="noStrike">
                <a:solidFill>
                  <a:srgbClr val="616773"/>
                </a:solidFill>
                <a:latin typeface="Malgun Gothic"/>
              </a:rPr>
              <a:t>명</a:t>
            </a:r>
            <a:r>
              <a:rPr b="0" lang="en-US" sz="1000" spc="-1" strike="noStrike">
                <a:solidFill>
                  <a:srgbClr val="616773"/>
                </a:solidFill>
                <a:latin typeface="Malgun Gothic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8"/>
          <p:cNvSpPr/>
          <p:nvPr/>
        </p:nvSpPr>
        <p:spPr>
          <a:xfrm>
            <a:off x="7400160" y="2049840"/>
            <a:ext cx="4199760" cy="329976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15171c"/>
                </a:solidFill>
                <a:latin typeface="Malgun Gothic"/>
              </a:rPr>
              <a:t>AI </a:t>
            </a:r>
            <a:r>
              <a:rPr b="1" lang="ko-KR" sz="1100" spc="-1" strike="noStrike">
                <a:solidFill>
                  <a:srgbClr val="15171c"/>
                </a:solidFill>
                <a:latin typeface="Malgun Gothic"/>
              </a:rPr>
              <a:t>어시스턴트  ● </a:t>
            </a:r>
            <a:r>
              <a:rPr b="1" lang="en-US" sz="1100" spc="-1" strike="noStrike">
                <a:solidFill>
                  <a:srgbClr val="15171c"/>
                </a:solidFill>
                <a:latin typeface="Malgun Gothic"/>
              </a:rPr>
              <a:t>3</a:t>
            </a:r>
            <a:r>
              <a:rPr b="1" lang="ko-KR" sz="1100" spc="-1" strike="noStrike">
                <a:solidFill>
                  <a:srgbClr val="15171c"/>
                </a:solidFill>
                <a:latin typeface="Malgun Gothic"/>
              </a:rPr>
              <a:t>회 남음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101456"/>
                </a:solidFill>
                <a:latin typeface="Malgun Gothic"/>
              </a:rPr>
              <a:t>나</a:t>
            </a:r>
            <a:r>
              <a:rPr b="0" lang="en-US" sz="1050" spc="-1" strike="noStrike">
                <a:solidFill>
                  <a:srgbClr val="101456"/>
                </a:solidFill>
                <a:latin typeface="Malgun Gothic"/>
              </a:rPr>
              <a:t>: “</a:t>
            </a:r>
            <a:r>
              <a:rPr b="0" lang="ko-KR" sz="1050" spc="-1" strike="noStrike">
                <a:solidFill>
                  <a:srgbClr val="101456"/>
                </a:solidFill>
                <a:latin typeface="Malgun Gothic"/>
              </a:rPr>
              <a:t>특강신청</a:t>
            </a:r>
            <a:r>
              <a:rPr b="0" lang="en-US" sz="1050" spc="-1" strike="noStrike">
                <a:solidFill>
                  <a:srgbClr val="101456"/>
                </a:solidFill>
                <a:latin typeface="Malgun Gothic"/>
              </a:rPr>
              <a:t>.pdf</a:t>
            </a:r>
            <a:r>
              <a:rPr b="0" lang="ko-KR" sz="1050" spc="-1" strike="noStrike">
                <a:solidFill>
                  <a:srgbClr val="101456"/>
                </a:solidFill>
                <a:latin typeface="Malgun Gothic"/>
              </a:rPr>
              <a:t>에서 반별 최종 인원과</a:t>
            </a:r>
            <a:r>
              <a:rPr b="0" lang="en-US" sz="1050" spc="-1" strike="noStrike">
                <a:solidFill>
                  <a:srgbClr val="101456"/>
                </a:solidFill>
                <a:latin typeface="Malgun Gothic"/>
              </a:rPr>
              <a:t>, </a:t>
            </a:r>
            <a:r>
              <a:rPr b="0" lang="ko-KR" sz="1050" spc="-1" strike="noStrike">
                <a:solidFill>
                  <a:srgbClr val="101456"/>
                </a:solidFill>
                <a:latin typeface="Malgun Gothic"/>
              </a:rPr>
              <a:t>참여자명단</a:t>
            </a:r>
            <a:r>
              <a:rPr b="0" lang="en-US" sz="1050" spc="-1" strike="noStrike">
                <a:solidFill>
                  <a:srgbClr val="101456"/>
                </a:solidFill>
                <a:latin typeface="Malgun Gothic"/>
              </a:rPr>
              <a:t>.png </a:t>
            </a:r>
            <a:r>
              <a:rPr b="0" lang="ko-KR" sz="1050" spc="-1" strike="noStrike">
                <a:solidFill>
                  <a:srgbClr val="101456"/>
                </a:solidFill>
                <a:latin typeface="Malgun Gothic"/>
              </a:rPr>
              <a:t>중 미신청자를 알려줘”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15171c"/>
                </a:solidFill>
                <a:latin typeface="Malgun Gothic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AI: “</a:t>
            </a:r>
            <a:r>
              <a:rPr b="0" lang="ko-KR" sz="1050" spc="-1" strike="noStrike">
                <a:solidFill>
                  <a:srgbClr val="15171c"/>
                </a:solidFill>
                <a:latin typeface="Malgun Gothic"/>
              </a:rPr>
              <a:t>면접반 </a:t>
            </a: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4</a:t>
            </a:r>
            <a:r>
              <a:rPr b="0" lang="ko-KR" sz="1050" spc="-1" strike="noStrike">
                <a:solidFill>
                  <a:srgbClr val="15171c"/>
                </a:solidFill>
                <a:latin typeface="Malgun Gothic"/>
              </a:rPr>
              <a:t>명</a:t>
            </a: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050" spc="-1" strike="noStrike">
                <a:solidFill>
                  <a:srgbClr val="15171c"/>
                </a:solidFill>
                <a:latin typeface="Malgun Gothic"/>
              </a:rPr>
              <a:t>자소서반 </a:t>
            </a: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3</a:t>
            </a:r>
            <a:r>
              <a:rPr b="0" lang="ko-KR" sz="1050" spc="-1" strike="noStrike">
                <a:solidFill>
                  <a:srgbClr val="15171c"/>
                </a:solidFill>
                <a:latin typeface="Malgun Gothic"/>
              </a:rPr>
              <a:t>명입니다</a:t>
            </a: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050" spc="-1" strike="noStrike">
                <a:solidFill>
                  <a:srgbClr val="15171c"/>
                </a:solidFill>
                <a:latin typeface="Malgun Gothic"/>
              </a:rPr>
              <a:t>명단 </a:t>
            </a: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5</a:t>
            </a:r>
            <a:r>
              <a:rPr b="0" lang="ko-KR" sz="1050" spc="-1" strike="noStrike">
                <a:solidFill>
                  <a:srgbClr val="15171c"/>
                </a:solidFill>
                <a:latin typeface="Malgun Gothic"/>
              </a:rPr>
              <a:t>명 모두 신청 기록이 있어 미신청자는 없습니다</a:t>
            </a:r>
            <a:r>
              <a:rPr b="0" lang="en-US" sz="1050" spc="-1" strike="noStrike">
                <a:solidFill>
                  <a:srgbClr val="15171c"/>
                </a:solidFill>
                <a:latin typeface="Malgun Gothic"/>
              </a:rPr>
              <a:t>.”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590400" y="5400000"/>
            <a:ext cx="11010600" cy="799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Q. </a:t>
            </a:r>
            <a:r>
              <a:rPr b="1" lang="ko-KR" sz="1300" spc="-1" strike="noStrike">
                <a:solidFill>
                  <a:srgbClr val="15171c"/>
                </a:solidFill>
                <a:latin typeface="Malgun Gothic"/>
              </a:rPr>
              <a:t>주의사항을 적용한 면접반 최종 인원과 미신청자로 옳은 것은</a:t>
            </a: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①  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면접반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4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명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미신청자 없음     ②  면접반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3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명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도윤     ③  면접반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3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명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미신청자 없음     ④  면접반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2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명 </a:t>
            </a:r>
            <a:r>
              <a:rPr b="0" lang="en-US" sz="1200" spc="-1" strike="noStrike">
                <a:solidFill>
                  <a:srgbClr val="15171c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rgbClr val="15171c"/>
                </a:solidFill>
                <a:latin typeface="Malgun Gothic"/>
              </a:rPr>
              <a:t>도윤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⑦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정답 해설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[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연습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1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해설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]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정답 ③ — 조건 세 가지를 모두 갖춘 보기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연습문제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커리어캐쳐 자체 제작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(AI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활용평가 객관식 유형 참고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5"/>
          <p:cNvSpPr/>
          <p:nvPr/>
        </p:nvSpPr>
        <p:spPr>
          <a:xfrm>
            <a:off x="590400" y="1500120"/>
            <a:ext cx="11010600" cy="59976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400" spc="-1" strike="noStrike">
                <a:solidFill>
                  <a:srgbClr val="15171c"/>
                </a:solidFill>
                <a:latin typeface="Malgun Gothic"/>
              </a:rPr>
              <a:t>풀이 방법  보기마다 조건 ① 페르소나 ② 무응답 처리 기준 ③ 표 출력을 하나씩 대조해</a:t>
            </a:r>
            <a:r>
              <a:rPr b="0" lang="en-US" sz="140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400" spc="-1" strike="noStrike">
                <a:solidFill>
                  <a:srgbClr val="15171c"/>
                </a:solidFill>
                <a:latin typeface="Malgun Gothic"/>
              </a:rPr>
              <a:t>셋 다 맞는 보기를 고릅니다</a:t>
            </a:r>
            <a:r>
              <a:rPr b="0" lang="en-US" sz="1400" spc="-1" strike="noStrike">
                <a:solidFill>
                  <a:srgbClr val="15171c"/>
                </a:solidFill>
                <a:latin typeface="Malgun Gothic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590400" y="2250000"/>
            <a:ext cx="129960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ffffff"/>
                </a:solidFill>
                <a:latin typeface="Malgun Gothic"/>
              </a:rPr>
              <a:t>보기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1890720" y="2250000"/>
            <a:ext cx="149976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ffffff"/>
                </a:solidFill>
                <a:latin typeface="Malgun Gothic"/>
              </a:rPr>
              <a:t>판정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 8"/>
          <p:cNvSpPr/>
          <p:nvPr/>
        </p:nvSpPr>
        <p:spPr>
          <a:xfrm>
            <a:off x="3390480" y="2250000"/>
            <a:ext cx="8199720" cy="419760"/>
          </a:xfrm>
          <a:prstGeom prst="rect">
            <a:avLst/>
          </a:prstGeom>
          <a:solidFill>
            <a:srgbClr val="10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ffffff"/>
                </a:solidFill>
                <a:latin typeface="Malgun Gothic"/>
              </a:rPr>
              <a:t>이유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 9"/>
          <p:cNvSpPr/>
          <p:nvPr/>
        </p:nvSpPr>
        <p:spPr>
          <a:xfrm>
            <a:off x="590400" y="2689920"/>
            <a:ext cx="129960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①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10"/>
          <p:cNvSpPr/>
          <p:nvPr/>
        </p:nvSpPr>
        <p:spPr>
          <a:xfrm>
            <a:off x="1890720" y="2689920"/>
            <a:ext cx="149976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616773"/>
                </a:solidFill>
                <a:latin typeface="Malgun Gothic"/>
              </a:rPr>
              <a:t>오답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1"/>
          <p:cNvSpPr/>
          <p:nvPr/>
        </p:nvSpPr>
        <p:spPr>
          <a:xfrm>
            <a:off x="3390480" y="2689920"/>
            <a:ext cx="819972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무응답을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1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점으로 유지 → 왜곡을 일으킨 기준을 그대로 둠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조건 ② 위반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12"/>
          <p:cNvSpPr/>
          <p:nvPr/>
        </p:nvSpPr>
        <p:spPr>
          <a:xfrm>
            <a:off x="590400" y="3250080"/>
            <a:ext cx="129960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②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13"/>
          <p:cNvSpPr/>
          <p:nvPr/>
        </p:nvSpPr>
        <p:spPr>
          <a:xfrm>
            <a:off x="1890720" y="3250080"/>
            <a:ext cx="149976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616773"/>
                </a:solidFill>
                <a:latin typeface="Malgun Gothic"/>
              </a:rPr>
              <a:t>오답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14"/>
          <p:cNvSpPr/>
          <p:nvPr/>
        </p:nvSpPr>
        <p:spPr>
          <a:xfrm>
            <a:off x="3390480" y="3250080"/>
            <a:ext cx="819972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“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취업지원팀 팀장” 역할 → 설문 분석 전문가 페르소나가 아님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조건 ① 위반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15"/>
          <p:cNvSpPr/>
          <p:nvPr/>
        </p:nvSpPr>
        <p:spPr>
          <a:xfrm>
            <a:off x="590400" y="3809880"/>
            <a:ext cx="129960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③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16"/>
          <p:cNvSpPr/>
          <p:nvPr/>
        </p:nvSpPr>
        <p:spPr>
          <a:xfrm>
            <a:off x="1890720" y="3809880"/>
            <a:ext cx="149976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213edb"/>
                </a:solidFill>
                <a:latin typeface="Malgun Gothic"/>
              </a:rPr>
              <a:t>정답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17"/>
          <p:cNvSpPr/>
          <p:nvPr/>
        </p:nvSpPr>
        <p:spPr>
          <a:xfrm>
            <a:off x="3390480" y="3809880"/>
            <a:ext cx="819972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전문가 역할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+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무응답 제외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·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응답 수 표기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+ 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표 출력 → 세 조건 모두 충족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18"/>
          <p:cNvSpPr/>
          <p:nvPr/>
        </p:nvSpPr>
        <p:spPr>
          <a:xfrm>
            <a:off x="590400" y="4370040"/>
            <a:ext cx="129960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15171c"/>
                </a:solidFill>
                <a:latin typeface="Malgun Gothic"/>
              </a:rPr>
              <a:t>④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19"/>
          <p:cNvSpPr/>
          <p:nvPr/>
        </p:nvSpPr>
        <p:spPr>
          <a:xfrm>
            <a:off x="1890720" y="4370040"/>
            <a:ext cx="149976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616773"/>
                </a:solidFill>
                <a:latin typeface="Malgun Gothic"/>
              </a:rPr>
              <a:t>오답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20"/>
          <p:cNvSpPr/>
          <p:nvPr/>
        </p:nvSpPr>
        <p:spPr>
          <a:xfrm>
            <a:off x="3390480" y="4370040"/>
            <a:ext cx="8199720" cy="51948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결과 대신 원인을 서술형 문장으로 요청 → 표 출력이 빠짐 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(</a:t>
            </a:r>
            <a:r>
              <a:rPr b="0" lang="ko-KR" sz="1250" spc="-1" strike="noStrike">
                <a:solidFill>
                  <a:srgbClr val="15171c"/>
                </a:solidFill>
                <a:latin typeface="Malgun Gothic"/>
              </a:rPr>
              <a:t>조건 ③ 위반</a:t>
            </a:r>
            <a:r>
              <a:rPr b="0" lang="en-US" sz="1250" spc="-1" strike="noStrike">
                <a:solidFill>
                  <a:srgbClr val="15171c"/>
                </a:solidFill>
                <a:latin typeface="Malgun Gothic"/>
              </a:rPr>
              <a:t>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21"/>
          <p:cNvSpPr/>
          <p:nvPr/>
        </p:nvSpPr>
        <p:spPr>
          <a:xfrm>
            <a:off x="609480" y="5079960"/>
            <a:ext cx="10858320" cy="4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500" spc="-1" strike="noStrike">
                <a:solidFill>
                  <a:srgbClr val="213edb"/>
                </a:solidFill>
                <a:latin typeface="Malgun Gothic"/>
              </a:rPr>
              <a:t>실무 팁  프롬프트를 보내기 전 “역할</a:t>
            </a:r>
            <a:r>
              <a:rPr b="1" lang="en-US" sz="1500" spc="-1" strike="noStrike">
                <a:solidFill>
                  <a:srgbClr val="213edb"/>
                </a:solidFill>
                <a:latin typeface="Malgun Gothic"/>
              </a:rPr>
              <a:t>·</a:t>
            </a:r>
            <a:r>
              <a:rPr b="1" lang="ko-KR" sz="1500" spc="-1" strike="noStrike">
                <a:solidFill>
                  <a:srgbClr val="213edb"/>
                </a:solidFill>
                <a:latin typeface="Malgun Gothic"/>
              </a:rPr>
              <a:t>기준</a:t>
            </a:r>
            <a:r>
              <a:rPr b="1" lang="en-US" sz="1500" spc="-1" strike="noStrike">
                <a:solidFill>
                  <a:srgbClr val="213edb"/>
                </a:solidFill>
                <a:latin typeface="Malgun Gothic"/>
              </a:rPr>
              <a:t>·</a:t>
            </a:r>
            <a:r>
              <a:rPr b="1" lang="ko-KR" sz="1500" spc="-1" strike="noStrike">
                <a:solidFill>
                  <a:srgbClr val="213edb"/>
                </a:solidFill>
                <a:latin typeface="Malgun Gothic"/>
              </a:rPr>
              <a:t>형식” 세 가지를 체크리스트로 확인하세요</a:t>
            </a:r>
            <a:r>
              <a:rPr b="1" lang="en-US" sz="1500" spc="-1" strike="noStrike">
                <a:solidFill>
                  <a:srgbClr val="213edb"/>
                </a:solidFill>
                <a:latin typeface="Malgun Gothic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도입 ⑧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</a:rPr>
              <a:t>정답 해설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[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연습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2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해설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]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정답 ② — 면접반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3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명 </a:t>
            </a:r>
            <a:r>
              <a:rPr b="1" lang="en-US" sz="2800" spc="-1" strike="noStrike">
                <a:solidFill>
                  <a:srgbClr val="15171c"/>
                </a:solidFill>
                <a:latin typeface="Malgun Gothic"/>
              </a:rPr>
              <a:t>· </a:t>
            </a:r>
            <a:r>
              <a:rPr b="1" lang="ko-KR" sz="2800" spc="-1" strike="noStrike">
                <a:solidFill>
                  <a:srgbClr val="15171c"/>
                </a:solidFill>
                <a:latin typeface="Malgun Gothic"/>
              </a:rPr>
              <a:t>미신청자 도윤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590400" y="6199920"/>
            <a:ext cx="10499760" cy="3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연습문제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: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커리어캐쳐 자체 제작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(AI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활용평가 실습형 유형 참고</a:t>
            </a:r>
            <a:r>
              <a:rPr b="0" lang="en-US" sz="900" spc="-1" strike="noStrike">
                <a:solidFill>
                  <a:srgbClr val="616773"/>
                </a:solidFill>
                <a:latin typeface="Malgun Gothic"/>
              </a:rPr>
              <a:t>). </a:t>
            </a:r>
            <a:r>
              <a:rPr b="0" lang="ko-KR" sz="900" spc="-1" strike="noStrike">
                <a:solidFill>
                  <a:srgbClr val="616773"/>
                </a:solidFill>
                <a:latin typeface="Malgun Gothic"/>
              </a:rPr>
              <a:t>데이터는 가상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</a:rPr>
              <a:t>I-8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590400" y="1500120"/>
            <a:ext cx="5399640" cy="3499560"/>
          </a:xfrm>
          <a:prstGeom prst="rect">
            <a:avLst/>
          </a:prstGeom>
          <a:solidFill>
            <a:srgbClr val="ee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101456"/>
                </a:solidFill>
                <a:latin typeface="Malgun Gothic"/>
              </a:rPr>
              <a:t>1</a:t>
            </a:r>
            <a:r>
              <a:rPr b="1" lang="ko-KR" sz="1400" spc="-1" strike="noStrike">
                <a:solidFill>
                  <a:srgbClr val="101456"/>
                </a:solidFill>
                <a:latin typeface="Malgun Gothic"/>
              </a:rPr>
              <a:t>단계  사람별 마지막 신청만 남기기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민준  면접반 → 자소서반  ⇒ 자소서반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서연  자소서반 → 면접반  ⇒ 면접반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하은  면접반  ⇒ 면접반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지우  자소서반 → 면접반  ⇒ 면접반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213edb"/>
                </a:solidFill>
                <a:latin typeface="Malgun Gothic"/>
              </a:rPr>
              <a:t>최종  면접반 </a:t>
            </a:r>
            <a:r>
              <a:rPr b="1" lang="en-US" sz="1400" spc="-1" strike="noStrike">
                <a:solidFill>
                  <a:srgbClr val="213edb"/>
                </a:solidFill>
                <a:latin typeface="Malgun Gothic"/>
              </a:rPr>
              <a:t>3</a:t>
            </a:r>
            <a:r>
              <a:rPr b="1" lang="ko-KR" sz="1400" spc="-1" strike="noStrike">
                <a:solidFill>
                  <a:srgbClr val="213edb"/>
                </a:solidFill>
                <a:latin typeface="Malgun Gothic"/>
              </a:rPr>
              <a:t>명 </a:t>
            </a:r>
            <a:r>
              <a:rPr b="1" lang="en-US" sz="1400" spc="-1" strike="noStrike">
                <a:solidFill>
                  <a:srgbClr val="213edb"/>
                </a:solidFill>
                <a:latin typeface="Malgun Gothic"/>
              </a:rPr>
              <a:t>· </a:t>
            </a:r>
            <a:r>
              <a:rPr b="1" lang="ko-KR" sz="1400" spc="-1" strike="noStrike">
                <a:solidFill>
                  <a:srgbClr val="213edb"/>
                </a:solidFill>
                <a:latin typeface="Malgun Gothic"/>
              </a:rPr>
              <a:t>자소서반 </a:t>
            </a:r>
            <a:r>
              <a:rPr b="1" lang="en-US" sz="1400" spc="-1" strike="noStrike">
                <a:solidFill>
                  <a:srgbClr val="213edb"/>
                </a:solidFill>
                <a:latin typeface="Malgun Gothic"/>
              </a:rPr>
              <a:t>1</a:t>
            </a:r>
            <a:r>
              <a:rPr b="1" lang="ko-KR" sz="1400" spc="-1" strike="noStrike">
                <a:solidFill>
                  <a:srgbClr val="213edb"/>
                </a:solidFill>
                <a:latin typeface="Malgun Gothic"/>
              </a:rPr>
              <a:t>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101456"/>
                </a:solidFill>
                <a:latin typeface="Malgun Gothic"/>
              </a:rPr>
              <a:t>2</a:t>
            </a:r>
            <a:r>
              <a:rPr b="1" lang="ko-KR" sz="1400" spc="-1" strike="noStrike">
                <a:solidFill>
                  <a:srgbClr val="101456"/>
                </a:solidFill>
                <a:latin typeface="Malgun Gothic"/>
              </a:rPr>
              <a:t>단계  명단과 대조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명단 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5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명 중 신청 기록이 없는 사람  ⇒ 도윤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6"/>
          <p:cNvSpPr/>
          <p:nvPr/>
        </p:nvSpPr>
        <p:spPr>
          <a:xfrm>
            <a:off x="6199920" y="1500120"/>
            <a:ext cx="5399640" cy="3499560"/>
          </a:xfrm>
          <a:prstGeom prst="rect">
            <a:avLst/>
          </a:prstGeom>
          <a:noFill/>
          <a:ln>
            <a:solidFill>
              <a:srgbClr val="10145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101456"/>
                </a:solidFill>
                <a:latin typeface="Malgun Gothic"/>
              </a:rPr>
              <a:t>AI </a:t>
            </a:r>
            <a:r>
              <a:rPr b="1" lang="ko-KR" sz="1400" spc="-1" strike="noStrike">
                <a:solidFill>
                  <a:srgbClr val="101456"/>
                </a:solidFill>
                <a:latin typeface="Malgun Gothic"/>
              </a:rPr>
              <a:t>답이 틀린 이유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• “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면접반 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4·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자소서반 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3”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은 취소된 신청까지 센 건수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•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명단 대조도 하지 않고 “미신청자 없음”으로 답함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400" spc="-1" strike="noStrike">
                <a:solidFill>
                  <a:srgbClr val="101456"/>
                </a:solidFill>
                <a:latin typeface="Malgun Gothic"/>
              </a:rPr>
              <a:t>이렇게 물었다면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“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한 사람이 여러 번 신청했으면 마지막 신청만 남기고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사람별 최종 반을 표로 보여줘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. </a:t>
            </a:r>
            <a:r>
              <a:rPr b="0" lang="ko-KR" sz="1300" spc="-1" strike="noStrike">
                <a:solidFill>
                  <a:srgbClr val="15171c"/>
                </a:solidFill>
                <a:latin typeface="Malgun Gothic"/>
              </a:rPr>
              <a:t>그다음 명단과 대조해 기록이 없는 사람을 찾아줘</a:t>
            </a:r>
            <a:r>
              <a:rPr b="0" lang="en-US" sz="1300" spc="-1" strike="noStrike">
                <a:solidFill>
                  <a:srgbClr val="15171c"/>
                </a:solidFill>
                <a:latin typeface="Malgun Gothic"/>
              </a:rPr>
              <a:t>.”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7"/>
          <p:cNvSpPr/>
          <p:nvPr/>
        </p:nvSpPr>
        <p:spPr>
          <a:xfrm>
            <a:off x="609480" y="5249880"/>
            <a:ext cx="10858320" cy="4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9880" rIns="11988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ko-KR" sz="1500" spc="-1" strike="noStrike">
                <a:solidFill>
                  <a:srgbClr val="213edb"/>
                </a:solidFill>
                <a:latin typeface="Malgun Gothic"/>
              </a:rPr>
              <a:t>실무 팁  질문 횟수가 제한될수록 규칙을 질문에 넣고</a:t>
            </a:r>
            <a:r>
              <a:rPr b="1" lang="en-US" sz="1500" spc="-1" strike="noStrike">
                <a:solidFill>
                  <a:srgbClr val="213edb"/>
                </a:solidFill>
                <a:latin typeface="Malgun Gothic"/>
              </a:rPr>
              <a:t>, AI</a:t>
            </a:r>
            <a:r>
              <a:rPr b="1" lang="ko-KR" sz="1500" spc="-1" strike="noStrike">
                <a:solidFill>
                  <a:srgbClr val="213edb"/>
                </a:solidFill>
                <a:latin typeface="Malgun Gothic"/>
              </a:rPr>
              <a:t>의 답은 중간 과정을 보며 직접 검증하세요</a:t>
            </a:r>
            <a:r>
              <a:rPr b="1" lang="en-US" sz="1500" spc="-1" strike="noStrike">
                <a:solidFill>
                  <a:srgbClr val="213edb"/>
                </a:solidFill>
                <a:latin typeface="Malgun Gothic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그룹 2"/>
          <p:cNvGrpSpPr/>
          <p:nvPr/>
        </p:nvGrpSpPr>
        <p:grpSpPr>
          <a:xfrm>
            <a:off x="558720" y="2362320"/>
            <a:ext cx="5790960" cy="4671000"/>
            <a:chOff x="558720" y="2362320"/>
            <a:chExt cx="5790960" cy="4671000"/>
          </a:xfrm>
        </p:grpSpPr>
        <p:pic>
          <p:nvPicPr>
            <p:cNvPr id="134" name="Picture 2" descr=""/>
            <p:cNvPicPr/>
            <p:nvPr/>
          </p:nvPicPr>
          <p:blipFill>
            <a:blip r:embed="rId1"/>
            <a:stretch/>
          </p:blipFill>
          <p:spPr>
            <a:xfrm rot="16200000">
              <a:off x="1218960" y="1702080"/>
              <a:ext cx="465480" cy="1785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5" name="TextBox 7"/>
            <p:cNvSpPr/>
            <p:nvPr/>
          </p:nvSpPr>
          <p:spPr>
            <a:xfrm>
              <a:off x="609480" y="3121920"/>
              <a:ext cx="5740200" cy="391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생성형 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AI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활용 교육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ChatGPT, Gemini, Claude, Copilot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기반 실무 활용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AI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기반 취업준비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기업분석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직무분석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자기소개서 작성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면접 준비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AI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학습역량 강화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스마트 러너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전공 학습 전략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프롬프트 작성법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AI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윤리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커리어 개발 및 진로설계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진로탐색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강점발견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커리어 리디자인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재취업 설계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포트폴리오 및 개인 브랜딩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Notion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포트폴리오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프로젝트 경험 정리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취업 포트폴리오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구직서류 컨설팅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이력서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자기소개서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경력기술서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직무수행계획서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조직적응 및 심리역량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: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비즈니스 매너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직장적응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스트레스 관리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회복탄력성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TextBox 8"/>
            <p:cNvSpPr/>
            <p:nvPr/>
          </p:nvSpPr>
          <p:spPr>
            <a:xfrm>
              <a:off x="990720" y="2446920"/>
              <a:ext cx="981720" cy="32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99000"/>
                </a:lnSpc>
              </a:pPr>
              <a:r>
                <a:rPr b="1" lang="ko-KR" sz="1800" spc="-1" strike="noStrike">
                  <a:solidFill>
                    <a:schemeClr val="dk1"/>
                  </a:solidFill>
                  <a:latin typeface="Malgun Gothic"/>
                  <a:ea typeface="NanumSquareRoundOTF Bold"/>
                </a:rPr>
                <a:t>전문분야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7" name="TextBox 11"/>
          <p:cNvSpPr/>
          <p:nvPr/>
        </p:nvSpPr>
        <p:spPr>
          <a:xfrm>
            <a:off x="3056400" y="516600"/>
            <a:ext cx="6070320" cy="84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6000"/>
              </a:lnSpc>
            </a:pPr>
            <a:r>
              <a:rPr b="0" lang="en-US" sz="4730" spc="-1" strike="noStrike">
                <a:solidFill>
                  <a:schemeClr val="dk1"/>
                </a:solidFill>
                <a:latin typeface="페이퍼로지 8 ExtraBold"/>
                <a:ea typeface="페이퍼로지 8 ExtraBold"/>
              </a:rPr>
              <a:t>CAREER CATCHER</a:t>
            </a:r>
            <a:endParaRPr b="0" lang="en-US" sz="47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" name="그룹 14"/>
          <p:cNvGrpSpPr/>
          <p:nvPr/>
        </p:nvGrpSpPr>
        <p:grpSpPr>
          <a:xfrm>
            <a:off x="6324480" y="2057760"/>
            <a:ext cx="6095520" cy="4267440"/>
            <a:chOff x="6324480" y="2057760"/>
            <a:chExt cx="6095520" cy="4267440"/>
          </a:xfrm>
        </p:grpSpPr>
        <p:sp>
          <p:nvSpPr>
            <p:cNvPr id="139" name="TextBox 4"/>
            <p:cNvSpPr/>
            <p:nvPr/>
          </p:nvSpPr>
          <p:spPr>
            <a:xfrm>
              <a:off x="6324480" y="2669400"/>
              <a:ext cx="6095520" cy="365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1" lang="ko-KR" sz="1200" spc="-1" strike="noStrike">
                  <a:solidFill>
                    <a:schemeClr val="dk1"/>
                  </a:solidFill>
                  <a:highlight>
                    <a:srgbClr val="ffff00"/>
                  </a:highlight>
                  <a:latin typeface="맑은 고딕"/>
                  <a:ea typeface="맑은 고딕"/>
                </a:rPr>
                <a:t>대학 및 교육기관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서울과학기술대학교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경북대학교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한국공학대학교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한국항공대학교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덕성여자대학교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</a:t>
              </a:r>
              <a:br>
                <a:rPr sz="1200"/>
              </a:b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한남대학교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대전대학교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수원대학교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오산대학교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배화여자대학교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서일대학교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대구가톨릭대학교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청운대학교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경동대학교 등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50000"/>
                </a:lnSpc>
              </a:pPr>
              <a:r>
                <a:rPr b="1" lang="ko-KR" sz="1200" spc="-1" strike="noStrike">
                  <a:solidFill>
                    <a:schemeClr val="dk1"/>
                  </a:solidFill>
                  <a:highlight>
                    <a:srgbClr val="ffff00"/>
                  </a:highlight>
                  <a:latin typeface="맑은 고딕"/>
                  <a:ea typeface="맑은 고딕"/>
                </a:rPr>
                <a:t>공공기관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서울동부고용센터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서울서부고용센터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서울남부고용센터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인천북부고용센터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인천서부고용센터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부천고용센터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강남구청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동두천시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남양주시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양주시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의정부시 등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노원여성인력개발센터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남부여성발전센터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대전동구통합가족센터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50000"/>
                </a:lnSpc>
              </a:pPr>
              <a:r>
                <a:rPr b="1" lang="ko-KR" sz="1200" spc="-1" strike="noStrike">
                  <a:solidFill>
                    <a:schemeClr val="dk1"/>
                  </a:solidFill>
                  <a:highlight>
                    <a:srgbClr val="ffff00"/>
                  </a:highlight>
                  <a:latin typeface="맑은 고딕"/>
                  <a:ea typeface="맑은 고딕"/>
                </a:rPr>
                <a:t>기업 및 민간 교육기관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 indent="-190440" defTabSz="914400">
                <a:lnSpc>
                  <a:spcPct val="15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한전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KDN 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현대기아 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Here We Go,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삼성청년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SW·AI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아카데미 </a:t>
              </a:r>
              <a:br>
                <a:rPr sz="1200"/>
              </a:b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엘리스그룹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, 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부트캠프 오즈 등 </a:t>
              </a:r>
              <a:r>
                <a:rPr b="0" lang="en-US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IT·</a:t>
              </a:r>
              <a:r>
                <a:rPr b="0" lang="ko-KR" sz="1200" spc="-1" strike="noStrike">
                  <a:solidFill>
                    <a:schemeClr val="dk1"/>
                  </a:solidFill>
                  <a:latin typeface="맑은 고딕"/>
                  <a:ea typeface="맑은 고딕"/>
                </a:rPr>
                <a:t>디지털 인재양성 과정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0" name="그룹 8"/>
            <p:cNvGrpSpPr/>
            <p:nvPr/>
          </p:nvGrpSpPr>
          <p:grpSpPr>
            <a:xfrm>
              <a:off x="6324480" y="2057760"/>
              <a:ext cx="1785960" cy="465480"/>
              <a:chOff x="6324480" y="2057760"/>
              <a:chExt cx="1785960" cy="465480"/>
            </a:xfrm>
          </p:grpSpPr>
          <p:pic>
            <p:nvPicPr>
              <p:cNvPr id="141" name="Picture 2" descr=""/>
              <p:cNvPicPr/>
              <p:nvPr/>
            </p:nvPicPr>
            <p:blipFill>
              <a:blip r:embed="rId2"/>
              <a:stretch/>
            </p:blipFill>
            <p:spPr>
              <a:xfrm rot="16200000">
                <a:off x="6984720" y="1397520"/>
                <a:ext cx="465480" cy="17859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42" name="TextBox 8"/>
              <p:cNvSpPr/>
              <p:nvPr/>
            </p:nvSpPr>
            <p:spPr>
              <a:xfrm>
                <a:off x="6756480" y="2142000"/>
                <a:ext cx="981720" cy="321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defTabSz="914400">
                  <a:lnSpc>
                    <a:spcPct val="99000"/>
                  </a:lnSpc>
                </a:pPr>
                <a:r>
                  <a:rPr b="1" lang="ko-KR" sz="1800" spc="-1" strike="noStrike">
                    <a:solidFill>
                      <a:schemeClr val="dk1"/>
                    </a:solidFill>
                    <a:latin typeface="Malgun Gothic"/>
                    <a:ea typeface="NanumSquareRoundOTF Bold"/>
                  </a:rPr>
                  <a:t>협업기관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advTm="58000" p14:dur="2000"/>
    </mc:Choice>
    <mc:Fallback>
      <p:transition spd="slow" advTm="5800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그림 11" descr=""/>
          <p:cNvPicPr/>
          <p:nvPr/>
        </p:nvPicPr>
        <p:blipFill>
          <a:blip r:embed="rId1"/>
          <a:srcRect l="4656" t="0" r="4656" b="0"/>
          <a:stretch/>
        </p:blipFill>
        <p:spPr>
          <a:xfrm>
            <a:off x="6939720" y="0"/>
            <a:ext cx="5251680" cy="6857640"/>
          </a:xfrm>
          <a:prstGeom prst="rect">
            <a:avLst/>
          </a:prstGeom>
          <a:ln w="0">
            <a:noFill/>
          </a:ln>
        </p:spPr>
      </p:pic>
      <p:sp>
        <p:nvSpPr>
          <p:cNvPr id="144" name="shape-4"/>
          <p:cNvSpPr/>
          <p:nvPr/>
        </p:nvSpPr>
        <p:spPr>
          <a:xfrm>
            <a:off x="590400" y="876240"/>
            <a:ext cx="6762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ChatGPT · Copilot · Codex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-5"/>
          <p:cNvSpPr/>
          <p:nvPr/>
        </p:nvSpPr>
        <p:spPr>
          <a:xfrm>
            <a:off x="571680" y="1752480"/>
            <a:ext cx="71434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380" spc="-1" strike="noStrike">
                <a:solidFill>
                  <a:srgbClr val="15171c"/>
                </a:solidFill>
                <a:latin typeface="Malgun Gothic"/>
                <a:ea typeface="Malgun Gothic"/>
              </a:rPr>
              <a:t>1</a:t>
            </a:r>
            <a:r>
              <a:rPr b="1" lang="ko-KR" sz="3380" spc="-1" strike="noStrike">
                <a:solidFill>
                  <a:srgbClr val="15171c"/>
                </a:solidFill>
                <a:latin typeface="Malgun Gothic"/>
                <a:ea typeface="Malgun Gothic"/>
              </a:rPr>
              <a:t>회기 질문 설계와 기획</a:t>
            </a:r>
            <a:endParaRPr b="0" lang="en-US" sz="3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-6"/>
          <p:cNvSpPr/>
          <p:nvPr/>
        </p:nvSpPr>
        <p:spPr>
          <a:xfrm>
            <a:off x="552600" y="2514600"/>
            <a:ext cx="742932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5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AI </a:t>
            </a:r>
            <a:r>
              <a:rPr b="1" lang="ko-KR" sz="5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기획 실무</a:t>
            </a:r>
            <a:endParaRPr b="0" lang="en-US" sz="5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-7"/>
          <p:cNvSpPr/>
          <p:nvPr/>
        </p:nvSpPr>
        <p:spPr>
          <a:xfrm>
            <a:off x="590400" y="3714840"/>
            <a:ext cx="71434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4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내 직무의 자료로 기획 초안 만들기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-8"/>
          <p:cNvSpPr/>
          <p:nvPr/>
        </p:nvSpPr>
        <p:spPr>
          <a:xfrm>
            <a:off x="609480" y="5019840"/>
            <a:ext cx="6762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1</a:t>
            </a:r>
            <a:r>
              <a:rPr b="0" lang="ko-KR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회기 </a:t>
            </a:r>
            <a:r>
              <a:rPr b="0" lang="en-US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3</a:t>
            </a:r>
            <a:r>
              <a:rPr b="0" lang="ko-KR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시간  </a:t>
            </a:r>
            <a:r>
              <a:rPr b="0" lang="en-US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|  50</a:t>
            </a:r>
            <a:r>
              <a:rPr b="0" lang="ko-KR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분 수업 </a:t>
            </a:r>
            <a:r>
              <a:rPr b="0" lang="en-US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+ 10</a:t>
            </a:r>
            <a:r>
              <a:rPr b="0" lang="ko-KR" sz="16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분 휴식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-9"/>
          <p:cNvSpPr/>
          <p:nvPr/>
        </p:nvSpPr>
        <p:spPr>
          <a:xfrm>
            <a:off x="609480" y="5495760"/>
            <a:ext cx="6857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프리랜서</a:t>
            </a:r>
            <a:r>
              <a:rPr b="0" lang="en-US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온라인 마켓 운영자 </a:t>
            </a:r>
            <a:r>
              <a:rPr b="0" lang="en-US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/ </a:t>
            </a:r>
            <a:r>
              <a:rPr b="0" lang="ko-KR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교육자 </a:t>
            </a:r>
            <a:r>
              <a:rPr b="0" lang="en-US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/ </a:t>
            </a:r>
            <a:r>
              <a:rPr b="0" lang="ko-KR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도매업자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-10"/>
          <p:cNvSpPr/>
          <p:nvPr/>
        </p:nvSpPr>
        <p:spPr>
          <a:xfrm>
            <a:off x="609480" y="6353280"/>
            <a:ext cx="2857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ession1-201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1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회기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운영 안내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ession1-202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오늘은 한 직무의 작은 초안을 완성합니다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ession1-204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ession1-205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표 5"/>
          <p:cNvGraphicFramePr/>
          <p:nvPr/>
        </p:nvGraphicFramePr>
        <p:xfrm>
          <a:off x="590400" y="2085840"/>
          <a:ext cx="11010600" cy="2838240"/>
        </p:xfrm>
        <a:graphic>
          <a:graphicData uri="http://schemas.openxmlformats.org/drawingml/2006/table">
            <a:tbl>
              <a:tblPr/>
              <a:tblGrid>
                <a:gridCol w="1238040"/>
                <a:gridCol w="6190920"/>
                <a:gridCol w="3581280"/>
              </a:tblGrid>
              <a:tr h="709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729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블록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729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수업 내용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729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남길 결과물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709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01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무료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Codex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시작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직무 선택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상황과 자료를 담은 컨텍스트 작성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컨텍스트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개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재사용 질문 틀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02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자료 품질 점검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처리 승인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대시보드 초안과 핵심 수치 확인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점검표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검산한 수치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개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709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03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한 장 기획안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카드뉴스 문안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피드백과 수정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기획안 초안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장 구성 초안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session1-207"/>
          <p:cNvSpPr/>
          <p:nvPr/>
        </p:nvSpPr>
        <p:spPr>
          <a:xfrm>
            <a:off x="609480" y="5667480"/>
            <a:ext cx="10858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핵심 순서  컨텍스트 → 데이터 점검 → 현황 확인 → 기획안 → 외부 문안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ession1-208"/>
          <p:cNvSpPr/>
          <p:nvPr/>
        </p:nvSpPr>
        <p:spPr>
          <a:xfrm>
            <a:off x="609480" y="6114960"/>
            <a:ext cx="10858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완성 디자인과 현업 확장은 </a:t>
            </a:r>
            <a:r>
              <a:rPr b="0" lang="en-US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2</a:t>
            </a:r>
            <a:r>
              <a:rPr b="0" lang="ko-KR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회기에서 이어갑니다</a:t>
            </a:r>
            <a:r>
              <a:rPr b="0" lang="en-US" sz="15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ession1-209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블록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01 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무료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Codex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시작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ession1-210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직무 폴더와 자료 두 개로 시작합니다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ession1-211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수업 전 준비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: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앱 설치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본인 계정 로그인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실습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ZIP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압축 해제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ession1-212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ession1-213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ession1-214"/>
          <p:cNvSpPr/>
          <p:nvPr/>
        </p:nvSpPr>
        <p:spPr>
          <a:xfrm>
            <a:off x="590400" y="2162160"/>
            <a:ext cx="2381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3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01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ession1-215"/>
          <p:cNvSpPr/>
          <p:nvPr/>
        </p:nvSpPr>
        <p:spPr>
          <a:xfrm>
            <a:off x="590400" y="2876400"/>
            <a:ext cx="2533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직무 폴더 선택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ession1-216"/>
          <p:cNvSpPr/>
          <p:nvPr/>
        </p:nvSpPr>
        <p:spPr>
          <a:xfrm>
            <a:off x="590400" y="3429000"/>
            <a:ext cx="24001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market / educator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wholesale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중 하나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ession1-217"/>
          <p:cNvSpPr/>
          <p:nvPr/>
        </p:nvSpPr>
        <p:spPr>
          <a:xfrm>
            <a:off x="2933640" y="2800440"/>
            <a:ext cx="33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9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ession1-218"/>
          <p:cNvSpPr/>
          <p:nvPr/>
        </p:nvSpPr>
        <p:spPr>
          <a:xfrm>
            <a:off x="3381480" y="2162160"/>
            <a:ext cx="2381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3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02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ession1-219"/>
          <p:cNvSpPr/>
          <p:nvPr/>
        </p:nvSpPr>
        <p:spPr>
          <a:xfrm>
            <a:off x="3381480" y="2876400"/>
            <a:ext cx="2533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컨텍스트 읽기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ession1-220"/>
          <p:cNvSpPr/>
          <p:nvPr/>
        </p:nvSpPr>
        <p:spPr>
          <a:xfrm>
            <a:off x="3381480" y="3429000"/>
            <a:ext cx="24001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context.txt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상황과 기준 읽기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ession1-221"/>
          <p:cNvSpPr/>
          <p:nvPr/>
        </p:nvSpPr>
        <p:spPr>
          <a:xfrm>
            <a:off x="5724360" y="2800440"/>
            <a:ext cx="33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9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ession1-222"/>
          <p:cNvSpPr/>
          <p:nvPr/>
        </p:nvSpPr>
        <p:spPr>
          <a:xfrm>
            <a:off x="6172200" y="2162160"/>
            <a:ext cx="2381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3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03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ession1-223"/>
          <p:cNvSpPr/>
          <p:nvPr/>
        </p:nvSpPr>
        <p:spPr>
          <a:xfrm>
            <a:off x="6172200" y="2876400"/>
            <a:ext cx="2533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원본 점검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ession1-224"/>
          <p:cNvSpPr/>
          <p:nvPr/>
        </p:nvSpPr>
        <p:spPr>
          <a:xfrm>
            <a:off x="6172200" y="3429000"/>
            <a:ext cx="24001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raw.csv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오류와 보류 구분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ession1-225"/>
          <p:cNvSpPr/>
          <p:nvPr/>
        </p:nvSpPr>
        <p:spPr>
          <a:xfrm>
            <a:off x="8515440" y="2800440"/>
            <a:ext cx="33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9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ession1-226"/>
          <p:cNvSpPr/>
          <p:nvPr/>
        </p:nvSpPr>
        <p:spPr>
          <a:xfrm>
            <a:off x="8962920" y="2162160"/>
            <a:ext cx="2381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3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04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ession1-227"/>
          <p:cNvSpPr/>
          <p:nvPr/>
        </p:nvSpPr>
        <p:spPr>
          <a:xfrm>
            <a:off x="8962920" y="2876400"/>
            <a:ext cx="2533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15171c"/>
                </a:solidFill>
                <a:latin typeface="Malgun Gothic"/>
                <a:ea typeface="Malgun Gothic"/>
              </a:rPr>
              <a:t>결과 확인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ession1-228"/>
          <p:cNvSpPr/>
          <p:nvPr/>
        </p:nvSpPr>
        <p:spPr>
          <a:xfrm>
            <a:off x="8962920" y="3429000"/>
            <a:ext cx="24001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example.html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또는 학생 파일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8" name="표 20"/>
          <p:cNvGraphicFramePr/>
          <p:nvPr/>
        </p:nvGraphicFramePr>
        <p:xfrm>
          <a:off x="590400" y="4543560"/>
          <a:ext cx="11010600" cy="1571400"/>
        </p:xfrm>
        <a:graphic>
          <a:graphicData uri="http://schemas.openxmlformats.org/drawingml/2006/table">
            <a:tbl>
              <a:tblPr/>
              <a:tblGrid>
                <a:gridCol w="3524040"/>
                <a:gridCol w="7486560"/>
              </a:tblGrid>
              <a:tr h="392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파일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사용 방법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392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context.txt + raw.csv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Codex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에서 선택한 폴더를 열고 이 두 파일을 지정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2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prompts.txt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0 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자료 점검부터 요청을 한 단계씩 붙여 넣기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392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example.html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브라우저로 먼저 확인하고 숫자</a:t>
                      </a: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문안을 바꾸기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ession1-229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블록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01 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무료 이용 범위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ession1-230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무료 </a:t>
            </a:r>
            <a:r>
              <a:rPr b="1" lang="en-US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Codex</a:t>
            </a: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에서는 작은 파일 작업부터 진행합니다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ession1-231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공식 안내 확인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2026.10.22  | 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실제 계정의 제공 상태와 사용량을 수업 전에 확인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ession1-232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ession1-233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4" name="표 5"/>
          <p:cNvGraphicFramePr/>
          <p:nvPr/>
        </p:nvGraphicFramePr>
        <p:xfrm>
          <a:off x="590400" y="2057400"/>
          <a:ext cx="11010600" cy="3276360"/>
        </p:xfrm>
        <a:graphic>
          <a:graphicData uri="http://schemas.openxmlformats.org/drawingml/2006/table">
            <a:tbl>
              <a:tblPr/>
              <a:tblGrid>
                <a:gridCol w="2190600"/>
                <a:gridCol w="8820000"/>
              </a:tblGrid>
              <a:tr h="655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729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확인할 점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729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이번 수업의 진행 방법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655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접근과 모델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Free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데스크톱 접근은 순차 제공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계정에서 실제 사용 가능한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Codex·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모델 확인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사용량 한도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고정 요청 횟수나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시간 연속 생성을 보장하지 않음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짧게 요청하고 결과 확인 후 다음 단계 진행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655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이미지 생성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무료 플랜에서 이미지 생성 미제공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글자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도형 카드뉴스와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PDF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인쇄로 구성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비용과 연결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API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키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유료 플러그인 없이 로컬 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HTML·TXT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사용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실시간 판매</a:t>
                      </a:r>
                      <a:r>
                        <a:rPr b="0" lang="en-US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·ERP </a:t>
                      </a:r>
                      <a:r>
                        <a:rPr b="0" lang="zh-CN" sz="1729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연동은 이번 실습 범위에서 제외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85" name="session1-234"/>
          <p:cNvSpPr/>
          <p:nvPr/>
        </p:nvSpPr>
        <p:spPr>
          <a:xfrm>
            <a:off x="609480" y="5648400"/>
            <a:ext cx="10839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한도에 도달하면  배포된 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example.html</a:t>
            </a: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로 검산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문안 수정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짝 피드백을 이어갑니다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.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ession1-235"/>
          <p:cNvSpPr/>
          <p:nvPr/>
        </p:nvSpPr>
        <p:spPr>
          <a:xfrm>
            <a:off x="609480" y="6124680"/>
            <a:ext cx="10858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수업 전 계정 로그인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작은 파일 수정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남은 사용량을 직접 확인하세요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ession1-236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블록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01 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학습자 작성 양식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ession1-237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컨텍스트는 </a:t>
            </a:r>
            <a:r>
              <a:rPr b="1" lang="en-US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AI</a:t>
            </a: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가 일할 상황과 기준입니다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ession1-238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직무명만 바꾸지 말고 기간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단위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모르는 정보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공유 범위를 함께 적습니다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ession1-239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ession1-240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2" name="표 5"/>
          <p:cNvGraphicFramePr/>
          <p:nvPr/>
        </p:nvGraphicFramePr>
        <p:xfrm>
          <a:off x="590400" y="1990800"/>
          <a:ext cx="11010600" cy="3438000"/>
        </p:xfrm>
        <a:graphic>
          <a:graphicData uri="http://schemas.openxmlformats.org/drawingml/2006/table">
            <a:tbl>
              <a:tblPr/>
              <a:tblGrid>
                <a:gridCol w="2476440"/>
                <a:gridCol w="8534160"/>
              </a:tblGrid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내가 입력할 내용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내 역할과 문제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나는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이며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, __________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을 결정하려 한다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자료와 집계 단위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기간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한 행의 의미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단위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분모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확인된 조건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원자료로 확인한 사실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__________________________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모르는 정보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확인 필요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_________________________________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원하는 결과물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대시보드 핵심 지표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개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+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한 장 기획안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+ 4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장 문안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1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검토와 공유 범위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직접 확인할 값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외부에 넣지 않을 정보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93" name="session1-241"/>
          <p:cNvSpPr/>
          <p:nvPr/>
        </p:nvSpPr>
        <p:spPr>
          <a:xfrm>
            <a:off x="609480" y="5781600"/>
            <a:ext cx="10858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729" spc="-1" strike="noStrike">
                <a:solidFill>
                  <a:srgbClr val="101456"/>
                </a:solidFill>
                <a:latin typeface="Malgun Gothic"/>
                <a:ea typeface="Malgun Gothic"/>
              </a:rPr>
              <a:t>좋은 질문  “자료의 오류와 처리안부터 제안해줘</a:t>
            </a:r>
            <a:r>
              <a:rPr b="1" lang="en-US" sz="1729" spc="-1" strike="noStrike">
                <a:solidFill>
                  <a:srgbClr val="101456"/>
                </a:solidFill>
                <a:latin typeface="Malgun Gothic"/>
                <a:ea typeface="Malgun Gothic"/>
              </a:rPr>
              <a:t>. </a:t>
            </a:r>
            <a:r>
              <a:rPr b="1" lang="ko-KR" sz="1729" spc="-1" strike="noStrike">
                <a:solidFill>
                  <a:srgbClr val="101456"/>
                </a:solidFill>
                <a:latin typeface="Malgun Gothic"/>
                <a:ea typeface="Malgun Gothic"/>
              </a:rPr>
              <a:t>원본은 보존하고</a:t>
            </a:r>
            <a:r>
              <a:rPr b="1" lang="en-US" sz="1729" spc="-1" strike="noStrike">
                <a:solidFill>
                  <a:srgbClr val="101456"/>
                </a:solidFill>
                <a:latin typeface="Malgun Gothic"/>
                <a:ea typeface="Malgun Gothic"/>
              </a:rPr>
              <a:t>, </a:t>
            </a:r>
            <a:r>
              <a:rPr b="1" lang="ko-KR" sz="1729" spc="-1" strike="noStrike">
                <a:solidFill>
                  <a:srgbClr val="101456"/>
                </a:solidFill>
                <a:latin typeface="Malgun Gothic"/>
                <a:ea typeface="Malgun Gothic"/>
              </a:rPr>
              <a:t>내 승인 후 집계해줘</a:t>
            </a:r>
            <a:r>
              <a:rPr b="1" lang="en-US" sz="1729" spc="-1" strike="noStrike">
                <a:solidFill>
                  <a:srgbClr val="101456"/>
                </a:solidFill>
                <a:latin typeface="Malgun Gothic"/>
                <a:ea typeface="Malgun Gothic"/>
              </a:rPr>
              <a:t>.”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ession1-242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블록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02 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데이터 품질 점검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ession1-243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원본을 보존하고 제외와 보류를 구분합니다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ession1-244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첫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4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행은 유효 자료 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| 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같은 행 집합으로 비교하고 수치 두 개를 직접 계산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ession1-245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ession1-246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9" name="표 5"/>
          <p:cNvGraphicFramePr/>
          <p:nvPr/>
        </p:nvGraphicFramePr>
        <p:xfrm>
          <a:off x="590400" y="2038320"/>
          <a:ext cx="11010600" cy="1933200"/>
        </p:xfrm>
        <a:graphic>
          <a:graphicData uri="http://schemas.openxmlformats.org/drawingml/2006/table">
            <a:tbl>
              <a:tblPr/>
              <a:tblGrid>
                <a:gridCol w="2000160"/>
                <a:gridCol w="2381040"/>
                <a:gridCol w="3619440"/>
                <a:gridCol w="3009600"/>
              </a:tblGrid>
              <a:tr h="483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직무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확인된 중복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미확인 값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처리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83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온라인 마켓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M05 = M02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M06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반품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환불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중복 제외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/ M06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보류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교육자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E05 = E04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E06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출석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응답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점수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중복 제외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/ E06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보류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83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도매업자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W05 = W02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W06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가용재고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중복 제외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/ W06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보류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session1-247"/>
          <p:cNvSpPr/>
          <p:nvPr/>
        </p:nvSpPr>
        <p:spPr>
          <a:xfrm>
            <a:off x="609480" y="4276800"/>
            <a:ext cx="10858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학습자 기록  무엇을 왜 고치거나 보류했는지 남깁니다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.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1" name="표 7"/>
          <p:cNvGraphicFramePr/>
          <p:nvPr/>
        </p:nvGraphicFramePr>
        <p:xfrm>
          <a:off x="590400" y="4762440"/>
          <a:ext cx="11010600" cy="1323720"/>
        </p:xfrm>
        <a:graphic>
          <a:graphicData uri="http://schemas.openxmlformats.org/drawingml/2006/table">
            <a:tbl>
              <a:tblPr/>
              <a:tblGrid>
                <a:gridCol w="1428480"/>
                <a:gridCol w="3524040"/>
                <a:gridCol w="3028680"/>
                <a:gridCol w="3028680"/>
              </a:tblGrid>
              <a:tr h="441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행 </a:t>
                      </a:r>
                      <a:r>
                        <a:rPr b="1" lang="en-US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문제와 근거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수정 </a:t>
                      </a:r>
                      <a:r>
                        <a:rPr b="1" lang="en-US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제외 </a:t>
                      </a:r>
                      <a:r>
                        <a:rPr b="1" lang="en-US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보류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추가 확인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41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1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ession1-248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직무별 예시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온라인 마켓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ession1-249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온라인 마켓 컨텍스트와 입력 자료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ession1-250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교육용 가상 자료입니다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내 직무를 선택해 같은 자료를 결과물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3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개로 연결합니다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ession1-251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ession1-252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ession1-253"/>
          <p:cNvSpPr/>
          <p:nvPr/>
        </p:nvSpPr>
        <p:spPr>
          <a:xfrm>
            <a:off x="609480" y="2057400"/>
            <a:ext cx="535284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역할  온라인 소품 판매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·</a:t>
            </a: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콘텐츠 운영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문제  어떤 상품의 상세 정보를 먼저 고칠까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?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ession1-254"/>
          <p:cNvSpPr/>
          <p:nvPr/>
        </p:nvSpPr>
        <p:spPr>
          <a:xfrm>
            <a:off x="6257880" y="2057400"/>
            <a:ext cx="531468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단위  상품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주차별 집계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/ 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금액은 원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기준  순매출과 반품률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/ 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순이익은 미제공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9" name="표 7"/>
          <p:cNvGraphicFramePr/>
          <p:nvPr/>
        </p:nvGraphicFramePr>
        <p:xfrm>
          <a:off x="590400" y="3276720"/>
          <a:ext cx="11010600" cy="2161800"/>
        </p:xfrm>
        <a:graphic>
          <a:graphicData uri="http://schemas.openxmlformats.org/drawingml/2006/table">
            <a:tbl>
              <a:tblPr/>
              <a:tblGrid>
                <a:gridCol w="723600"/>
                <a:gridCol w="1095120"/>
                <a:gridCol w="1714320"/>
                <a:gridCol w="1495080"/>
                <a:gridCol w="1495080"/>
                <a:gridCol w="1495080"/>
                <a:gridCol w="1495080"/>
                <a:gridCol w="1495080"/>
              </a:tblGrid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행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주차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상품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주문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반품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결제액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환불액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광고비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M01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주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파우치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400,000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60,000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M02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주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파우치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50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500,000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100,000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80,000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M03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주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키링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60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300,000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15,000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M04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주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키링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80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400,000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40,000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210" name="session1-255"/>
          <p:cNvSpPr/>
          <p:nvPr/>
        </p:nvSpPr>
        <p:spPr>
          <a:xfrm>
            <a:off x="609480" y="5715000"/>
            <a:ext cx="10858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M05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는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M02 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중복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/ M06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은 반품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환불 미확인 → 제외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보류 후 위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4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행 비교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ession1-256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직무별 예시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온라인 마켓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ession1-257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온라인 마켓 대시보드에서 기획 초안으로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ession1-258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검산한 자료만 기획안 근거로 사용하고 외부 문안에는 공개 가능한 조건만 넣습니다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ession1-259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ession1-260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6" name="Chart"/>
          <p:cNvGraphicFramePr/>
          <p:nvPr/>
        </p:nvGraphicFramePr>
        <p:xfrm>
          <a:off x="590400" y="2133720"/>
          <a:ext cx="5648040" cy="242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7" name="session1-261"/>
          <p:cNvSpPr/>
          <p:nvPr/>
        </p:nvSpPr>
        <p:spPr>
          <a:xfrm>
            <a:off x="619200" y="1895400"/>
            <a:ext cx="5476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상품별 반품률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ession1-262"/>
          <p:cNvSpPr/>
          <p:nvPr/>
        </p:nvSpPr>
        <p:spPr>
          <a:xfrm>
            <a:off x="6848640" y="2085840"/>
            <a:ext cx="4733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순매출 </a:t>
            </a:r>
            <a:r>
              <a:rPr b="1" lang="en-US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1,425,000</a:t>
            </a:r>
            <a:r>
              <a:rPr b="1" lang="ko-KR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원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ession1-263"/>
          <p:cNvSpPr/>
          <p:nvPr/>
        </p:nvSpPr>
        <p:spPr>
          <a:xfrm>
            <a:off x="6858000" y="2629080"/>
            <a:ext cx="47239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전체 반품률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9.13% (21/230)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ession1-264"/>
          <p:cNvSpPr/>
          <p:nvPr/>
        </p:nvSpPr>
        <p:spPr>
          <a:xfrm>
            <a:off x="6858000" y="3209760"/>
            <a:ext cx="4667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한 장 기획안의 제안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ession1-265"/>
          <p:cNvSpPr/>
          <p:nvPr/>
        </p:nvSpPr>
        <p:spPr>
          <a:xfrm>
            <a:off x="6858000" y="3686040"/>
            <a:ext cx="47239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파우치 규격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수납 예시를 확인해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상세페이지를 보완하고 반품 사유 기록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ession1-266"/>
          <p:cNvSpPr/>
          <p:nvPr/>
        </p:nvSpPr>
        <p:spPr>
          <a:xfrm>
            <a:off x="609480" y="4809960"/>
            <a:ext cx="109533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외부 카드뉴스 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4</a:t>
            </a: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장 구성 예시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ession1-267"/>
          <p:cNvSpPr/>
          <p:nvPr/>
        </p:nvSpPr>
        <p:spPr>
          <a:xfrm>
            <a:off x="590400" y="5248440"/>
            <a:ext cx="2533320" cy="742680"/>
          </a:xfrm>
          <a:prstGeom prst="rect">
            <a:avLst/>
          </a:prstGeom>
          <a:solidFill>
            <a:srgbClr val="213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4" name="session1-268"/>
          <p:cNvSpPr/>
          <p:nvPr/>
        </p:nvSpPr>
        <p:spPr>
          <a:xfrm>
            <a:off x="75240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관심 </a:t>
            </a:r>
            <a:r>
              <a:rPr b="1" lang="en-US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소품 정리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ession1-269"/>
          <p:cNvSpPr/>
          <p:nvPr/>
        </p:nvSpPr>
        <p:spPr>
          <a:xfrm>
            <a:off x="3381480" y="5248440"/>
            <a:ext cx="2533320" cy="74268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6" name="session1-270"/>
          <p:cNvSpPr/>
          <p:nvPr/>
        </p:nvSpPr>
        <p:spPr>
          <a:xfrm>
            <a:off x="354348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규격 </a:t>
            </a:r>
            <a:r>
              <a:rPr b="1" lang="en-US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 18×12cm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ession1-271"/>
          <p:cNvSpPr/>
          <p:nvPr/>
        </p:nvSpPr>
        <p:spPr>
          <a:xfrm>
            <a:off x="6172200" y="5248440"/>
            <a:ext cx="2533320" cy="74268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8" name="session1-272"/>
          <p:cNvSpPr/>
          <p:nvPr/>
        </p:nvSpPr>
        <p:spPr>
          <a:xfrm>
            <a:off x="633420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조건 </a:t>
            </a:r>
            <a:r>
              <a:rPr b="1" lang="en-US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 10,000</a:t>
            </a: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원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ession1-273"/>
          <p:cNvSpPr/>
          <p:nvPr/>
        </p:nvSpPr>
        <p:spPr>
          <a:xfrm>
            <a:off x="8962920" y="5248440"/>
            <a:ext cx="2533320" cy="742680"/>
          </a:xfrm>
          <a:prstGeom prst="rect">
            <a:avLst/>
          </a:prstGeom>
          <a:solidFill>
            <a:srgbClr val="1014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30" name="session1-274"/>
          <p:cNvSpPr/>
          <p:nvPr/>
        </p:nvSpPr>
        <p:spPr>
          <a:xfrm>
            <a:off x="912492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행동 </a:t>
            </a:r>
            <a:r>
              <a:rPr b="1" lang="en-US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조건 확인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ession1-275"/>
          <p:cNvSpPr/>
          <p:nvPr/>
        </p:nvSpPr>
        <p:spPr>
          <a:xfrm>
            <a:off x="609480" y="6143760"/>
            <a:ext cx="10905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내부 운영 수치는 외부 문안에 넣지 않습니다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미확인 가격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일정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효능은 확인 필요로 남깁니다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ession1-276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직무별 예시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교육자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ession1-277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교육자 컨텍스트와 입력 자료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ession1-278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교육용 가상 자료입니다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내 직무를 선택해 같은 자료를 결과물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3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개로 연결합니다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ession1-279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ession1-280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09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ession1-281"/>
          <p:cNvSpPr/>
          <p:nvPr/>
        </p:nvSpPr>
        <p:spPr>
          <a:xfrm>
            <a:off x="609480" y="2057400"/>
            <a:ext cx="535284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역할  성인 대상 교육 기획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·</a:t>
            </a: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운영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문제  어떤 참여 안내를 먼저 보완할까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?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ession1-282"/>
          <p:cNvSpPr/>
          <p:nvPr/>
        </p:nvSpPr>
        <p:spPr>
          <a:xfrm>
            <a:off x="6257880" y="2057400"/>
            <a:ext cx="531468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단위  과정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월별 운영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회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/ 5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점 만족도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기준  출석률과 응답자 가중 만족도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9" name="표 7"/>
          <p:cNvGraphicFramePr/>
          <p:nvPr/>
        </p:nvGraphicFramePr>
        <p:xfrm>
          <a:off x="590400" y="3276720"/>
          <a:ext cx="11010600" cy="2161800"/>
        </p:xfrm>
        <a:graphic>
          <a:graphicData uri="http://schemas.openxmlformats.org/drawingml/2006/table">
            <a:tbl>
              <a:tblPr/>
              <a:tblGrid>
                <a:gridCol w="723600"/>
                <a:gridCol w="1095120"/>
                <a:gridCol w="1714320"/>
                <a:gridCol w="1495080"/>
                <a:gridCol w="1495080"/>
                <a:gridCol w="1495080"/>
                <a:gridCol w="1495080"/>
                <a:gridCol w="1495080"/>
              </a:tblGrid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행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과정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정원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신청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출석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응답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8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점수합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E01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문서기획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18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15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54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E02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문서기획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16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63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E03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카드뉴스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16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E04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카드뉴스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18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34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240" name="session1-283"/>
          <p:cNvSpPr/>
          <p:nvPr/>
        </p:nvSpPr>
        <p:spPr>
          <a:xfrm>
            <a:off x="609480" y="5715000"/>
            <a:ext cx="10858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E05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는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E04 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중복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/ E06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은 출석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응답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점수 미확인 → 위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4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행으로 비교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ession1-284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직무별 예시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교육자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ession1-285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교육자 대시보드에서 기획 초안으로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ession1-286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검산한 자료만 기획안 근거로 사용하고 외부 문안에는 공개 가능한 조건만 넣습니다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ession1-287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ession1-288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6" name="Chart"/>
          <p:cNvGraphicFramePr/>
          <p:nvPr/>
        </p:nvGraphicFramePr>
        <p:xfrm>
          <a:off x="590400" y="2133720"/>
          <a:ext cx="5648040" cy="242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7" name="session1-289"/>
          <p:cNvSpPr/>
          <p:nvPr/>
        </p:nvSpPr>
        <p:spPr>
          <a:xfrm>
            <a:off x="619200" y="1895400"/>
            <a:ext cx="5476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213edb"/>
                </a:solidFill>
                <a:latin typeface="Malgun Gothic"/>
                <a:ea typeface="Malgun Gothic"/>
              </a:rPr>
              <a:t>과정별 출석률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ession1-290"/>
          <p:cNvSpPr/>
          <p:nvPr/>
        </p:nvSpPr>
        <p:spPr>
          <a:xfrm>
            <a:off x="6848640" y="2085840"/>
            <a:ext cx="4733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출석률 </a:t>
            </a:r>
            <a:r>
              <a:rPr b="1" lang="en-US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79.17%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ession1-291"/>
          <p:cNvSpPr/>
          <p:nvPr/>
        </p:nvSpPr>
        <p:spPr>
          <a:xfrm>
            <a:off x="6858000" y="2629080"/>
            <a:ext cx="47239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응답자 가중 만족도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4.43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점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ession1-292"/>
          <p:cNvSpPr/>
          <p:nvPr/>
        </p:nvSpPr>
        <p:spPr>
          <a:xfrm>
            <a:off x="6858000" y="3209760"/>
            <a:ext cx="4667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한 장 기획안의 제안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ession1-293"/>
          <p:cNvSpPr/>
          <p:nvPr/>
        </p:nvSpPr>
        <p:spPr>
          <a:xfrm>
            <a:off x="6858000" y="3686040"/>
            <a:ext cx="47239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수업 전 참여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준비 안내를 보완하고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불참 사유를 익명 범주로 수집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ession1-294"/>
          <p:cNvSpPr/>
          <p:nvPr/>
        </p:nvSpPr>
        <p:spPr>
          <a:xfrm>
            <a:off x="609480" y="4809960"/>
            <a:ext cx="109533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외부 카드뉴스 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4</a:t>
            </a: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장 구성 예시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ession1-295"/>
          <p:cNvSpPr/>
          <p:nvPr/>
        </p:nvSpPr>
        <p:spPr>
          <a:xfrm>
            <a:off x="590400" y="5248440"/>
            <a:ext cx="2533320" cy="742680"/>
          </a:xfrm>
          <a:prstGeom prst="rect">
            <a:avLst/>
          </a:prstGeom>
          <a:solidFill>
            <a:srgbClr val="213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4" name="session1-296"/>
          <p:cNvSpPr/>
          <p:nvPr/>
        </p:nvSpPr>
        <p:spPr>
          <a:xfrm>
            <a:off x="75240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관심 </a:t>
            </a:r>
            <a:r>
              <a:rPr b="1" lang="en-US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 AI </a:t>
            </a: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문서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ession1-297"/>
          <p:cNvSpPr/>
          <p:nvPr/>
        </p:nvSpPr>
        <p:spPr>
          <a:xfrm>
            <a:off x="3381480" y="5248440"/>
            <a:ext cx="2533320" cy="74268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6" name="session1-298"/>
          <p:cNvSpPr/>
          <p:nvPr/>
        </p:nvSpPr>
        <p:spPr>
          <a:xfrm>
            <a:off x="354348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특징 </a:t>
            </a:r>
            <a:r>
              <a:rPr b="1" lang="en-US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 2</a:t>
            </a: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시간 체험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ession1-299"/>
          <p:cNvSpPr/>
          <p:nvPr/>
        </p:nvSpPr>
        <p:spPr>
          <a:xfrm>
            <a:off x="6172200" y="5248440"/>
            <a:ext cx="2533320" cy="74268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8" name="session1-300"/>
          <p:cNvSpPr/>
          <p:nvPr/>
        </p:nvSpPr>
        <p:spPr>
          <a:xfrm>
            <a:off x="633420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조건 </a:t>
            </a:r>
            <a:r>
              <a:rPr b="1" lang="en-US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 </a:t>
            </a: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일시 확인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ession1-301"/>
          <p:cNvSpPr/>
          <p:nvPr/>
        </p:nvSpPr>
        <p:spPr>
          <a:xfrm>
            <a:off x="8962920" y="5248440"/>
            <a:ext cx="2533320" cy="742680"/>
          </a:xfrm>
          <a:prstGeom prst="rect">
            <a:avLst/>
          </a:prstGeom>
          <a:solidFill>
            <a:srgbClr val="1014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0" name="session1-302"/>
          <p:cNvSpPr/>
          <p:nvPr/>
        </p:nvSpPr>
        <p:spPr>
          <a:xfrm>
            <a:off x="912492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행동 </a:t>
            </a:r>
            <a:r>
              <a:rPr b="1" lang="en-US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신청 안내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ession1-303"/>
          <p:cNvSpPr/>
          <p:nvPr/>
        </p:nvSpPr>
        <p:spPr>
          <a:xfrm>
            <a:off x="609480" y="6143760"/>
            <a:ext cx="10905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내부 운영 수치는 외부 문안에 넣지 않습니다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미확인 가격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일정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효능은 확인 필요로 남깁니다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ession1-304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직무별 예시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도매업자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ession1-305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도매업자 컨텍스트와 입력 자료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ession1-306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교육용 가상 자료입니다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내 직무를 선택해 같은 자료를 결과물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3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개로 연결합니다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ession1-307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ession1-308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ession1-309"/>
          <p:cNvSpPr/>
          <p:nvPr/>
        </p:nvSpPr>
        <p:spPr>
          <a:xfrm>
            <a:off x="609480" y="2057400"/>
            <a:ext cx="535284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역할  소규모 포장용품 도매 운영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문제  어떤 품목을 먼저 발주 검토할까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?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ession1-310"/>
          <p:cNvSpPr/>
          <p:nvPr/>
        </p:nvSpPr>
        <p:spPr>
          <a:xfrm>
            <a:off x="6257880" y="2057400"/>
            <a:ext cx="531468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단위 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9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월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30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일 품목별 가용재고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/ 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개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일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기준  재주문 기준과 예상 소진일수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69" name="표 7"/>
          <p:cNvGraphicFramePr/>
          <p:nvPr/>
        </p:nvGraphicFramePr>
        <p:xfrm>
          <a:off x="590400" y="3276720"/>
          <a:ext cx="11010600" cy="2161800"/>
        </p:xfrm>
        <a:graphic>
          <a:graphicData uri="http://schemas.openxmlformats.org/drawingml/2006/table">
            <a:tbl>
              <a:tblPr/>
              <a:tblGrid>
                <a:gridCol w="761760"/>
                <a:gridCol w="1714320"/>
                <a:gridCol w="2171520"/>
                <a:gridCol w="1590480"/>
                <a:gridCol w="1590480"/>
                <a:gridCol w="1590480"/>
                <a:gridCol w="1590480"/>
              </a:tblGrid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행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기준일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품목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가용재고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일평균출고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조달기간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50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안전재고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W01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2026-09-30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종이컵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1200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W02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2026-09-30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500mL</a:t>
                      </a:r>
                      <a:r>
                        <a:rPr b="0" lang="zh-CN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용기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80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W03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2026-09-30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냅킨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400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W04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2026-09-30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봉투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150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60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60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270" name="session1-311"/>
          <p:cNvSpPr/>
          <p:nvPr/>
        </p:nvSpPr>
        <p:spPr>
          <a:xfrm>
            <a:off x="609480" y="5715000"/>
            <a:ext cx="10858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W05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는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W02 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중복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/ W06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은 재고 미확인 → 위 </a:t>
            </a:r>
            <a:r>
              <a:rPr b="1" lang="en-US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4</a:t>
            </a:r>
            <a:r>
              <a:rPr b="1" lang="ko-KR" sz="16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품목만 검토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ession1-312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직무별 예시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도매업자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ession1-313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도매업자 대시보드에서 기획 초안으로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ession1-314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검산한 자료만 기획안 근거로 사용하고 외부 문안에는 공개 가능한 조건만 넣습니다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ession1-315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ession1-316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6" name="Chart"/>
          <p:cNvGraphicFramePr/>
          <p:nvPr/>
        </p:nvGraphicFramePr>
        <p:xfrm>
          <a:off x="590400" y="2133720"/>
          <a:ext cx="5648040" cy="242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7" name="session1-317"/>
          <p:cNvSpPr/>
          <p:nvPr/>
        </p:nvSpPr>
        <p:spPr>
          <a:xfrm>
            <a:off x="619200" y="1895400"/>
            <a:ext cx="5476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품목별 재고와 기준 </a:t>
            </a:r>
            <a:r>
              <a:rPr b="1" lang="en-US" sz="1580" spc="-1" strike="noStrike">
                <a:solidFill>
                  <a:srgbClr val="213edb"/>
                </a:solidFill>
                <a:latin typeface="Malgun Gothic"/>
                <a:ea typeface="Malgun Gothic"/>
              </a:rPr>
              <a:t>(</a:t>
            </a:r>
            <a:r>
              <a:rPr b="1" lang="ko-KR" sz="1580" spc="-1" strike="noStrike">
                <a:solidFill>
                  <a:srgbClr val="213edb"/>
                </a:solidFill>
                <a:latin typeface="Malgun Gothic"/>
                <a:ea typeface="Malgun Gothic"/>
              </a:rPr>
              <a:t>개</a:t>
            </a:r>
            <a:r>
              <a:rPr b="1" lang="en-US" sz="1580" spc="-1" strike="noStrike">
                <a:solidFill>
                  <a:srgbClr val="213edb"/>
                </a:solidFill>
                <a:latin typeface="Malgun Gothic"/>
                <a:ea typeface="Malgun Gothic"/>
              </a:rPr>
              <a:t>)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ession1-318"/>
          <p:cNvSpPr/>
          <p:nvPr/>
        </p:nvSpPr>
        <p:spPr>
          <a:xfrm>
            <a:off x="6848640" y="2085840"/>
            <a:ext cx="4733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발주 검토 </a:t>
            </a:r>
            <a:r>
              <a:rPr b="1" lang="en-US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2</a:t>
            </a:r>
            <a:r>
              <a:rPr b="1" lang="ko-KR" sz="2250" spc="-1" strike="noStrike">
                <a:solidFill>
                  <a:srgbClr val="213edb"/>
                </a:solidFill>
                <a:latin typeface="Malgun Gothic"/>
                <a:ea typeface="Malgun Gothic"/>
              </a:rPr>
              <a:t>품목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ession1-319"/>
          <p:cNvSpPr/>
          <p:nvPr/>
        </p:nvSpPr>
        <p:spPr>
          <a:xfrm>
            <a:off x="6858000" y="2629080"/>
            <a:ext cx="47239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용기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300≤420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개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/ 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봉투 </a:t>
            </a:r>
            <a:r>
              <a:rPr b="1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150≤180</a:t>
            </a:r>
            <a:r>
              <a:rPr b="1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개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ession1-320"/>
          <p:cNvSpPr/>
          <p:nvPr/>
        </p:nvSpPr>
        <p:spPr>
          <a:xfrm>
            <a:off x="6858000" y="3209760"/>
            <a:ext cx="4667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한 장 기획안의 제안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ession1-321"/>
          <p:cNvSpPr/>
          <p:nvPr/>
        </p:nvSpPr>
        <p:spPr>
          <a:xfrm>
            <a:off x="6858000" y="3686040"/>
            <a:ext cx="47239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입고예정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최소주문량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공급일을 확인해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담당자가 발주 여부와 수량 결정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ession1-322"/>
          <p:cNvSpPr/>
          <p:nvPr/>
        </p:nvSpPr>
        <p:spPr>
          <a:xfrm>
            <a:off x="609480" y="4809960"/>
            <a:ext cx="109533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외부 카드뉴스 </a:t>
            </a:r>
            <a:r>
              <a:rPr b="1" lang="en-US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4</a:t>
            </a:r>
            <a:r>
              <a:rPr b="1" lang="ko-KR" sz="1729" spc="-1" strike="noStrike">
                <a:solidFill>
                  <a:srgbClr val="213edb"/>
                </a:solidFill>
                <a:latin typeface="Malgun Gothic"/>
                <a:ea typeface="Malgun Gothic"/>
              </a:rPr>
              <a:t>장 구성 예시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ession1-323"/>
          <p:cNvSpPr/>
          <p:nvPr/>
        </p:nvSpPr>
        <p:spPr>
          <a:xfrm>
            <a:off x="590400" y="5248440"/>
            <a:ext cx="2533320" cy="742680"/>
          </a:xfrm>
          <a:prstGeom prst="rect">
            <a:avLst/>
          </a:prstGeom>
          <a:solidFill>
            <a:srgbClr val="213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4" name="session1-324"/>
          <p:cNvSpPr/>
          <p:nvPr/>
        </p:nvSpPr>
        <p:spPr>
          <a:xfrm>
            <a:off x="75240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관심 </a:t>
            </a:r>
            <a:r>
              <a:rPr b="1" lang="en-US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용기 안내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ession1-325"/>
          <p:cNvSpPr/>
          <p:nvPr/>
        </p:nvSpPr>
        <p:spPr>
          <a:xfrm>
            <a:off x="3381480" y="5248440"/>
            <a:ext cx="2533320" cy="74268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6" name="session1-326"/>
          <p:cNvSpPr/>
          <p:nvPr/>
        </p:nvSpPr>
        <p:spPr>
          <a:xfrm>
            <a:off x="354348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규격 </a:t>
            </a:r>
            <a:r>
              <a:rPr b="1" lang="en-US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 100</a:t>
            </a: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개</a:t>
            </a:r>
            <a:r>
              <a:rPr b="1" lang="en-US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/</a:t>
            </a:r>
            <a:r>
              <a:rPr b="1" lang="ko-KR" sz="158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박스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ession1-327"/>
          <p:cNvSpPr/>
          <p:nvPr/>
        </p:nvSpPr>
        <p:spPr>
          <a:xfrm>
            <a:off x="6172200" y="5248440"/>
            <a:ext cx="2533320" cy="74268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8" name="session1-328"/>
          <p:cNvSpPr/>
          <p:nvPr/>
        </p:nvSpPr>
        <p:spPr>
          <a:xfrm>
            <a:off x="6334200" y="5324400"/>
            <a:ext cx="21999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22,000</a:t>
            </a:r>
            <a:r>
              <a:rPr b="1" lang="ko-KR" sz="15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원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ko-KR" sz="15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부가세 별도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ession1-329"/>
          <p:cNvSpPr/>
          <p:nvPr/>
        </p:nvSpPr>
        <p:spPr>
          <a:xfrm>
            <a:off x="8962920" y="5248440"/>
            <a:ext cx="2533320" cy="742680"/>
          </a:xfrm>
          <a:prstGeom prst="rect">
            <a:avLst/>
          </a:prstGeom>
          <a:solidFill>
            <a:srgbClr val="1014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90" name="session1-330"/>
          <p:cNvSpPr/>
          <p:nvPr/>
        </p:nvSpPr>
        <p:spPr>
          <a:xfrm>
            <a:off x="9124920" y="5457960"/>
            <a:ext cx="2199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행동 </a:t>
            </a:r>
            <a:r>
              <a:rPr b="1" lang="en-US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 </a:t>
            </a:r>
            <a:r>
              <a:rPr b="1" lang="ko-KR" sz="158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납기 문의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ession1-331"/>
          <p:cNvSpPr/>
          <p:nvPr/>
        </p:nvSpPr>
        <p:spPr>
          <a:xfrm>
            <a:off x="609480" y="6143760"/>
            <a:ext cx="10905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내부 운영 수치는 외부 문안에 넣지 않습니다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미확인 가격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일정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효능은 확인 필요로 남깁니다</a:t>
            </a:r>
            <a:r>
              <a:rPr b="0" lang="en-US" sz="13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ession1-332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블록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03 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학습자 작성 양식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ession1-333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한 장 기획안에 근거와 다음 행동을 담습니다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ession1-334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먼저 사실을 적고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,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제안과 확인할 정보를 나눕니다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ession1-335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ession1-336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7" name="표 5"/>
          <p:cNvGraphicFramePr/>
          <p:nvPr/>
        </p:nvGraphicFramePr>
        <p:xfrm>
          <a:off x="590400" y="2038320"/>
          <a:ext cx="11010600" cy="2847600"/>
        </p:xfrm>
        <a:graphic>
          <a:graphicData uri="http://schemas.openxmlformats.org/drawingml/2006/table">
            <a:tbl>
              <a:tblPr/>
              <a:tblGrid>
                <a:gridCol w="2381040"/>
                <a:gridCol w="8629560"/>
              </a:tblGrid>
              <a:tr h="47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내가 작성할 내용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7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결정할 문제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________________________________________________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확인한 사실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개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①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____________________  ② ____________________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7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제안과 실행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무엇을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누가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어떤 순서로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판단할 지표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지표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분모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 / 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비교할 기간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7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한계와 추가 확인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모르는 원인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가격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일정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__________________________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8" name="session1-337"/>
          <p:cNvSpPr/>
          <p:nvPr/>
        </p:nvSpPr>
        <p:spPr>
          <a:xfrm>
            <a:off x="609480" y="5210280"/>
            <a:ext cx="1082016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작성 </a:t>
            </a:r>
            <a:r>
              <a:rPr b="1" lang="en-US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15</a:t>
            </a:r>
            <a:r>
              <a:rPr b="1" lang="ko-KR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분 → 수치</a:t>
            </a:r>
            <a:r>
              <a:rPr b="1" lang="en-US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·</a:t>
            </a:r>
            <a:r>
              <a:rPr b="1" lang="ko-KR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근거 확인 </a:t>
            </a:r>
            <a:r>
              <a:rPr b="1" lang="en-US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5</a:t>
            </a:r>
            <a:r>
              <a:rPr b="1" lang="ko-KR" sz="1870" spc="-1" strike="noStrike">
                <a:solidFill>
                  <a:srgbClr val="213edb"/>
                </a:solidFill>
                <a:latin typeface="Malgun Gothic"/>
                <a:ea typeface="Malgun Gothic"/>
              </a:rPr>
              <a:t>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ession1-338"/>
          <p:cNvSpPr/>
          <p:nvPr/>
        </p:nvSpPr>
        <p:spPr>
          <a:xfrm>
            <a:off x="609480" y="5724360"/>
            <a:ext cx="108392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동료 확인  “이 제안의 근거 행과 계산식은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?”  “</a:t>
            </a:r>
            <a:r>
              <a:rPr b="0" lang="ko-KR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확인하지 않은 원인을 단정하지 않았나요</a:t>
            </a:r>
            <a:r>
              <a:rPr b="0" lang="en-US" sz="1729" spc="-1" strike="noStrike">
                <a:solidFill>
                  <a:srgbClr val="15171c"/>
                </a:solidFill>
                <a:latin typeface="Malgun Gothic"/>
                <a:ea typeface="Malgun Gothic"/>
              </a:rPr>
              <a:t>?”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ession1-339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블록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03 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카드뉴스 문안 초안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ession1-340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내 기획안을 외부 대상에게 맞게 바꿉니다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ession1-341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외부에 소개해도 되는 조건만 사용합니다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오늘은 문안과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4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장 구성을 완성합니다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.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ession1-342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ession1-343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ession1-344"/>
          <p:cNvSpPr/>
          <p:nvPr/>
        </p:nvSpPr>
        <p:spPr>
          <a:xfrm>
            <a:off x="590400" y="2124000"/>
            <a:ext cx="2533320" cy="2428560"/>
          </a:xfrm>
          <a:prstGeom prst="rect">
            <a:avLst/>
          </a:prstGeom>
          <a:solidFill>
            <a:srgbClr val="213e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06" name="session1-345"/>
          <p:cNvSpPr/>
          <p:nvPr/>
        </p:nvSpPr>
        <p:spPr>
          <a:xfrm>
            <a:off x="800280" y="2324160"/>
            <a:ext cx="2114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5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ession1-346"/>
          <p:cNvSpPr/>
          <p:nvPr/>
        </p:nvSpPr>
        <p:spPr>
          <a:xfrm>
            <a:off x="800280" y="2924280"/>
            <a:ext cx="2114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관심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ession1-347"/>
          <p:cNvSpPr/>
          <p:nvPr/>
        </p:nvSpPr>
        <p:spPr>
          <a:xfrm>
            <a:off x="800280" y="3533760"/>
            <a:ext cx="21142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대상의 상황</a:t>
            </a:r>
            <a:r>
              <a:rPr b="0" lang="en-US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질문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________________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ession1-348"/>
          <p:cNvSpPr/>
          <p:nvPr/>
        </p:nvSpPr>
        <p:spPr>
          <a:xfrm>
            <a:off x="3381480" y="2124000"/>
            <a:ext cx="2533320" cy="242856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10" name="session1-349"/>
          <p:cNvSpPr/>
          <p:nvPr/>
        </p:nvSpPr>
        <p:spPr>
          <a:xfrm>
            <a:off x="3591000" y="2324160"/>
            <a:ext cx="2114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5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02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ession1-350"/>
          <p:cNvSpPr/>
          <p:nvPr/>
        </p:nvSpPr>
        <p:spPr>
          <a:xfrm>
            <a:off x="3591000" y="2924280"/>
            <a:ext cx="2114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특징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ession1-351"/>
          <p:cNvSpPr/>
          <p:nvPr/>
        </p:nvSpPr>
        <p:spPr>
          <a:xfrm>
            <a:off x="3591000" y="3533760"/>
            <a:ext cx="21142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확인된 가치</a:t>
            </a:r>
            <a:r>
              <a:rPr b="0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규격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________________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ession1-352"/>
          <p:cNvSpPr/>
          <p:nvPr/>
        </p:nvSpPr>
        <p:spPr>
          <a:xfrm>
            <a:off x="6172200" y="2124000"/>
            <a:ext cx="2533320" cy="2428560"/>
          </a:xfrm>
          <a:prstGeom prst="rect">
            <a:avLst/>
          </a:prstGeom>
          <a:solidFill>
            <a:srgbClr val="f0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14" name="session1-353"/>
          <p:cNvSpPr/>
          <p:nvPr/>
        </p:nvSpPr>
        <p:spPr>
          <a:xfrm>
            <a:off x="6381720" y="2324160"/>
            <a:ext cx="2114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5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03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ession1-354"/>
          <p:cNvSpPr/>
          <p:nvPr/>
        </p:nvSpPr>
        <p:spPr>
          <a:xfrm>
            <a:off x="6381720" y="2924280"/>
            <a:ext cx="2114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필수 조건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ession1-355"/>
          <p:cNvSpPr/>
          <p:nvPr/>
        </p:nvSpPr>
        <p:spPr>
          <a:xfrm>
            <a:off x="6381720" y="3533760"/>
            <a:ext cx="21142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가격</a:t>
            </a:r>
            <a:r>
              <a:rPr b="0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대상</a:t>
            </a:r>
            <a:r>
              <a:rPr b="0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일시 등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________________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ession1-356"/>
          <p:cNvSpPr/>
          <p:nvPr/>
        </p:nvSpPr>
        <p:spPr>
          <a:xfrm>
            <a:off x="8962920" y="2124000"/>
            <a:ext cx="2533320" cy="2428560"/>
          </a:xfrm>
          <a:prstGeom prst="rect">
            <a:avLst/>
          </a:prstGeom>
          <a:solidFill>
            <a:srgbClr val="1014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18" name="session1-357"/>
          <p:cNvSpPr/>
          <p:nvPr/>
        </p:nvSpPr>
        <p:spPr>
          <a:xfrm>
            <a:off x="9172440" y="2324160"/>
            <a:ext cx="2114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5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ession1-358"/>
          <p:cNvSpPr/>
          <p:nvPr/>
        </p:nvSpPr>
        <p:spPr>
          <a:xfrm>
            <a:off x="9172440" y="2924280"/>
            <a:ext cx="2114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202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행동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ession1-359"/>
          <p:cNvSpPr/>
          <p:nvPr/>
        </p:nvSpPr>
        <p:spPr>
          <a:xfrm>
            <a:off x="9172440" y="3533760"/>
            <a:ext cx="21142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문의</a:t>
            </a:r>
            <a:r>
              <a:rPr b="0" lang="en-US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신청</a:t>
            </a:r>
            <a:r>
              <a:rPr b="0" lang="en-US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·</a:t>
            </a:r>
            <a:r>
              <a:rPr b="0" lang="ko-KR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주문 안내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50" spc="-1" strike="noStrike">
                <a:solidFill>
                  <a:srgbClr val="ffffff"/>
                </a:solidFill>
                <a:latin typeface="Malgun Gothic"/>
                <a:ea typeface="Malgun Gothic"/>
              </a:rPr>
              <a:t>________________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ession1-360"/>
          <p:cNvSpPr/>
          <p:nvPr/>
        </p:nvSpPr>
        <p:spPr>
          <a:xfrm>
            <a:off x="609480" y="4905360"/>
            <a:ext cx="108201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내 주제 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__________________  </a:t>
            </a: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대상 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__________________  </a:t>
            </a:r>
            <a:r>
              <a:rPr b="0" lang="ko-KR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전달할 행동 </a:t>
            </a:r>
            <a:r>
              <a:rPr b="0" lang="en-US" sz="1650" spc="-1" strike="noStrike">
                <a:solidFill>
                  <a:srgbClr val="15171c"/>
                </a:solidFill>
                <a:latin typeface="Malgun Gothic"/>
                <a:ea typeface="Malgun Gothic"/>
              </a:rPr>
              <a:t>__________________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ession1-361"/>
          <p:cNvSpPr/>
          <p:nvPr/>
        </p:nvSpPr>
        <p:spPr>
          <a:xfrm>
            <a:off x="609480" y="5429160"/>
            <a:ext cx="10820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확인 전 공유하지 않을 조건  가격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배송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교육 일정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효능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거래 조건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ession1-362"/>
          <p:cNvSpPr/>
          <p:nvPr/>
        </p:nvSpPr>
        <p:spPr>
          <a:xfrm>
            <a:off x="609480" y="5962680"/>
            <a:ext cx="10820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무료 진행 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TXT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문안 → 글자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도형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HTML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예시 확인 → 필요하면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PDF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인쇄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ession1-363"/>
          <p:cNvSpPr/>
          <p:nvPr/>
        </p:nvSpPr>
        <p:spPr>
          <a:xfrm>
            <a:off x="590400" y="295200"/>
            <a:ext cx="971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1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회기 </a:t>
            </a:r>
            <a:r>
              <a:rPr b="0" lang="en-US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· </a:t>
            </a:r>
            <a:r>
              <a:rPr b="0" lang="ko-KR" sz="105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마무리와 다음 회기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ession1-364"/>
          <p:cNvSpPr/>
          <p:nvPr/>
        </p:nvSpPr>
        <p:spPr>
          <a:xfrm>
            <a:off x="571680" y="743040"/>
            <a:ext cx="11048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3000" spc="-1" strike="noStrike">
                <a:solidFill>
                  <a:srgbClr val="15171c"/>
                </a:solidFill>
                <a:latin typeface="Malgun Gothic"/>
                <a:ea typeface="Malgun Gothic"/>
              </a:rPr>
              <a:t>근거를 설명할 수 있는 초안을 제출합니다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ession1-365"/>
          <p:cNvSpPr/>
          <p:nvPr/>
        </p:nvSpPr>
        <p:spPr>
          <a:xfrm>
            <a:off x="590400" y="1390680"/>
            <a:ext cx="10953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짝 피드백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10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분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+ 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제출과 다음 행동 </a:t>
            </a:r>
            <a:r>
              <a:rPr b="0" lang="en-US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5</a:t>
            </a:r>
            <a:r>
              <a:rPr b="0" lang="ko-KR" sz="1580" spc="-1" strike="noStrike">
                <a:solidFill>
                  <a:srgbClr val="616773"/>
                </a:solidFill>
                <a:latin typeface="Malgun Gothic"/>
                <a:ea typeface="Malgun Gothic"/>
              </a:rPr>
              <a:t>분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ession1-366"/>
          <p:cNvSpPr/>
          <p:nvPr/>
        </p:nvSpPr>
        <p:spPr>
          <a:xfrm>
            <a:off x="590400" y="6477120"/>
            <a:ext cx="2857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616773"/>
                </a:solidFill>
                <a:latin typeface="Malgun Gothic"/>
                <a:ea typeface="Malgun Gothic"/>
              </a:rPr>
              <a:t>An Eun Kyoung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ession1-367"/>
          <p:cNvSpPr/>
          <p:nvPr/>
        </p:nvSpPr>
        <p:spPr>
          <a:xfrm>
            <a:off x="11144160" y="64389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101456"/>
                </a:solidFill>
                <a:latin typeface="Malgun Gothic"/>
                <a:ea typeface="Malgun Gothic"/>
              </a:rPr>
              <a:t>15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9" name="표 5"/>
          <p:cNvGraphicFramePr/>
          <p:nvPr/>
        </p:nvGraphicFramePr>
        <p:xfrm>
          <a:off x="590400" y="2066760"/>
          <a:ext cx="11010600" cy="2476080"/>
        </p:xfrm>
        <a:graphic>
          <a:graphicData uri="http://schemas.openxmlformats.org/drawingml/2006/table">
            <a:tbl>
              <a:tblPr/>
              <a:tblGrid>
                <a:gridCol w="2571480"/>
                <a:gridCol w="84391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제출물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zh-CN" sz="1650" spc="-1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완료 기준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101456"/>
                    </a:solidFill>
                  </a:tcPr>
                </a:tc>
              </a:tr>
              <a:tr h="495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컨텍스트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역할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문제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자료 정의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모르는 정보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공유 범위가 있음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점검표와 현황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포함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제외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보류를 기록하고 핵심 계산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개 직접 확인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495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한 장 기획안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확인한 사실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제안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실행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한계와 추가 확인을 구분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카드뉴스 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장 문안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대상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  <a:r>
                        <a:rPr b="0" lang="en-US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·</a:t>
                      </a:r>
                      <a:r>
                        <a:rPr b="0" lang="zh-CN" sz="1650" spc="-1" strike="noStrike">
                          <a:solidFill>
                            <a:srgbClr val="15171c"/>
                          </a:solidFill>
                          <a:latin typeface="Malgun Gothic"/>
                          <a:ea typeface="Malgun Gothic"/>
                        </a:rPr>
                        <a:t>행동이 맞고 내부 수치와 허위 조건이 없음</a:t>
                      </a:r>
                      <a:endParaRPr b="0" lang="en-US" sz="1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adde5"/>
                      </a:solidFill>
                      <a:prstDash val="solid"/>
                    </a:lnL>
                    <a:lnR w="6480">
                      <a:solidFill>
                        <a:srgbClr val="dadde5"/>
                      </a:solidFill>
                      <a:prstDash val="solid"/>
                    </a:lnR>
                    <a:lnT w="6480">
                      <a:solidFill>
                        <a:srgbClr val="dadde5"/>
                      </a:solidFill>
                      <a:prstDash val="solid"/>
                    </a:lnT>
                    <a:lnB w="6480">
                      <a:solidFill>
                        <a:srgbClr val="dadde5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330" name="session1-368"/>
          <p:cNvSpPr/>
          <p:nvPr/>
        </p:nvSpPr>
        <p:spPr>
          <a:xfrm>
            <a:off x="609480" y="4933800"/>
            <a:ext cx="10820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짝 피드백  수치 하나와 확인 필요 항목 하나를 짚고</a:t>
            </a:r>
            <a:r>
              <a:rPr b="1" lang="en-US" sz="18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, </a:t>
            </a:r>
            <a:r>
              <a:rPr b="1" lang="ko-KR" sz="18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작성자가 수정합니다</a:t>
            </a:r>
            <a:r>
              <a:rPr b="1" lang="en-US" sz="1800" spc="-1" strike="noStrike">
                <a:solidFill>
                  <a:srgbClr val="213edb"/>
                </a:solidFill>
                <a:latin typeface="Malgun Gothic"/>
                <a:ea typeface="Malgun Gothic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ession1-369"/>
          <p:cNvSpPr/>
          <p:nvPr/>
        </p:nvSpPr>
        <p:spPr>
          <a:xfrm>
            <a:off x="609480" y="5524560"/>
            <a:ext cx="108201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다음 회기  대시보드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문서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·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카드뉴스 보완 → 공유 전 검토 → </a:t>
            </a:r>
            <a:r>
              <a:rPr b="1" lang="en-US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4</a:t>
            </a:r>
            <a:r>
              <a:rPr b="1" lang="ko-KR" sz="1800" spc="-1" strike="noStrike">
                <a:solidFill>
                  <a:srgbClr val="101456"/>
                </a:solidFill>
                <a:latin typeface="Malgun Gothic"/>
                <a:ea typeface="Malgun Gothic"/>
              </a:rPr>
              <a:t>주 적용 계획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ession1-370"/>
          <p:cNvSpPr/>
          <p:nvPr/>
        </p:nvSpPr>
        <p:spPr>
          <a:xfrm>
            <a:off x="609480" y="6095880"/>
            <a:ext cx="108201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ko-KR" sz="1580" spc="-1" strike="noStrike">
                <a:solidFill>
                  <a:srgbClr val="15171c"/>
                </a:solidFill>
                <a:latin typeface="Malgun Gothic"/>
                <a:ea typeface="Malgun Gothic"/>
              </a:rPr>
              <a:t>내가 다음 시간까지 확인할 자료 또는 조건 한 가지  </a:t>
            </a:r>
            <a:r>
              <a:rPr b="0" lang="en-US" sz="1580" spc="-1" strike="noStrike">
                <a:solidFill>
                  <a:srgbClr val="15171c"/>
                </a:solidFill>
                <a:latin typeface="Malgun Gothic"/>
                <a:ea typeface="Malgun Gothic"/>
              </a:rPr>
              <a:t>__________________________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Blue White Planning">
      <a:dk1>
        <a:srgbClr val="000000"/>
      </a:dk1>
      <a:lt1>
        <a:srgbClr val="ffffff"/>
      </a:lt1>
      <a:dk2>
        <a:srgbClr val="101456"/>
      </a:dk2>
      <a:lt2>
        <a:srgbClr val="f0f1f5"/>
      </a:lt2>
      <a:accent1>
        <a:srgbClr val="213edb"/>
      </a:accent1>
      <a:accent2>
        <a:srgbClr val="101456"/>
      </a:accent2>
      <a:accent3>
        <a:srgbClr val="7b8cec"/>
      </a:accent3>
      <a:accent4>
        <a:srgbClr val="adb5d3"/>
      </a:accent4>
      <a:accent5>
        <a:srgbClr val="646a7d"/>
      </a:accent5>
      <a:accent6>
        <a:srgbClr val="c7cbda"/>
      </a:accent6>
      <a:hlink>
        <a:srgbClr val="213edb"/>
      </a:hlink>
      <a:folHlink>
        <a:srgbClr val="101456"/>
      </a:folHlink>
    </a:clrScheme>
    <a:fontScheme name="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Blue White Planning">
      <a:dk1>
        <a:srgbClr val="000000"/>
      </a:dk1>
      <a:lt1>
        <a:srgbClr val="ffffff"/>
      </a:lt1>
      <a:dk2>
        <a:srgbClr val="101456"/>
      </a:dk2>
      <a:lt2>
        <a:srgbClr val="f0f1f5"/>
      </a:lt2>
      <a:accent1>
        <a:srgbClr val="213edb"/>
      </a:accent1>
      <a:accent2>
        <a:srgbClr val="101456"/>
      </a:accent2>
      <a:accent3>
        <a:srgbClr val="7b8cec"/>
      </a:accent3>
      <a:accent4>
        <a:srgbClr val="adb5d3"/>
      </a:accent4>
      <a:accent5>
        <a:srgbClr val="646a7d"/>
      </a:accent5>
      <a:accent6>
        <a:srgbClr val="c7cbda"/>
      </a:accent6>
      <a:hlink>
        <a:srgbClr val="213edb"/>
      </a:hlink>
      <a:folHlink>
        <a:srgbClr val="101456"/>
      </a:folHlink>
    </a:clrScheme>
    <a:fontScheme name="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Blue White Planning">
      <a:dk1>
        <a:srgbClr val="000000"/>
      </a:dk1>
      <a:lt1>
        <a:srgbClr val="ffffff"/>
      </a:lt1>
      <a:dk2>
        <a:srgbClr val="101456"/>
      </a:dk2>
      <a:lt2>
        <a:srgbClr val="f0f1f5"/>
      </a:lt2>
      <a:accent1>
        <a:srgbClr val="213edb"/>
      </a:accent1>
      <a:accent2>
        <a:srgbClr val="101456"/>
      </a:accent2>
      <a:accent3>
        <a:srgbClr val="7b8cec"/>
      </a:accent3>
      <a:accent4>
        <a:srgbClr val="adb5d3"/>
      </a:accent4>
      <a:accent5>
        <a:srgbClr val="646a7d"/>
      </a:accent5>
      <a:accent6>
        <a:srgbClr val="c7cbda"/>
      </a:accent6>
      <a:hlink>
        <a:srgbClr val="213edb"/>
      </a:hlink>
      <a:folHlink>
        <a:srgbClr val="101456"/>
      </a:folHlink>
    </a:clrScheme>
    <a:fontScheme name="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tGPT">
  <a:themeElements>
    <a:clrScheme name="Blue White Planning">
      <a:dk1>
        <a:srgbClr val="000000"/>
      </a:dk1>
      <a:lt1>
        <a:srgbClr val="ffffff"/>
      </a:lt1>
      <a:dk2>
        <a:srgbClr val="101456"/>
      </a:dk2>
      <a:lt2>
        <a:srgbClr val="f0f1f5"/>
      </a:lt2>
      <a:accent1>
        <a:srgbClr val="213edb"/>
      </a:accent1>
      <a:accent2>
        <a:srgbClr val="101456"/>
      </a:accent2>
      <a:accent3>
        <a:srgbClr val="7b8cec"/>
      </a:accent3>
      <a:accent4>
        <a:srgbClr val="adb5d3"/>
      </a:accent4>
      <a:accent5>
        <a:srgbClr val="646a7d"/>
      </a:accent5>
      <a:accent6>
        <a:srgbClr val="c7cbda"/>
      </a:accent6>
      <a:hlink>
        <a:srgbClr val="213edb"/>
      </a:hlink>
      <a:folHlink>
        <a:srgbClr val="101456"/>
      </a:folHlink>
    </a:clrScheme>
    <a:fontScheme name="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Blue White Planning">
      <a:dk1>
        <a:srgbClr val="000000"/>
      </a:dk1>
      <a:lt1>
        <a:srgbClr val="ffffff"/>
      </a:lt1>
      <a:dk2>
        <a:srgbClr val="101456"/>
      </a:dk2>
      <a:lt2>
        <a:srgbClr val="f0f1f5"/>
      </a:lt2>
      <a:accent1>
        <a:srgbClr val="213edb"/>
      </a:accent1>
      <a:accent2>
        <a:srgbClr val="101456"/>
      </a:accent2>
      <a:accent3>
        <a:srgbClr val="7b8cec"/>
      </a:accent3>
      <a:accent4>
        <a:srgbClr val="adb5d3"/>
      </a:accent4>
      <a:accent5>
        <a:srgbClr val="646a7d"/>
      </a:accent5>
      <a:accent6>
        <a:srgbClr val="c7cbda"/>
      </a:accent6>
      <a:hlink>
        <a:srgbClr val="213edb"/>
      </a:hlink>
      <a:folHlink>
        <a:srgbClr val="101456"/>
      </a:folHlink>
    </a:clrScheme>
    <a:fontScheme name="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atGPT">
  <a:themeElements>
    <a:clrScheme name="Blue White Planning">
      <a:dk1>
        <a:srgbClr val="000000"/>
      </a:dk1>
      <a:lt1>
        <a:srgbClr val="ffffff"/>
      </a:lt1>
      <a:dk2>
        <a:srgbClr val="101456"/>
      </a:dk2>
      <a:lt2>
        <a:srgbClr val="f0f1f5"/>
      </a:lt2>
      <a:accent1>
        <a:srgbClr val="213edb"/>
      </a:accent1>
      <a:accent2>
        <a:srgbClr val="101456"/>
      </a:accent2>
      <a:accent3>
        <a:srgbClr val="7b8cec"/>
      </a:accent3>
      <a:accent4>
        <a:srgbClr val="adb5d3"/>
      </a:accent4>
      <a:accent5>
        <a:srgbClr val="646a7d"/>
      </a:accent5>
      <a:accent6>
        <a:srgbClr val="c7cbda"/>
      </a:accent6>
      <a:hlink>
        <a:srgbClr val="213edb"/>
      </a:hlink>
      <a:folHlink>
        <a:srgbClr val="101456"/>
      </a:folHlink>
    </a:clrScheme>
    <a:fontScheme name="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11161</Words>
  <Paragraphs>1264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2026-10-21T19:43:23Z</dcterms:created>
  <dc:creator>Walnut Exporter</dc:creator>
  <dc:description/>
  <dc:language>en-US</dc:language>
  <cp:lastModifiedBy>Eun Kyoung Ann</cp:lastModifiedBy>
  <dcterms:modified xsi:type="dcterms:W3CDTF">2026-10-21T20:07:12Z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17</vt:r8>
  </property>
  <property fmtid="{D5CDD505-2E9C-101B-9397-08002B2CF9AE}" pid="3" name="OZ_DOC_UI_LASTSTATE">
    <vt:lpwstr>{}</vt:lpwstr>
  </property>
  <property fmtid="{D5CDD505-2E9C-101B-9397-08002B2CF9AE}" pid="4" name="OZ_DOC_VERSION">
    <vt:lpwstr>1.0</vt:lpwstr>
  </property>
  <property fmtid="{D5CDD505-2E9C-101B-9397-08002B2CF9AE}" pid="5" name="PresentationFormat">
    <vt:lpwstr>와이드스크린</vt:lpwstr>
  </property>
  <property fmtid="{D5CDD505-2E9C-101B-9397-08002B2CF9AE}" pid="6" name="Slides">
    <vt:r8>19</vt:r8>
  </property>
</Properties>
</file>