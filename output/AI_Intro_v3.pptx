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2025년 2월 Anthropic Economic Index 첫 보고서. 개인정보 보호 분석 시스템으로 대화를 집계. 단일 플랫폼(Claude.ai) 데이터라는 한계가 있음.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관찰 노출(observed exposure): 이론적 LLM 가능성(Eloundou 외 2023)과 실제 Claude 사용 데이터를 결합. 수치는 2026.3 보고서.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미국 데이터(CPS, BLS) 기반. 보고서도 인과 해석에 신중함을 명시. 한국 상황에 그대로 적용하지 않도록 안내.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형식: 지문(상황) → 4지선다 객관식 + 파일 첨부 실습. 실습형은 AI가 “특정할 수 없다”고 답해도 사람이 조건을 다시 적용해 검증해야 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③. ① 잘못된 처리 기준 유지, ② 페르소나 불일치, ④ 표 출력 조건 누락. 보기 4개가 한 조건씩만 어긋나도록 출제됨.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②. 최종: 민준→자소서반, 서연→면접반, 하은→면접반, 지우→면접반 → 면접반 3명, 자소서반 1명. 도윤은 기록 없음. AI는 신청 건수(4·3)를 셌고 명단 대조도 틀림.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456"/>
        </a:solidFill>
      </p:bgPr>
    </p:bg>
    <p:spTree>
      <p:nvGrpSpPr>
        <p:cNvPr id="1" name=""/>
        <p:cNvGrpSpPr/>
        <p:nvPr/>
      </p:nvGrpSpPr>
      <p:grpSpPr>
        <a:xfrm>
          <a:off x="0" y="0"/>
          <a:ext cx="0" cy="0"/>
          <a:chOff x="0" y="0"/>
          <a:chExt cx="0" cy="0"/>
        </a:xfrm>
      </p:grpSpPr>
      <p:sp>
        <p:nvSpPr>
          <p:cNvPr id="2" name="Text 0"/>
          <p:cNvSpPr txBox="1"/>
          <p:nvPr/>
        </p:nvSpPr>
        <p:spPr>
          <a:xfrm>
            <a:off x="822960" y="1828800"/>
            <a:ext cx="9144000" cy="365760"/>
          </a:xfrm>
          <a:prstGeom prst="rect">
            <a:avLst/>
          </a:prstGeom>
          <a:noFill/>
          <a:ln/>
        </p:spPr>
        <p:txBody>
          <a:bodyPr wrap="square" lIns="0" tIns="0" rIns="0" bIns="0" rtlCol="0" anchor="ctr"/>
          <a:lstStyle/>
          <a:p>
            <a:pPr indent="0" marL="0">
              <a:buNone/>
            </a:pPr>
            <a:r>
              <a:rPr lang="en-US" sz="1400" b="1" dirty="0">
                <a:solidFill>
                  <a:srgbClr val="AAB4F0"/>
                </a:solidFill>
                <a:latin typeface="Malgun Gothic" pitchFamily="34" charset="0"/>
                <a:ea typeface="Malgun Gothic" pitchFamily="34" charset="-122"/>
                <a:cs typeface="Malgun Gothic" pitchFamily="34" charset="-120"/>
              </a:rPr>
              <a:t>INTRO · 도입</a:t>
            </a:r>
            <a:endParaRPr lang="en-US" sz="1400" dirty="0"/>
          </a:p>
        </p:txBody>
      </p:sp>
      <p:sp>
        <p:nvSpPr>
          <p:cNvPr id="3" name="Text 1"/>
          <p:cNvSpPr txBox="1"/>
          <p:nvPr/>
        </p:nvSpPr>
        <p:spPr>
          <a:xfrm>
            <a:off x="822960" y="2331720"/>
            <a:ext cx="10515600" cy="914400"/>
          </a:xfrm>
          <a:prstGeom prst="rect">
            <a:avLst/>
          </a:prstGeom>
          <a:noFill/>
          <a:ln/>
        </p:spPr>
        <p:txBody>
          <a:bodyPr wrap="square" lIns="0" tIns="0" rIns="0" bIns="0" rtlCol="0" anchor="ctr"/>
          <a:lstStyle/>
          <a:p>
            <a:pPr indent="0" marL="0">
              <a:buNone/>
            </a:pPr>
            <a:r>
              <a:rPr lang="en-US" sz="3800" b="1" dirty="0">
                <a:solidFill>
                  <a:srgbClr val="FFFFFF"/>
                </a:solidFill>
                <a:latin typeface="Malgun Gothic" pitchFamily="34" charset="0"/>
                <a:ea typeface="Malgun Gothic" pitchFamily="34" charset="-122"/>
                <a:cs typeface="Malgun Gothic" pitchFamily="34" charset="-120"/>
              </a:rPr>
              <a:t>AI 시대, 지금 우리는 어디에 있나</a:t>
            </a:r>
            <a:endParaRPr lang="en-US" sz="38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indent="0" marL="0">
              <a:buNone/>
            </a:pPr>
            <a:r>
              <a:rPr lang="en-US" sz="1800" dirty="0">
                <a:solidFill>
                  <a:srgbClr val="D2D7F5"/>
                </a:solidFill>
                <a:latin typeface="Malgun Gothic" pitchFamily="34" charset="0"/>
                <a:ea typeface="Malgun Gothic" pitchFamily="34" charset="-122"/>
                <a:cs typeface="Malgun Gothic" pitchFamily="34" charset="-120"/>
              </a:rPr>
              <a:t>데이터로 보는 AI와 일의 변화 → AI 역량은 어떻게 측정되는가 → 직접 풀어보기</a:t>
            </a:r>
            <a:endParaRPr lang="en-US" sz="1800" dirty="0"/>
          </a:p>
        </p:txBody>
      </p:sp>
      <p:sp>
        <p:nvSpPr>
          <p:cNvPr id="5" name="Text 3"/>
          <p:cNvSpPr txBox="1"/>
          <p:nvPr/>
        </p:nvSpPr>
        <p:spPr>
          <a:xfrm>
            <a:off x="822960" y="5943600"/>
            <a:ext cx="10515600" cy="365760"/>
          </a:xfrm>
          <a:prstGeom prst="rect">
            <a:avLst/>
          </a:prstGeom>
          <a:noFill/>
          <a:ln/>
        </p:spPr>
        <p:txBody>
          <a:bodyPr wrap="square" lIns="0" tIns="0" rIns="0" bIns="0" rtlCol="0" anchor="ctr"/>
          <a:lstStyle/>
          <a:p>
            <a:pPr indent="0" marL="0">
              <a:buNone/>
            </a:pPr>
            <a:r>
              <a:rPr lang="en-US" sz="1100" dirty="0">
                <a:solidFill>
                  <a:srgbClr val="AAB4F0"/>
                </a:solidFill>
                <a:latin typeface="Malgun Gothic" pitchFamily="34" charset="0"/>
                <a:ea typeface="Malgun Gothic" pitchFamily="34" charset="-122"/>
                <a:cs typeface="Malgun Gothic" pitchFamily="34" charset="-120"/>
              </a:rPr>
              <a:t>자료: Anthropic Economic Index 연구(2025·2026) · AI 활용평가 유형 분석  |  커리어캐쳐(CareerCatcher)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dirty="0">
                <a:solidFill>
                  <a:srgbClr val="616773"/>
                </a:solidFill>
                <a:latin typeface="Malgun Gothic" pitchFamily="34" charset="0"/>
                <a:ea typeface="Malgun Gothic" pitchFamily="34" charset="-122"/>
                <a:cs typeface="Malgun Gothic" pitchFamily="34" charset="-120"/>
              </a:rPr>
              <a:t>도입 ① · 지금 우리는 어떤 시대에 있나</a:t>
            </a:r>
            <a:endParaRPr lang="en-US" sz="1100" dirty="0"/>
          </a:p>
        </p:txBody>
      </p:sp>
      <p:sp>
        <p:nvSpPr>
          <p:cNvPr id="3" name="Text 1"/>
          <p:cNvSpPr txBox="1"/>
          <p:nvPr/>
        </p:nvSpPr>
        <p:spPr>
          <a:xfrm>
            <a:off x="548640" y="685800"/>
            <a:ext cx="11064240" cy="731520"/>
          </a:xfrm>
          <a:prstGeom prst="rect">
            <a:avLst/>
          </a:prstGeom>
          <a:noFill/>
          <a:ln/>
        </p:spPr>
        <p:txBody>
          <a:bodyPr wrap="square" lIns="0" tIns="0" rIns="0" bIns="0" rtlCol="0" anchor="ctr">
            <a:normAutofit/>
          </a:bodyPr>
          <a:lstStyle/>
          <a:p>
            <a:pPr indent="0" marL="0">
              <a:buNone/>
            </a:pPr>
            <a:r>
              <a:rPr lang="en-US" sz="2800" b="1" dirty="0">
                <a:solidFill>
                  <a:srgbClr val="15171C"/>
                </a:solidFill>
                <a:latin typeface="Malgun Gothic" pitchFamily="34" charset="0"/>
                <a:ea typeface="Malgun Gothic" pitchFamily="34" charset="-122"/>
                <a:cs typeface="Malgun Gothic" pitchFamily="34" charset="-120"/>
              </a:rPr>
              <a:t>AI는 이미 ‘일의 과제’ 단위로 들어와 있습니다</a:t>
            </a:r>
            <a:endParaRPr lang="en-US" sz="2800" dirty="0"/>
          </a:p>
        </p:txBody>
      </p:sp>
      <p:sp>
        <p:nvSpPr>
          <p:cNvPr id="4" name="Text 2"/>
          <p:cNvSpPr txBox="1"/>
          <p:nvPr/>
        </p:nvSpPr>
        <p:spPr>
          <a:xfrm>
            <a:off x="548640" y="6172200"/>
            <a:ext cx="10241280" cy="411480"/>
          </a:xfrm>
          <a:prstGeom prst="rect">
            <a:avLst/>
          </a:prstGeom>
          <a:noFill/>
          <a:ln/>
        </p:spPr>
        <p:txBody>
          <a:bodyPr wrap="square" lIns="0" tIns="0" rIns="0" bIns="0" rtlCol="0" anchor="t"/>
          <a:lstStyle/>
          <a:p>
            <a:pPr indent="0" marL="0">
              <a:buNone/>
            </a:pPr>
            <a:r>
              <a:rPr lang="en-US" sz="1000" dirty="0">
                <a:solidFill>
                  <a:srgbClr val="616773"/>
                </a:solidFill>
                <a:latin typeface="Malgun Gothic" pitchFamily="34" charset="0"/>
                <a:ea typeface="Malgun Gothic" pitchFamily="34" charset="-122"/>
                <a:cs typeface="Malgun Gothic" pitchFamily="34" charset="-120"/>
              </a:rPr>
              <a:t>출처: Anthropic, Handa·Tamkin 외 「Which Economic Tasks are Performed with AI? Evidence from Millions of Claude Conversations」(arXiv:2503.04761, 2025.2)</a:t>
            </a:r>
            <a:endParaRPr lang="en-US" sz="1000" dirty="0"/>
          </a:p>
        </p:txBody>
      </p:sp>
      <p:sp>
        <p:nvSpPr>
          <p:cNvPr id="5" name="Text 3"/>
          <p:cNvSpPr txBox="1"/>
          <p:nvPr/>
        </p:nvSpPr>
        <p:spPr>
          <a:xfrm>
            <a:off x="10972800" y="6355080"/>
            <a:ext cx="731520" cy="228600"/>
          </a:xfrm>
          <a:prstGeom prst="rect">
            <a:avLst/>
          </a:prstGeom>
          <a:noFill/>
          <a:ln/>
        </p:spPr>
        <p:txBody>
          <a:bodyPr wrap="square" lIns="0" tIns="0" rIns="0" bIns="0" rtlCol="0" anchor="ctr"/>
          <a:lstStyle/>
          <a:p>
            <a:pPr algn="r" indent="0" marL="0">
              <a:buNone/>
            </a:pPr>
            <a:r>
              <a:rPr lang="en-US" sz="1100" b="1" dirty="0">
                <a:solidFill>
                  <a:srgbClr val="101456"/>
                </a:solidFill>
                <a:latin typeface="Malgun Gothic" pitchFamily="34" charset="0"/>
                <a:ea typeface="Malgun Gothic" pitchFamily="34" charset="-122"/>
                <a:cs typeface="Malgun Gothic" pitchFamily="34" charset="-120"/>
              </a:rPr>
              <a:t>I-1</a:t>
            </a:r>
            <a:endParaRPr lang="en-US" sz="1100" dirty="0"/>
          </a:p>
        </p:txBody>
      </p:sp>
      <p:sp>
        <p:nvSpPr>
          <p:cNvPr id="7" name="Shape 4"/>
          <p:cNvSpPr/>
          <p:nvPr/>
        </p:nvSpPr>
        <p:spPr>
          <a:xfrm>
            <a:off x="548640" y="1737360"/>
            <a:ext cx="3611880" cy="502920"/>
          </a:xfrm>
          <a:prstGeom prst="rect">
            <a:avLst/>
          </a:prstGeom>
          <a:solidFill>
            <a:srgbClr val="101456"/>
          </a:solidFill>
          <a:ln w="12700">
            <a:solidFill>
              <a:srgbClr val="101456"/>
            </a:solidFill>
            <a:prstDash val="solid"/>
          </a:ln>
        </p:spPr>
      </p:sp>
      <p:sp>
        <p:nvSpPr>
          <p:cNvPr id="8" name="Text 5"/>
          <p:cNvSpPr txBox="1"/>
          <p:nvPr/>
        </p:nvSpPr>
        <p:spPr>
          <a:xfrm>
            <a:off x="548640" y="1737360"/>
            <a:ext cx="3611880" cy="502920"/>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약 400만 건의 대화 분석</a:t>
            </a:r>
            <a:endParaRPr lang="en-US" sz="1500" dirty="0"/>
          </a:p>
        </p:txBody>
      </p:sp>
      <p:sp>
        <p:nvSpPr>
          <p:cNvPr id="9" name="Shape 6"/>
          <p:cNvSpPr/>
          <p:nvPr/>
        </p:nvSpPr>
        <p:spPr>
          <a:xfrm>
            <a:off x="548640" y="2240280"/>
            <a:ext cx="3611880" cy="2514600"/>
          </a:xfrm>
          <a:prstGeom prst="rect">
            <a:avLst/>
          </a:prstGeom>
          <a:solidFill>
            <a:srgbClr val="EEF1FC"/>
          </a:solidFill>
          <a:ln w="12700">
            <a:solidFill>
              <a:srgbClr val="EEF1FC"/>
            </a:solidFill>
            <a:prstDash val="solid"/>
          </a:ln>
        </p:spPr>
      </p:sp>
      <p:sp>
        <p:nvSpPr>
          <p:cNvPr id="10" name="Text 7"/>
          <p:cNvSpPr txBox="1"/>
          <p:nvPr/>
        </p:nvSpPr>
        <p:spPr>
          <a:xfrm>
            <a:off x="548640" y="2240280"/>
            <a:ext cx="3611880" cy="2514600"/>
          </a:xfrm>
          <a:prstGeom prst="rect">
            <a:avLst/>
          </a:prstGeom>
          <a:noFill/>
          <a:ln/>
        </p:spPr>
        <p:txBody>
          <a:bodyPr wrap="square" lIns="1905" tIns="1905" rIns="1905" bIns="1270" rtlCol="0" anchor="t"/>
          <a:lstStyle/>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Claude.ai 대화를 미국 노동부 O*NET 직업·과제 분류에 연결</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“AI가 실제로 어떤 일에 쓰이는가”를 처음 대규모로 측정</a:t>
            </a:r>
            <a:endParaRPr lang="en-US" sz="1400" dirty="0"/>
          </a:p>
        </p:txBody>
      </p:sp>
      <p:sp>
        <p:nvSpPr>
          <p:cNvPr id="11" name="Shape 8"/>
          <p:cNvSpPr/>
          <p:nvPr/>
        </p:nvSpPr>
        <p:spPr>
          <a:xfrm>
            <a:off x="4343400" y="1737360"/>
            <a:ext cx="3611880" cy="502920"/>
          </a:xfrm>
          <a:prstGeom prst="rect">
            <a:avLst/>
          </a:prstGeom>
          <a:solidFill>
            <a:srgbClr val="101456"/>
          </a:solidFill>
          <a:ln w="12700">
            <a:solidFill>
              <a:srgbClr val="101456"/>
            </a:solidFill>
            <a:prstDash val="solid"/>
          </a:ln>
        </p:spPr>
      </p:sp>
      <p:sp>
        <p:nvSpPr>
          <p:cNvPr id="12" name="Text 9"/>
          <p:cNvSpPr txBox="1"/>
          <p:nvPr/>
        </p:nvSpPr>
        <p:spPr>
          <a:xfrm>
            <a:off x="4343400" y="1737360"/>
            <a:ext cx="3611880" cy="502920"/>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소프트웨어·글쓰기 ≈ 절반</a:t>
            </a:r>
            <a:endParaRPr lang="en-US" sz="1500" dirty="0"/>
          </a:p>
        </p:txBody>
      </p:sp>
      <p:sp>
        <p:nvSpPr>
          <p:cNvPr id="13" name="Shape 10"/>
          <p:cNvSpPr/>
          <p:nvPr/>
        </p:nvSpPr>
        <p:spPr>
          <a:xfrm>
            <a:off x="4343400" y="2240280"/>
            <a:ext cx="3611880" cy="2514600"/>
          </a:xfrm>
          <a:prstGeom prst="rect">
            <a:avLst/>
          </a:prstGeom>
          <a:solidFill>
            <a:srgbClr val="EEF1FC"/>
          </a:solidFill>
          <a:ln w="12700">
            <a:solidFill>
              <a:srgbClr val="EEF1FC"/>
            </a:solidFill>
            <a:prstDash val="solid"/>
          </a:ln>
        </p:spPr>
      </p:sp>
      <p:sp>
        <p:nvSpPr>
          <p:cNvPr id="14" name="Text 11"/>
          <p:cNvSpPr txBox="1"/>
          <p:nvPr/>
        </p:nvSpPr>
        <p:spPr>
          <a:xfrm>
            <a:off x="4343400" y="2240280"/>
            <a:ext cx="3611880" cy="2514600"/>
          </a:xfrm>
          <a:prstGeom prst="rect">
            <a:avLst/>
          </a:prstGeom>
          <a:noFill/>
          <a:ln/>
        </p:spPr>
        <p:txBody>
          <a:bodyPr wrap="square" lIns="1905" tIns="1905" rIns="1905" bIns="1270" rtlCol="0" anchor="t"/>
          <a:lstStyle/>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전체 사용의 절반 가까이가 개발·글쓰기 과제</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신체 작업 직군(건설·마취 등)은 사용이 거의 없음</a:t>
            </a:r>
            <a:endParaRPr lang="en-US" sz="1400" dirty="0"/>
          </a:p>
        </p:txBody>
      </p:sp>
      <p:sp>
        <p:nvSpPr>
          <p:cNvPr id="15" name="Shape 12"/>
          <p:cNvSpPr/>
          <p:nvPr/>
        </p:nvSpPr>
        <p:spPr>
          <a:xfrm>
            <a:off x="8138160" y="1737360"/>
            <a:ext cx="3611880" cy="502920"/>
          </a:xfrm>
          <a:prstGeom prst="rect">
            <a:avLst/>
          </a:prstGeom>
          <a:solidFill>
            <a:srgbClr val="213EDB"/>
          </a:solidFill>
          <a:ln w="12700">
            <a:solidFill>
              <a:srgbClr val="213EDB"/>
            </a:solidFill>
            <a:prstDash val="solid"/>
          </a:ln>
        </p:spPr>
      </p:sp>
      <p:sp>
        <p:nvSpPr>
          <p:cNvPr id="16" name="Text 13"/>
          <p:cNvSpPr txBox="1"/>
          <p:nvPr/>
        </p:nvSpPr>
        <p:spPr>
          <a:xfrm>
            <a:off x="8138160" y="1737360"/>
            <a:ext cx="3611880" cy="502920"/>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직업의 약 36%</a:t>
            </a:r>
            <a:endParaRPr lang="en-US" sz="1500" dirty="0"/>
          </a:p>
        </p:txBody>
      </p:sp>
      <p:sp>
        <p:nvSpPr>
          <p:cNvPr id="17" name="Shape 14"/>
          <p:cNvSpPr/>
          <p:nvPr/>
        </p:nvSpPr>
        <p:spPr>
          <a:xfrm>
            <a:off x="8138160" y="2240280"/>
            <a:ext cx="3611880" cy="2514600"/>
          </a:xfrm>
          <a:prstGeom prst="rect">
            <a:avLst/>
          </a:prstGeom>
          <a:solidFill>
            <a:srgbClr val="EEF1FC"/>
          </a:solidFill>
          <a:ln w="12700">
            <a:solidFill>
              <a:srgbClr val="EEF1FC"/>
            </a:solidFill>
            <a:prstDash val="solid"/>
          </a:ln>
        </p:spPr>
      </p:sp>
      <p:sp>
        <p:nvSpPr>
          <p:cNvPr id="18" name="Text 15"/>
          <p:cNvSpPr txBox="1"/>
          <p:nvPr/>
        </p:nvSpPr>
        <p:spPr>
          <a:xfrm>
            <a:off x="8138160" y="2240280"/>
            <a:ext cx="3611880" cy="2514600"/>
          </a:xfrm>
          <a:prstGeom prst="rect">
            <a:avLst/>
          </a:prstGeom>
          <a:noFill/>
          <a:ln/>
        </p:spPr>
        <p:txBody>
          <a:bodyPr wrap="square" lIns="1905" tIns="1905" rIns="1905" bIns="1270" rtlCol="0" anchor="t"/>
          <a:lstStyle/>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과제의 25% 이상에 AI를 쓰는 직업 비율</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과제의 75% 이상 사용 직업은 약 4%</a:t>
            </a:r>
            <a:endParaRPr lang="en-US" sz="1400" dirty="0"/>
          </a:p>
        </p:txBody>
      </p:sp>
      <p:sp>
        <p:nvSpPr>
          <p:cNvPr id="19" name="Text 16"/>
          <p:cNvSpPr txBox="1"/>
          <p:nvPr/>
        </p:nvSpPr>
        <p:spPr>
          <a:xfrm>
            <a:off x="548640" y="5029200"/>
            <a:ext cx="11064240" cy="822960"/>
          </a:xfrm>
          <a:prstGeom prst="rect">
            <a:avLst/>
          </a:prstGeom>
          <a:noFill/>
          <a:ln/>
        </p:spPr>
        <p:txBody>
          <a:bodyPr wrap="square" lIns="0" tIns="0" rIns="0" bIns="0" rtlCol="0" anchor="t"/>
          <a:lstStyle/>
          <a:p>
            <a:pPr indent="0" marL="0">
              <a:buNone/>
            </a:pPr>
            <a:r>
              <a:rPr lang="en-US" sz="1800" b="1" dirty="0">
                <a:solidFill>
                  <a:srgbClr val="213EDB"/>
                </a:solidFill>
                <a:latin typeface="Malgun Gothic" pitchFamily="34" charset="0"/>
                <a:ea typeface="Malgun Gothic" pitchFamily="34" charset="-122"/>
                <a:cs typeface="Malgun Gothic" pitchFamily="34" charset="-120"/>
              </a:rPr>
              <a:t>핵심  직업이 통째로 사라지기보다, 직업 안의 ‘과제’부터 AI와 나눠 하기 시작했습니다.</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dirty="0">
                <a:solidFill>
                  <a:srgbClr val="616773"/>
                </a:solidFill>
                <a:latin typeface="Malgun Gothic" pitchFamily="34" charset="0"/>
                <a:ea typeface="Malgun Gothic" pitchFamily="34" charset="-122"/>
                <a:cs typeface="Malgun Gothic" pitchFamily="34" charset="-120"/>
              </a:rPr>
              <a:t>도입 ② · AI를 쓰는 방식</a:t>
            </a:r>
            <a:endParaRPr lang="en-US" sz="1100" dirty="0"/>
          </a:p>
        </p:txBody>
      </p:sp>
      <p:sp>
        <p:nvSpPr>
          <p:cNvPr id="3" name="Text 1"/>
          <p:cNvSpPr txBox="1"/>
          <p:nvPr/>
        </p:nvSpPr>
        <p:spPr>
          <a:xfrm>
            <a:off x="548640" y="685800"/>
            <a:ext cx="11064240" cy="731520"/>
          </a:xfrm>
          <a:prstGeom prst="rect">
            <a:avLst/>
          </a:prstGeom>
          <a:noFill/>
          <a:ln/>
        </p:spPr>
        <p:txBody>
          <a:bodyPr wrap="square" lIns="0" tIns="0" rIns="0" bIns="0" rtlCol="0" anchor="ctr">
            <a:normAutofit/>
          </a:bodyPr>
          <a:lstStyle/>
          <a:p>
            <a:pPr indent="0" marL="0">
              <a:buNone/>
            </a:pPr>
            <a:r>
              <a:rPr lang="en-US" sz="2800" b="1" dirty="0">
                <a:solidFill>
                  <a:srgbClr val="15171C"/>
                </a:solidFill>
                <a:latin typeface="Malgun Gothic" pitchFamily="34" charset="0"/>
                <a:ea typeface="Malgun Gothic" pitchFamily="34" charset="-122"/>
                <a:cs typeface="Malgun Gothic" pitchFamily="34" charset="-120"/>
              </a:rPr>
              <a:t>‘대신 해주는 AI’와 ‘함께 하는 AI’</a:t>
            </a:r>
            <a:endParaRPr lang="en-US" sz="2800" dirty="0"/>
          </a:p>
        </p:txBody>
      </p:sp>
      <p:sp>
        <p:nvSpPr>
          <p:cNvPr id="4" name="Text 2"/>
          <p:cNvSpPr txBox="1"/>
          <p:nvPr/>
        </p:nvSpPr>
        <p:spPr>
          <a:xfrm>
            <a:off x="548640" y="6172200"/>
            <a:ext cx="10241280" cy="411480"/>
          </a:xfrm>
          <a:prstGeom prst="rect">
            <a:avLst/>
          </a:prstGeom>
          <a:noFill/>
          <a:ln/>
        </p:spPr>
        <p:txBody>
          <a:bodyPr wrap="square" lIns="0" tIns="0" rIns="0" bIns="0" rtlCol="0" anchor="t"/>
          <a:lstStyle/>
          <a:p>
            <a:pPr indent="0" marL="0">
              <a:buNone/>
            </a:pPr>
            <a:r>
              <a:rPr lang="en-US" sz="1000" dirty="0">
                <a:solidFill>
                  <a:srgbClr val="616773"/>
                </a:solidFill>
                <a:latin typeface="Malgun Gothic" pitchFamily="34" charset="0"/>
                <a:ea typeface="Malgun Gothic" pitchFamily="34" charset="-122"/>
                <a:cs typeface="Malgun Gothic" pitchFamily="34" charset="-120"/>
              </a:rPr>
              <a:t>출처: Anthropic, Handa·Tamkin 외 「Which Economic Tasks are Performed with AI? Evidence from Millions of Claude Conversations」(arXiv:2503.04761, 2025.2)</a:t>
            </a:r>
            <a:endParaRPr lang="en-US" sz="1000" dirty="0"/>
          </a:p>
          <a:p>
            <a:pPr indent="0" marL="0">
              <a:buNone/>
            </a:pPr>
            <a:r>
              <a:rPr lang="en-US" sz="1000" dirty="0">
                <a:solidFill>
                  <a:srgbClr val="616773"/>
                </a:solidFill>
                <a:latin typeface="Malgun Gothic" pitchFamily="34" charset="0"/>
                <a:ea typeface="Malgun Gothic" pitchFamily="34" charset="-122"/>
                <a:cs typeface="Malgun Gothic" pitchFamily="34" charset="-120"/>
              </a:rPr>
              <a:t>출처: Anthropic, Massenkoff·McCrory 「Labor market impacts of AI: A new measure and early evidence」(2026.3.5)</a:t>
            </a:r>
            <a:endParaRPr lang="en-US" sz="1000" dirty="0"/>
          </a:p>
        </p:txBody>
      </p:sp>
      <p:sp>
        <p:nvSpPr>
          <p:cNvPr id="5" name="Text 3"/>
          <p:cNvSpPr txBox="1"/>
          <p:nvPr/>
        </p:nvSpPr>
        <p:spPr>
          <a:xfrm>
            <a:off x="10972800" y="6355080"/>
            <a:ext cx="731520" cy="228600"/>
          </a:xfrm>
          <a:prstGeom prst="rect">
            <a:avLst/>
          </a:prstGeom>
          <a:noFill/>
          <a:ln/>
        </p:spPr>
        <p:txBody>
          <a:bodyPr wrap="square" lIns="0" tIns="0" rIns="0" bIns="0" rtlCol="0" anchor="ctr"/>
          <a:lstStyle/>
          <a:p>
            <a:pPr algn="r" indent="0" marL="0">
              <a:buNone/>
            </a:pPr>
            <a:r>
              <a:rPr lang="en-US" sz="1100" b="1" dirty="0">
                <a:solidFill>
                  <a:srgbClr val="101456"/>
                </a:solidFill>
                <a:latin typeface="Malgun Gothic" pitchFamily="34" charset="0"/>
                <a:ea typeface="Malgun Gothic" pitchFamily="34" charset="-122"/>
                <a:cs typeface="Malgun Gothic" pitchFamily="34" charset="-120"/>
              </a:rPr>
              <a:t>I-2</a:t>
            </a:r>
            <a:endParaRPr lang="en-US" sz="1100" dirty="0"/>
          </a:p>
        </p:txBody>
      </p:sp>
      <p:sp>
        <p:nvSpPr>
          <p:cNvPr id="7" name="Shape 4"/>
          <p:cNvSpPr/>
          <p:nvPr/>
        </p:nvSpPr>
        <p:spPr>
          <a:xfrm>
            <a:off x="548640" y="1737360"/>
            <a:ext cx="3611880" cy="502920"/>
          </a:xfrm>
          <a:prstGeom prst="rect">
            <a:avLst/>
          </a:prstGeom>
          <a:solidFill>
            <a:srgbClr val="101456"/>
          </a:solidFill>
          <a:ln w="12700">
            <a:solidFill>
              <a:srgbClr val="101456"/>
            </a:solidFill>
            <a:prstDash val="solid"/>
          </a:ln>
        </p:spPr>
      </p:sp>
      <p:sp>
        <p:nvSpPr>
          <p:cNvPr id="8" name="Text 5"/>
          <p:cNvSpPr txBox="1"/>
          <p:nvPr/>
        </p:nvSpPr>
        <p:spPr>
          <a:xfrm>
            <a:off x="548640" y="1737360"/>
            <a:ext cx="3611880" cy="502920"/>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증강 57% · 자동화 43%</a:t>
            </a:r>
            <a:endParaRPr lang="en-US" sz="1500" dirty="0"/>
          </a:p>
        </p:txBody>
      </p:sp>
      <p:sp>
        <p:nvSpPr>
          <p:cNvPr id="9" name="Shape 6"/>
          <p:cNvSpPr/>
          <p:nvPr/>
        </p:nvSpPr>
        <p:spPr>
          <a:xfrm>
            <a:off x="548640" y="2240280"/>
            <a:ext cx="3611880" cy="2514600"/>
          </a:xfrm>
          <a:prstGeom prst="rect">
            <a:avLst/>
          </a:prstGeom>
          <a:solidFill>
            <a:srgbClr val="EEF1FC"/>
          </a:solidFill>
          <a:ln w="12700">
            <a:solidFill>
              <a:srgbClr val="EEF1FC"/>
            </a:solidFill>
            <a:prstDash val="solid"/>
          </a:ln>
        </p:spPr>
      </p:sp>
      <p:sp>
        <p:nvSpPr>
          <p:cNvPr id="10" name="Text 7"/>
          <p:cNvSpPr txBox="1"/>
          <p:nvPr/>
        </p:nvSpPr>
        <p:spPr>
          <a:xfrm>
            <a:off x="548640" y="2240280"/>
            <a:ext cx="3611880" cy="2514600"/>
          </a:xfrm>
          <a:prstGeom prst="rect">
            <a:avLst/>
          </a:prstGeom>
          <a:noFill/>
          <a:ln/>
        </p:spPr>
        <p:txBody>
          <a:bodyPr wrap="square" lIns="1905" tIns="1905" rIns="1905" bIns="1270" rtlCol="0" anchor="t"/>
          <a:lstStyle/>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증강: 배우고, 다듬고, 함께 반복</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자동화: 사람 개입 최소로 결과물 수행</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(2025.2 보고서 기준)</a:t>
            </a:r>
            <a:endParaRPr lang="en-US" sz="1400" dirty="0"/>
          </a:p>
        </p:txBody>
      </p:sp>
      <p:sp>
        <p:nvSpPr>
          <p:cNvPr id="11" name="Shape 8"/>
          <p:cNvSpPr/>
          <p:nvPr/>
        </p:nvSpPr>
        <p:spPr>
          <a:xfrm>
            <a:off x="4343400" y="1737360"/>
            <a:ext cx="3611880" cy="502920"/>
          </a:xfrm>
          <a:prstGeom prst="rect">
            <a:avLst/>
          </a:prstGeom>
          <a:solidFill>
            <a:srgbClr val="101456"/>
          </a:solidFill>
          <a:ln w="12700">
            <a:solidFill>
              <a:srgbClr val="101456"/>
            </a:solidFill>
            <a:prstDash val="solid"/>
          </a:ln>
        </p:spPr>
      </p:sp>
      <p:sp>
        <p:nvSpPr>
          <p:cNvPr id="12" name="Text 9"/>
          <p:cNvSpPr txBox="1"/>
          <p:nvPr/>
        </p:nvSpPr>
        <p:spPr>
          <a:xfrm>
            <a:off x="4343400" y="1737360"/>
            <a:ext cx="3611880" cy="502920"/>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역량은 아직 다 쓰이지 않음</a:t>
            </a:r>
            <a:endParaRPr lang="en-US" sz="1500" dirty="0"/>
          </a:p>
        </p:txBody>
      </p:sp>
      <p:sp>
        <p:nvSpPr>
          <p:cNvPr id="13" name="Shape 10"/>
          <p:cNvSpPr/>
          <p:nvPr/>
        </p:nvSpPr>
        <p:spPr>
          <a:xfrm>
            <a:off x="4343400" y="2240280"/>
            <a:ext cx="3611880" cy="2514600"/>
          </a:xfrm>
          <a:prstGeom prst="rect">
            <a:avLst/>
          </a:prstGeom>
          <a:solidFill>
            <a:srgbClr val="EEF1FC"/>
          </a:solidFill>
          <a:ln w="12700">
            <a:solidFill>
              <a:srgbClr val="EEF1FC"/>
            </a:solidFill>
            <a:prstDash val="solid"/>
          </a:ln>
        </p:spPr>
      </p:sp>
      <p:sp>
        <p:nvSpPr>
          <p:cNvPr id="14" name="Text 11"/>
          <p:cNvSpPr txBox="1"/>
          <p:nvPr/>
        </p:nvSpPr>
        <p:spPr>
          <a:xfrm>
            <a:off x="4343400" y="2240280"/>
            <a:ext cx="3611880" cy="2514600"/>
          </a:xfrm>
          <a:prstGeom prst="rect">
            <a:avLst/>
          </a:prstGeom>
          <a:noFill/>
          <a:ln/>
        </p:spPr>
        <p:txBody>
          <a:bodyPr wrap="square" lIns="1905" tIns="1905" rIns="1905" bIns="1270" rtlCol="0" anchor="t"/>
          <a:lstStyle/>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Computer·Math 과제의 94%가 이론상 AI 가능</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실제 관찰된 사용(커버리지)은 33%</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 활용 격차가 큼</a:t>
            </a:r>
            <a:endParaRPr lang="en-US" sz="1400" dirty="0"/>
          </a:p>
        </p:txBody>
      </p:sp>
      <p:sp>
        <p:nvSpPr>
          <p:cNvPr id="15" name="Shape 12"/>
          <p:cNvSpPr/>
          <p:nvPr/>
        </p:nvSpPr>
        <p:spPr>
          <a:xfrm>
            <a:off x="8138160" y="1737360"/>
            <a:ext cx="3611880" cy="502920"/>
          </a:xfrm>
          <a:prstGeom prst="rect">
            <a:avLst/>
          </a:prstGeom>
          <a:solidFill>
            <a:srgbClr val="213EDB"/>
          </a:solidFill>
          <a:ln w="12700">
            <a:solidFill>
              <a:srgbClr val="213EDB"/>
            </a:solidFill>
            <a:prstDash val="solid"/>
          </a:ln>
        </p:spPr>
      </p:sp>
      <p:sp>
        <p:nvSpPr>
          <p:cNvPr id="16" name="Text 13"/>
          <p:cNvSpPr txBox="1"/>
          <p:nvPr/>
        </p:nvSpPr>
        <p:spPr>
          <a:xfrm>
            <a:off x="8138160" y="1737360"/>
            <a:ext cx="3611880" cy="502920"/>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가장 노출된 직업</a:t>
            </a:r>
            <a:endParaRPr lang="en-US" sz="1500" dirty="0"/>
          </a:p>
        </p:txBody>
      </p:sp>
      <p:sp>
        <p:nvSpPr>
          <p:cNvPr id="17" name="Shape 14"/>
          <p:cNvSpPr/>
          <p:nvPr/>
        </p:nvSpPr>
        <p:spPr>
          <a:xfrm>
            <a:off x="8138160" y="2240280"/>
            <a:ext cx="3611880" cy="2514600"/>
          </a:xfrm>
          <a:prstGeom prst="rect">
            <a:avLst/>
          </a:prstGeom>
          <a:solidFill>
            <a:srgbClr val="EEF1FC"/>
          </a:solidFill>
          <a:ln w="12700">
            <a:solidFill>
              <a:srgbClr val="EEF1FC"/>
            </a:solidFill>
            <a:prstDash val="solid"/>
          </a:ln>
        </p:spPr>
      </p:sp>
      <p:sp>
        <p:nvSpPr>
          <p:cNvPr id="18" name="Text 15"/>
          <p:cNvSpPr txBox="1"/>
          <p:nvPr/>
        </p:nvSpPr>
        <p:spPr>
          <a:xfrm>
            <a:off x="8138160" y="2240280"/>
            <a:ext cx="3611880" cy="2514600"/>
          </a:xfrm>
          <a:prstGeom prst="rect">
            <a:avLst/>
          </a:prstGeom>
          <a:noFill/>
          <a:ln/>
        </p:spPr>
        <p:txBody>
          <a:bodyPr wrap="square" lIns="1905" tIns="1905" rIns="1905" bIns="1270" rtlCol="0" anchor="t"/>
          <a:lstStyle/>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프로그래머 75%</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고객상담·데이터 입력 직군 상위</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노출 0% 근로자도 약 30%</a:t>
            </a:r>
            <a:endParaRPr lang="en-US" sz="1400" dirty="0"/>
          </a:p>
        </p:txBody>
      </p:sp>
      <p:sp>
        <p:nvSpPr>
          <p:cNvPr id="19" name="Text 16"/>
          <p:cNvSpPr txBox="1"/>
          <p:nvPr/>
        </p:nvSpPr>
        <p:spPr>
          <a:xfrm>
            <a:off x="548640" y="5029200"/>
            <a:ext cx="11064240" cy="822960"/>
          </a:xfrm>
          <a:prstGeom prst="rect">
            <a:avLst/>
          </a:prstGeom>
          <a:noFill/>
          <a:ln/>
        </p:spPr>
        <p:txBody>
          <a:bodyPr wrap="square" lIns="0" tIns="0" rIns="0" bIns="0" rtlCol="0" anchor="t"/>
          <a:lstStyle/>
          <a:p>
            <a:pPr indent="0" marL="0">
              <a:buNone/>
            </a:pPr>
            <a:r>
              <a:rPr lang="en-US" sz="1800" b="1" dirty="0">
                <a:solidFill>
                  <a:srgbClr val="213EDB"/>
                </a:solidFill>
                <a:latin typeface="Malgun Gothic" pitchFamily="34" charset="0"/>
                <a:ea typeface="Malgun Gothic" pitchFamily="34" charset="-122"/>
                <a:cs typeface="Malgun Gothic" pitchFamily="34" charset="-120"/>
              </a:rPr>
              <a:t>핵심  AI가 ‘할 수 있는 일’과 실제 ‘하고 있는 일’ 사이의 간격을 채우는 사람이 경쟁력입니다.</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dirty="0">
                <a:solidFill>
                  <a:srgbClr val="616773"/>
                </a:solidFill>
                <a:latin typeface="Malgun Gothic" pitchFamily="34" charset="0"/>
                <a:ea typeface="Malgun Gothic" pitchFamily="34" charset="-122"/>
                <a:cs typeface="Malgun Gothic" pitchFamily="34" charset="-120"/>
              </a:rPr>
              <a:t>도입 ③ · 일자리에 미치는 영향</a:t>
            </a:r>
            <a:endParaRPr lang="en-US" sz="1100" dirty="0"/>
          </a:p>
        </p:txBody>
      </p:sp>
      <p:sp>
        <p:nvSpPr>
          <p:cNvPr id="3" name="Text 1"/>
          <p:cNvSpPr txBox="1"/>
          <p:nvPr/>
        </p:nvSpPr>
        <p:spPr>
          <a:xfrm>
            <a:off x="548640" y="685800"/>
            <a:ext cx="11064240" cy="731520"/>
          </a:xfrm>
          <a:prstGeom prst="rect">
            <a:avLst/>
          </a:prstGeom>
          <a:noFill/>
          <a:ln/>
        </p:spPr>
        <p:txBody>
          <a:bodyPr wrap="square" lIns="0" tIns="0" rIns="0" bIns="0" rtlCol="0" anchor="ctr">
            <a:normAutofit/>
          </a:bodyPr>
          <a:lstStyle/>
          <a:p>
            <a:pPr indent="0" marL="0">
              <a:buNone/>
            </a:pPr>
            <a:r>
              <a:rPr lang="en-US" sz="2800" b="1" dirty="0">
                <a:solidFill>
                  <a:srgbClr val="15171C"/>
                </a:solidFill>
                <a:latin typeface="Malgun Gothic" pitchFamily="34" charset="0"/>
                <a:ea typeface="Malgun Gothic" pitchFamily="34" charset="-122"/>
                <a:cs typeface="Malgun Gothic" pitchFamily="34" charset="-120"/>
              </a:rPr>
              <a:t>일자리 충격은 아직 작지만, 신입 채용부터 신호가 보입니다</a:t>
            </a:r>
            <a:endParaRPr lang="en-US" sz="2800" dirty="0"/>
          </a:p>
        </p:txBody>
      </p:sp>
      <p:sp>
        <p:nvSpPr>
          <p:cNvPr id="4" name="Text 2"/>
          <p:cNvSpPr txBox="1"/>
          <p:nvPr/>
        </p:nvSpPr>
        <p:spPr>
          <a:xfrm>
            <a:off x="548640" y="6172200"/>
            <a:ext cx="10241280" cy="411480"/>
          </a:xfrm>
          <a:prstGeom prst="rect">
            <a:avLst/>
          </a:prstGeom>
          <a:noFill/>
          <a:ln/>
        </p:spPr>
        <p:txBody>
          <a:bodyPr wrap="square" lIns="0" tIns="0" rIns="0" bIns="0" rtlCol="0" anchor="t"/>
          <a:lstStyle/>
          <a:p>
            <a:pPr indent="0" marL="0">
              <a:buNone/>
            </a:pPr>
            <a:r>
              <a:rPr lang="en-US" sz="1000" dirty="0">
                <a:solidFill>
                  <a:srgbClr val="616773"/>
                </a:solidFill>
                <a:latin typeface="Malgun Gothic" pitchFamily="34" charset="0"/>
                <a:ea typeface="Malgun Gothic" pitchFamily="34" charset="-122"/>
                <a:cs typeface="Malgun Gothic" pitchFamily="34" charset="-120"/>
              </a:rPr>
              <a:t>출처: Anthropic, Massenkoff·McCrory 「Labor market impacts of AI: A new measure and early evidence」(2026.3.5)</a:t>
            </a:r>
            <a:endParaRPr lang="en-US" sz="1000" dirty="0"/>
          </a:p>
        </p:txBody>
      </p:sp>
      <p:sp>
        <p:nvSpPr>
          <p:cNvPr id="5" name="Text 3"/>
          <p:cNvSpPr txBox="1"/>
          <p:nvPr/>
        </p:nvSpPr>
        <p:spPr>
          <a:xfrm>
            <a:off x="10972800" y="6355080"/>
            <a:ext cx="731520" cy="228600"/>
          </a:xfrm>
          <a:prstGeom prst="rect">
            <a:avLst/>
          </a:prstGeom>
          <a:noFill/>
          <a:ln/>
        </p:spPr>
        <p:txBody>
          <a:bodyPr wrap="square" lIns="0" tIns="0" rIns="0" bIns="0" rtlCol="0" anchor="ctr"/>
          <a:lstStyle/>
          <a:p>
            <a:pPr algn="r" indent="0" marL="0">
              <a:buNone/>
            </a:pPr>
            <a:r>
              <a:rPr lang="en-US" sz="1100" b="1" dirty="0">
                <a:solidFill>
                  <a:srgbClr val="101456"/>
                </a:solidFill>
                <a:latin typeface="Malgun Gothic" pitchFamily="34" charset="0"/>
                <a:ea typeface="Malgun Gothic" pitchFamily="34" charset="-122"/>
                <a:cs typeface="Malgun Gothic" pitchFamily="34" charset="-120"/>
              </a:rPr>
              <a:t>I-3</a:t>
            </a:r>
            <a:endParaRPr lang="en-US" sz="1100" dirty="0"/>
          </a:p>
        </p:txBody>
      </p:sp>
      <p:sp>
        <p:nvSpPr>
          <p:cNvPr id="7" name="Shape 4"/>
          <p:cNvSpPr/>
          <p:nvPr/>
        </p:nvSpPr>
        <p:spPr>
          <a:xfrm>
            <a:off x="548640" y="1737360"/>
            <a:ext cx="3611880" cy="502920"/>
          </a:xfrm>
          <a:prstGeom prst="rect">
            <a:avLst/>
          </a:prstGeom>
          <a:solidFill>
            <a:srgbClr val="101456"/>
          </a:solidFill>
          <a:ln w="12700">
            <a:solidFill>
              <a:srgbClr val="101456"/>
            </a:solidFill>
            <a:prstDash val="solid"/>
          </a:ln>
        </p:spPr>
      </p:sp>
      <p:sp>
        <p:nvSpPr>
          <p:cNvPr id="8" name="Text 5"/>
          <p:cNvSpPr txBox="1"/>
          <p:nvPr/>
        </p:nvSpPr>
        <p:spPr>
          <a:xfrm>
            <a:off x="548640" y="1737360"/>
            <a:ext cx="3611880" cy="502920"/>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실업률: 뚜렷한 증가 없음</a:t>
            </a:r>
            <a:endParaRPr lang="en-US" sz="1500" dirty="0"/>
          </a:p>
        </p:txBody>
      </p:sp>
      <p:sp>
        <p:nvSpPr>
          <p:cNvPr id="9" name="Shape 6"/>
          <p:cNvSpPr/>
          <p:nvPr/>
        </p:nvSpPr>
        <p:spPr>
          <a:xfrm>
            <a:off x="548640" y="2240280"/>
            <a:ext cx="3611880" cy="2514600"/>
          </a:xfrm>
          <a:prstGeom prst="rect">
            <a:avLst/>
          </a:prstGeom>
          <a:solidFill>
            <a:srgbClr val="EEF1FC"/>
          </a:solidFill>
          <a:ln w="12700">
            <a:solidFill>
              <a:srgbClr val="EEF1FC"/>
            </a:solidFill>
            <a:prstDash val="solid"/>
          </a:ln>
        </p:spPr>
      </p:sp>
      <p:sp>
        <p:nvSpPr>
          <p:cNvPr id="10" name="Text 7"/>
          <p:cNvSpPr txBox="1"/>
          <p:nvPr/>
        </p:nvSpPr>
        <p:spPr>
          <a:xfrm>
            <a:off x="548640" y="2240280"/>
            <a:ext cx="3611880" cy="2514600"/>
          </a:xfrm>
          <a:prstGeom prst="rect">
            <a:avLst/>
          </a:prstGeom>
          <a:noFill/>
          <a:ln/>
        </p:spPr>
        <p:txBody>
          <a:bodyPr wrap="square" lIns="1905" tIns="1905" rIns="1905" bIns="1270" rtlCol="0" anchor="t"/>
          <a:lstStyle/>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2022년 말 이후 고노출 직군의 실업률이 체계적으로 늘지는 않음</a:t>
            </a:r>
            <a:endParaRPr lang="en-US" sz="1400" dirty="0"/>
          </a:p>
        </p:txBody>
      </p:sp>
      <p:sp>
        <p:nvSpPr>
          <p:cNvPr id="11" name="Shape 8"/>
          <p:cNvSpPr/>
          <p:nvPr/>
        </p:nvSpPr>
        <p:spPr>
          <a:xfrm>
            <a:off x="4343400" y="1737360"/>
            <a:ext cx="3611880" cy="502920"/>
          </a:xfrm>
          <a:prstGeom prst="rect">
            <a:avLst/>
          </a:prstGeom>
          <a:solidFill>
            <a:srgbClr val="213EDB"/>
          </a:solidFill>
          <a:ln w="12700">
            <a:solidFill>
              <a:srgbClr val="213EDB"/>
            </a:solidFill>
            <a:prstDash val="solid"/>
          </a:ln>
        </p:spPr>
      </p:sp>
      <p:sp>
        <p:nvSpPr>
          <p:cNvPr id="12" name="Text 9"/>
          <p:cNvSpPr txBox="1"/>
          <p:nvPr/>
        </p:nvSpPr>
        <p:spPr>
          <a:xfrm>
            <a:off x="4343400" y="1737360"/>
            <a:ext cx="3611880" cy="502920"/>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22~25세 신규 취업 ↓</a:t>
            </a:r>
            <a:endParaRPr lang="en-US" sz="1500" dirty="0"/>
          </a:p>
        </p:txBody>
      </p:sp>
      <p:sp>
        <p:nvSpPr>
          <p:cNvPr id="13" name="Shape 10"/>
          <p:cNvSpPr/>
          <p:nvPr/>
        </p:nvSpPr>
        <p:spPr>
          <a:xfrm>
            <a:off x="4343400" y="2240280"/>
            <a:ext cx="3611880" cy="2514600"/>
          </a:xfrm>
          <a:prstGeom prst="rect">
            <a:avLst/>
          </a:prstGeom>
          <a:solidFill>
            <a:srgbClr val="EEF1FC"/>
          </a:solidFill>
          <a:ln w="12700">
            <a:solidFill>
              <a:srgbClr val="EEF1FC"/>
            </a:solidFill>
            <a:prstDash val="solid"/>
          </a:ln>
        </p:spPr>
      </p:sp>
      <p:sp>
        <p:nvSpPr>
          <p:cNvPr id="14" name="Text 11"/>
          <p:cNvSpPr txBox="1"/>
          <p:nvPr/>
        </p:nvSpPr>
        <p:spPr>
          <a:xfrm>
            <a:off x="4343400" y="2240280"/>
            <a:ext cx="3611880" cy="2514600"/>
          </a:xfrm>
          <a:prstGeom prst="rect">
            <a:avLst/>
          </a:prstGeom>
          <a:noFill/>
          <a:ln/>
        </p:spPr>
        <p:txBody>
          <a:bodyPr wrap="square" lIns="1905" tIns="1905" rIns="1905" bIns="1270" rtlCol="0" anchor="t"/>
          <a:lstStyle/>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고노출 직군 입직률이 2022년 대비 약 14% 하락</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“시사적 근거” 수준이며 확정은 아님</a:t>
            </a:r>
            <a:endParaRPr lang="en-US" sz="1400" dirty="0"/>
          </a:p>
        </p:txBody>
      </p:sp>
      <p:sp>
        <p:nvSpPr>
          <p:cNvPr id="15" name="Shape 12"/>
          <p:cNvSpPr/>
          <p:nvPr/>
        </p:nvSpPr>
        <p:spPr>
          <a:xfrm>
            <a:off x="8138160" y="1737360"/>
            <a:ext cx="3611880" cy="502920"/>
          </a:xfrm>
          <a:prstGeom prst="rect">
            <a:avLst/>
          </a:prstGeom>
          <a:solidFill>
            <a:srgbClr val="101456"/>
          </a:solidFill>
          <a:ln w="12700">
            <a:solidFill>
              <a:srgbClr val="101456"/>
            </a:solidFill>
            <a:prstDash val="solid"/>
          </a:ln>
        </p:spPr>
      </p:sp>
      <p:sp>
        <p:nvSpPr>
          <p:cNvPr id="16" name="Text 13"/>
          <p:cNvSpPr txBox="1"/>
          <p:nvPr/>
        </p:nvSpPr>
        <p:spPr>
          <a:xfrm>
            <a:off x="8138160" y="1737360"/>
            <a:ext cx="3611880" cy="502920"/>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성장 전망 둔화</a:t>
            </a:r>
            <a:endParaRPr lang="en-US" sz="1500" dirty="0"/>
          </a:p>
        </p:txBody>
      </p:sp>
      <p:sp>
        <p:nvSpPr>
          <p:cNvPr id="17" name="Shape 14"/>
          <p:cNvSpPr/>
          <p:nvPr/>
        </p:nvSpPr>
        <p:spPr>
          <a:xfrm>
            <a:off x="8138160" y="2240280"/>
            <a:ext cx="3611880" cy="2514600"/>
          </a:xfrm>
          <a:prstGeom prst="rect">
            <a:avLst/>
          </a:prstGeom>
          <a:solidFill>
            <a:srgbClr val="EEF1FC"/>
          </a:solidFill>
          <a:ln w="12700">
            <a:solidFill>
              <a:srgbClr val="EEF1FC"/>
            </a:solidFill>
            <a:prstDash val="solid"/>
          </a:ln>
        </p:spPr>
      </p:sp>
      <p:sp>
        <p:nvSpPr>
          <p:cNvPr id="18" name="Text 15"/>
          <p:cNvSpPr txBox="1"/>
          <p:nvPr/>
        </p:nvSpPr>
        <p:spPr>
          <a:xfrm>
            <a:off x="8138160" y="2240280"/>
            <a:ext cx="3611880" cy="2514600"/>
          </a:xfrm>
          <a:prstGeom prst="rect">
            <a:avLst/>
          </a:prstGeom>
          <a:noFill/>
          <a:ln/>
        </p:spPr>
        <p:txBody>
          <a:bodyPr wrap="square" lIns="1905" tIns="1905" rIns="1905" bIns="1270" rtlCol="0" anchor="t"/>
          <a:lstStyle/>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노출 10%p ↑ → 2034년까지 BLS 고용 성장 전망 0.6%p ↓</a:t>
            </a:r>
            <a:endParaRPr lang="en-US" sz="1400" dirty="0"/>
          </a:p>
          <a:p>
            <a:pPr indent="0" marL="0">
              <a:spcAft>
                <a:spcPts val="600"/>
              </a:spcAft>
              <a:buNone/>
            </a:pPr>
            <a:r>
              <a:rPr lang="en-US" sz="1400" dirty="0">
                <a:solidFill>
                  <a:srgbClr val="15171C"/>
                </a:solidFill>
                <a:latin typeface="Malgun Gothic" pitchFamily="34" charset="0"/>
                <a:ea typeface="Malgun Gothic" pitchFamily="34" charset="-122"/>
                <a:cs typeface="Malgun Gothic" pitchFamily="34" charset="-120"/>
              </a:rPr>
              <a:t>고노출 근로자: 고학력·고임금·여성 비율 높음</a:t>
            </a:r>
            <a:endParaRPr lang="en-US" sz="1400" dirty="0"/>
          </a:p>
        </p:txBody>
      </p:sp>
      <p:sp>
        <p:nvSpPr>
          <p:cNvPr id="19" name="Text 16"/>
          <p:cNvSpPr txBox="1"/>
          <p:nvPr/>
        </p:nvSpPr>
        <p:spPr>
          <a:xfrm>
            <a:off x="548640" y="5029200"/>
            <a:ext cx="11064240" cy="822960"/>
          </a:xfrm>
          <a:prstGeom prst="rect">
            <a:avLst/>
          </a:prstGeom>
          <a:noFill/>
          <a:ln/>
        </p:spPr>
        <p:txBody>
          <a:bodyPr wrap="square" lIns="0" tIns="0" rIns="0" bIns="0" rtlCol="0" anchor="t"/>
          <a:lstStyle/>
          <a:p>
            <a:pPr indent="0" marL="0">
              <a:buNone/>
            </a:pPr>
            <a:r>
              <a:rPr lang="en-US" sz="1800" b="1" dirty="0">
                <a:solidFill>
                  <a:srgbClr val="213EDB"/>
                </a:solidFill>
                <a:latin typeface="Malgun Gothic" pitchFamily="34" charset="0"/>
                <a:ea typeface="Malgun Gothic" pitchFamily="34" charset="-122"/>
                <a:cs typeface="Malgun Gothic" pitchFamily="34" charset="-120"/>
              </a:rPr>
              <a:t>핵심  ‘AI를 쓸 줄 아는가’가 첫 일자리의 문턱이 되고 있습니다. 그래서 AI 역량을 측정합니다.</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dirty="0">
                <a:solidFill>
                  <a:srgbClr val="616773"/>
                </a:solidFill>
                <a:latin typeface="Malgun Gothic" pitchFamily="34" charset="0"/>
                <a:ea typeface="Malgun Gothic" pitchFamily="34" charset="-122"/>
                <a:cs typeface="Malgun Gothic" pitchFamily="34" charset="-120"/>
              </a:rPr>
              <a:t>도입 ④ · AI 역량은 이렇게 측정됩니다</a:t>
            </a:r>
            <a:endParaRPr lang="en-US" sz="1100" dirty="0"/>
          </a:p>
        </p:txBody>
      </p:sp>
      <p:sp>
        <p:nvSpPr>
          <p:cNvPr id="3" name="Text 1"/>
          <p:cNvSpPr txBox="1"/>
          <p:nvPr/>
        </p:nvSpPr>
        <p:spPr>
          <a:xfrm>
            <a:off x="548640" y="685800"/>
            <a:ext cx="11064240" cy="731520"/>
          </a:xfrm>
          <a:prstGeom prst="rect">
            <a:avLst/>
          </a:prstGeom>
          <a:noFill/>
          <a:ln/>
        </p:spPr>
        <p:txBody>
          <a:bodyPr wrap="square" lIns="0" tIns="0" rIns="0" bIns="0" rtlCol="0" anchor="ctr">
            <a:normAutofit/>
          </a:bodyPr>
          <a:lstStyle/>
          <a:p>
            <a:pPr indent="0" marL="0">
              <a:buNone/>
            </a:pPr>
            <a:r>
              <a:rPr lang="en-US" sz="2800" b="1" dirty="0">
                <a:solidFill>
                  <a:srgbClr val="15171C"/>
                </a:solidFill>
                <a:latin typeface="Malgun Gothic" pitchFamily="34" charset="0"/>
                <a:ea typeface="Malgun Gothic" pitchFamily="34" charset="-122"/>
                <a:cs typeface="Malgun Gothic" pitchFamily="34" charset="-120"/>
              </a:rPr>
              <a:t>AI 활용평가: 아는가 → 고르는가 → 해내는가</a:t>
            </a:r>
            <a:endParaRPr lang="en-US" sz="2800" dirty="0"/>
          </a:p>
        </p:txBody>
      </p:sp>
      <p:sp>
        <p:nvSpPr>
          <p:cNvPr id="4" name="Text 2"/>
          <p:cNvSpPr txBox="1"/>
          <p:nvPr/>
        </p:nvSpPr>
        <p:spPr>
          <a:xfrm>
            <a:off x="548640" y="6172200"/>
            <a:ext cx="10241280" cy="411480"/>
          </a:xfrm>
          <a:prstGeom prst="rect">
            <a:avLst/>
          </a:prstGeom>
          <a:noFill/>
          <a:ln/>
        </p:spPr>
        <p:txBody>
          <a:bodyPr wrap="square" lIns="0" tIns="0" rIns="0" bIns="0" rtlCol="0" anchor="t"/>
          <a:lstStyle/>
          <a:p>
            <a:pPr indent="0" marL="0">
              <a:buNone/>
            </a:pPr>
            <a:r>
              <a:rPr lang="en-US" sz="1000" dirty="0">
                <a:solidFill>
                  <a:srgbClr val="616773"/>
                </a:solidFill>
                <a:latin typeface="Malgun Gothic" pitchFamily="34" charset="0"/>
                <a:ea typeface="Malgun Gothic" pitchFamily="34" charset="-122"/>
                <a:cs typeface="Malgun Gothic" pitchFamily="34" charset="-120"/>
              </a:rPr>
              <a:t>출처: AI 활용평가(AI Assessment) 미리보기 화면 — 강사 제공 캡처 5종 재구성. 실제 시험 구성·배점은 시행 기관 공지 기준으로 확인 필요</a:t>
            </a:r>
            <a:endParaRPr lang="en-US" sz="1000" dirty="0"/>
          </a:p>
        </p:txBody>
      </p:sp>
      <p:sp>
        <p:nvSpPr>
          <p:cNvPr id="5" name="Text 3"/>
          <p:cNvSpPr txBox="1"/>
          <p:nvPr/>
        </p:nvSpPr>
        <p:spPr>
          <a:xfrm>
            <a:off x="10972800" y="6355080"/>
            <a:ext cx="731520" cy="228600"/>
          </a:xfrm>
          <a:prstGeom prst="rect">
            <a:avLst/>
          </a:prstGeom>
          <a:noFill/>
          <a:ln/>
        </p:spPr>
        <p:txBody>
          <a:bodyPr wrap="square" lIns="0" tIns="0" rIns="0" bIns="0" rtlCol="0" anchor="ctr"/>
          <a:lstStyle/>
          <a:p>
            <a:pPr algn="r" indent="0" marL="0">
              <a:buNone/>
            </a:pPr>
            <a:r>
              <a:rPr lang="en-US" sz="1100" b="1" dirty="0">
                <a:solidFill>
                  <a:srgbClr val="101456"/>
                </a:solidFill>
                <a:latin typeface="Malgun Gothic" pitchFamily="34" charset="0"/>
                <a:ea typeface="Malgun Gothic" pitchFamily="34" charset="-122"/>
                <a:cs typeface="Malgun Gothic" pitchFamily="34" charset="-120"/>
              </a:rPr>
              <a:t>I-4</a:t>
            </a:r>
            <a:endParaRPr lang="en-US" sz="1100" dirty="0"/>
          </a:p>
        </p:txBody>
      </p:sp>
      <p:sp>
        <p:nvSpPr>
          <p:cNvPr id="7" name="Shape 4"/>
          <p:cNvSpPr/>
          <p:nvPr/>
        </p:nvSpPr>
        <p:spPr>
          <a:xfrm>
            <a:off x="548640" y="1600200"/>
            <a:ext cx="2560320" cy="658368"/>
          </a:xfrm>
          <a:prstGeom prst="rect">
            <a:avLst/>
          </a:prstGeom>
          <a:solidFill>
            <a:srgbClr val="101456"/>
          </a:solidFill>
          <a:ln w="12700">
            <a:solidFill>
              <a:srgbClr val="101456"/>
            </a:solidFill>
            <a:prstDash val="solid"/>
          </a:ln>
        </p:spPr>
      </p:sp>
      <p:sp>
        <p:nvSpPr>
          <p:cNvPr id="8" name="Text 5"/>
          <p:cNvSpPr txBox="1"/>
          <p:nvPr/>
        </p:nvSpPr>
        <p:spPr>
          <a:xfrm>
            <a:off x="548640" y="1600200"/>
            <a:ext cx="2560320" cy="658368"/>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1. 개념 이해</a:t>
            </a:r>
            <a:endParaRPr lang="en-US" sz="1500" dirty="0"/>
          </a:p>
        </p:txBody>
      </p:sp>
      <p:sp>
        <p:nvSpPr>
          <p:cNvPr id="9" name="Shape 6"/>
          <p:cNvSpPr/>
          <p:nvPr/>
        </p:nvSpPr>
        <p:spPr>
          <a:xfrm>
            <a:off x="3108960" y="1600200"/>
            <a:ext cx="8503920" cy="658368"/>
          </a:xfrm>
          <a:prstGeom prst="rect">
            <a:avLst/>
          </a:prstGeom>
          <a:solidFill>
            <a:srgbClr val="EEF1FC"/>
          </a:solidFill>
          <a:ln w="12700">
            <a:solidFill>
              <a:srgbClr val="EEF1FC"/>
            </a:solidFill>
            <a:prstDash val="solid"/>
          </a:ln>
        </p:spPr>
      </p:sp>
      <p:sp>
        <p:nvSpPr>
          <p:cNvPr id="10" name="Text 7"/>
          <p:cNvSpPr txBox="1"/>
          <p:nvPr/>
        </p:nvSpPr>
        <p:spPr>
          <a:xfrm>
            <a:off x="3108960" y="1600200"/>
            <a:ext cx="8503920" cy="658368"/>
          </a:xfrm>
          <a:prstGeom prst="rect">
            <a:avLst/>
          </a:prstGeom>
          <a:noFill/>
          <a:ln/>
        </p:spPr>
        <p:txBody>
          <a:bodyPr wrap="square" lIns="0" tIns="2540" rIns="2540" bIns="0" rtlCol="0" anchor="ctr"/>
          <a:lstStyle/>
          <a:p>
            <a:pPr indent="0" marL="0">
              <a:buNone/>
            </a:pPr>
            <a:r>
              <a:rPr lang="en-US" sz="1400" dirty="0">
                <a:solidFill>
                  <a:srgbClr val="15171C"/>
                </a:solidFill>
                <a:latin typeface="Malgun Gothic" pitchFamily="34" charset="0"/>
                <a:ea typeface="Malgun Gothic" pitchFamily="34" charset="-122"/>
                <a:cs typeface="Malgun Gothic" pitchFamily="34" charset="-120"/>
              </a:rPr>
              <a:t>텍스트 생성형(다음 단어 확률 예측)·이미지 생성형 AI의 기능 차이, 모달리티 구분</a:t>
            </a:r>
            <a:endParaRPr lang="en-US" sz="1400" dirty="0"/>
          </a:p>
        </p:txBody>
      </p:sp>
      <p:sp>
        <p:nvSpPr>
          <p:cNvPr id="11" name="Shape 8"/>
          <p:cNvSpPr/>
          <p:nvPr/>
        </p:nvSpPr>
        <p:spPr>
          <a:xfrm>
            <a:off x="548640" y="2350008"/>
            <a:ext cx="2560320" cy="658368"/>
          </a:xfrm>
          <a:prstGeom prst="rect">
            <a:avLst/>
          </a:prstGeom>
          <a:solidFill>
            <a:srgbClr val="101456"/>
          </a:solidFill>
          <a:ln w="12700">
            <a:solidFill>
              <a:srgbClr val="101456"/>
            </a:solidFill>
            <a:prstDash val="solid"/>
          </a:ln>
        </p:spPr>
      </p:sp>
      <p:sp>
        <p:nvSpPr>
          <p:cNvPr id="12" name="Text 9"/>
          <p:cNvSpPr txBox="1"/>
          <p:nvPr/>
        </p:nvSpPr>
        <p:spPr>
          <a:xfrm>
            <a:off x="548640" y="2350008"/>
            <a:ext cx="2560320" cy="658368"/>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2. 프롬프트 설계</a:t>
            </a:r>
            <a:endParaRPr lang="en-US" sz="1500" dirty="0"/>
          </a:p>
        </p:txBody>
      </p:sp>
      <p:sp>
        <p:nvSpPr>
          <p:cNvPr id="13" name="Shape 10"/>
          <p:cNvSpPr/>
          <p:nvPr/>
        </p:nvSpPr>
        <p:spPr>
          <a:xfrm>
            <a:off x="3108960" y="2350008"/>
            <a:ext cx="8503920" cy="658368"/>
          </a:xfrm>
          <a:prstGeom prst="rect">
            <a:avLst/>
          </a:prstGeom>
          <a:solidFill>
            <a:srgbClr val="EEF1FC"/>
          </a:solidFill>
          <a:ln w="12700">
            <a:solidFill>
              <a:srgbClr val="EEF1FC"/>
            </a:solidFill>
            <a:prstDash val="solid"/>
          </a:ln>
        </p:spPr>
      </p:sp>
      <p:sp>
        <p:nvSpPr>
          <p:cNvPr id="14" name="Text 11"/>
          <p:cNvSpPr txBox="1"/>
          <p:nvPr/>
        </p:nvSpPr>
        <p:spPr>
          <a:xfrm>
            <a:off x="3108960" y="2350008"/>
            <a:ext cx="8503920" cy="658368"/>
          </a:xfrm>
          <a:prstGeom prst="rect">
            <a:avLst/>
          </a:prstGeom>
          <a:noFill/>
          <a:ln/>
        </p:spPr>
        <p:txBody>
          <a:bodyPr wrap="square" lIns="0" tIns="2540" rIns="2540" bIns="0" rtlCol="0" anchor="ctr"/>
          <a:lstStyle/>
          <a:p>
            <a:pPr indent="0" marL="0">
              <a:buNone/>
            </a:pPr>
            <a:r>
              <a:rPr lang="en-US" sz="1400" dirty="0">
                <a:solidFill>
                  <a:srgbClr val="15171C"/>
                </a:solidFill>
                <a:latin typeface="Malgun Gothic" pitchFamily="34" charset="0"/>
                <a:ea typeface="Malgun Gothic" pitchFamily="34" charset="-122"/>
                <a:cs typeface="Malgun Gothic" pitchFamily="34" charset="-120"/>
              </a:rPr>
              <a:t>상황 지문을 읽고 페르소나·기준·출력 형식 등 다중 조건을 모두 갖춘 프롬프트 고르기</a:t>
            </a:r>
            <a:endParaRPr lang="en-US" sz="1400" dirty="0"/>
          </a:p>
        </p:txBody>
      </p:sp>
      <p:sp>
        <p:nvSpPr>
          <p:cNvPr id="15" name="Shape 12"/>
          <p:cNvSpPr/>
          <p:nvPr/>
        </p:nvSpPr>
        <p:spPr>
          <a:xfrm>
            <a:off x="548640" y="3099816"/>
            <a:ext cx="2560320" cy="658368"/>
          </a:xfrm>
          <a:prstGeom prst="rect">
            <a:avLst/>
          </a:prstGeom>
          <a:solidFill>
            <a:srgbClr val="101456"/>
          </a:solidFill>
          <a:ln w="12700">
            <a:solidFill>
              <a:srgbClr val="101456"/>
            </a:solidFill>
            <a:prstDash val="solid"/>
          </a:ln>
        </p:spPr>
      </p:sp>
      <p:sp>
        <p:nvSpPr>
          <p:cNvPr id="16" name="Text 13"/>
          <p:cNvSpPr txBox="1"/>
          <p:nvPr/>
        </p:nvSpPr>
        <p:spPr>
          <a:xfrm>
            <a:off x="548640" y="3099816"/>
            <a:ext cx="2560320" cy="658368"/>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3. 결과 검증</a:t>
            </a:r>
            <a:endParaRPr lang="en-US" sz="1500" dirty="0"/>
          </a:p>
        </p:txBody>
      </p:sp>
      <p:sp>
        <p:nvSpPr>
          <p:cNvPr id="17" name="Shape 14"/>
          <p:cNvSpPr/>
          <p:nvPr/>
        </p:nvSpPr>
        <p:spPr>
          <a:xfrm>
            <a:off x="3108960" y="3099816"/>
            <a:ext cx="8503920" cy="658368"/>
          </a:xfrm>
          <a:prstGeom prst="rect">
            <a:avLst/>
          </a:prstGeom>
          <a:solidFill>
            <a:srgbClr val="EEF1FC"/>
          </a:solidFill>
          <a:ln w="12700">
            <a:solidFill>
              <a:srgbClr val="EEF1FC"/>
            </a:solidFill>
            <a:prstDash val="solid"/>
          </a:ln>
        </p:spPr>
      </p:sp>
      <p:sp>
        <p:nvSpPr>
          <p:cNvPr id="18" name="Text 15"/>
          <p:cNvSpPr txBox="1"/>
          <p:nvPr/>
        </p:nvSpPr>
        <p:spPr>
          <a:xfrm>
            <a:off x="3108960" y="3099816"/>
            <a:ext cx="8503920" cy="658368"/>
          </a:xfrm>
          <a:prstGeom prst="rect">
            <a:avLst/>
          </a:prstGeom>
          <a:noFill/>
          <a:ln/>
        </p:spPr>
        <p:txBody>
          <a:bodyPr wrap="square" lIns="0" tIns="2540" rIns="2540" bIns="0" rtlCol="0" anchor="ctr"/>
          <a:lstStyle/>
          <a:p>
            <a:pPr indent="0" marL="0">
              <a:buNone/>
            </a:pPr>
            <a:r>
              <a:rPr lang="en-US" sz="1400" dirty="0">
                <a:solidFill>
                  <a:srgbClr val="15171C"/>
                </a:solidFill>
                <a:latin typeface="Malgun Gothic" pitchFamily="34" charset="0"/>
                <a:ea typeface="Malgun Gothic" pitchFamily="34" charset="-122"/>
                <a:cs typeface="Malgun Gothic" pitchFamily="34" charset="-120"/>
              </a:rPr>
              <a:t>AI 산출물의 오류(예: 결측치를 0으로 일괄 대체)를 찾아 바로잡기</a:t>
            </a:r>
            <a:endParaRPr lang="en-US" sz="1400" dirty="0"/>
          </a:p>
        </p:txBody>
      </p:sp>
      <p:sp>
        <p:nvSpPr>
          <p:cNvPr id="19" name="Shape 16"/>
          <p:cNvSpPr/>
          <p:nvPr/>
        </p:nvSpPr>
        <p:spPr>
          <a:xfrm>
            <a:off x="548640" y="3849624"/>
            <a:ext cx="2560320" cy="658368"/>
          </a:xfrm>
          <a:prstGeom prst="rect">
            <a:avLst/>
          </a:prstGeom>
          <a:solidFill>
            <a:srgbClr val="101456"/>
          </a:solidFill>
          <a:ln w="12700">
            <a:solidFill>
              <a:srgbClr val="101456"/>
            </a:solidFill>
            <a:prstDash val="solid"/>
          </a:ln>
        </p:spPr>
      </p:sp>
      <p:sp>
        <p:nvSpPr>
          <p:cNvPr id="20" name="Text 17"/>
          <p:cNvSpPr txBox="1"/>
          <p:nvPr/>
        </p:nvSpPr>
        <p:spPr>
          <a:xfrm>
            <a:off x="548640" y="3849624"/>
            <a:ext cx="2560320" cy="658368"/>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4. 윤리·규제</a:t>
            </a:r>
            <a:endParaRPr lang="en-US" sz="1500" dirty="0"/>
          </a:p>
        </p:txBody>
      </p:sp>
      <p:sp>
        <p:nvSpPr>
          <p:cNvPr id="21" name="Shape 18"/>
          <p:cNvSpPr/>
          <p:nvPr/>
        </p:nvSpPr>
        <p:spPr>
          <a:xfrm>
            <a:off x="3108960" y="3849624"/>
            <a:ext cx="8503920" cy="658368"/>
          </a:xfrm>
          <a:prstGeom prst="rect">
            <a:avLst/>
          </a:prstGeom>
          <a:solidFill>
            <a:srgbClr val="EEF1FC"/>
          </a:solidFill>
          <a:ln w="12700">
            <a:solidFill>
              <a:srgbClr val="EEF1FC"/>
            </a:solidFill>
            <a:prstDash val="solid"/>
          </a:ln>
        </p:spPr>
      </p:sp>
      <p:sp>
        <p:nvSpPr>
          <p:cNvPr id="22" name="Text 19"/>
          <p:cNvSpPr txBox="1"/>
          <p:nvPr/>
        </p:nvSpPr>
        <p:spPr>
          <a:xfrm>
            <a:off x="3108960" y="3849624"/>
            <a:ext cx="8503920" cy="658368"/>
          </a:xfrm>
          <a:prstGeom prst="rect">
            <a:avLst/>
          </a:prstGeom>
          <a:noFill/>
          <a:ln/>
        </p:spPr>
        <p:txBody>
          <a:bodyPr wrap="square" lIns="0" tIns="2540" rIns="2540" bIns="0" rtlCol="0" anchor="ctr"/>
          <a:lstStyle/>
          <a:p>
            <a:pPr indent="0" marL="0">
              <a:buNone/>
            </a:pPr>
            <a:r>
              <a:rPr lang="en-US" sz="1400" dirty="0">
                <a:solidFill>
                  <a:srgbClr val="15171C"/>
                </a:solidFill>
                <a:latin typeface="Malgun Gothic" pitchFamily="34" charset="0"/>
                <a:ea typeface="Malgun Gothic" pitchFamily="34" charset="-122"/>
                <a:cs typeface="Malgun Gothic" pitchFamily="34" charset="-120"/>
              </a:rPr>
              <a:t>개인정보·동의 규정을 지키면서 마감을 맞추는 방법(예: 합성 데이터) 판단</a:t>
            </a:r>
            <a:endParaRPr lang="en-US" sz="1400" dirty="0"/>
          </a:p>
        </p:txBody>
      </p:sp>
      <p:sp>
        <p:nvSpPr>
          <p:cNvPr id="23" name="Shape 20"/>
          <p:cNvSpPr/>
          <p:nvPr/>
        </p:nvSpPr>
        <p:spPr>
          <a:xfrm>
            <a:off x="548640" y="4599432"/>
            <a:ext cx="2560320" cy="658368"/>
          </a:xfrm>
          <a:prstGeom prst="rect">
            <a:avLst/>
          </a:prstGeom>
          <a:solidFill>
            <a:srgbClr val="101456"/>
          </a:solidFill>
          <a:ln w="12700">
            <a:solidFill>
              <a:srgbClr val="101456"/>
            </a:solidFill>
            <a:prstDash val="solid"/>
          </a:ln>
        </p:spPr>
      </p:sp>
      <p:sp>
        <p:nvSpPr>
          <p:cNvPr id="24" name="Text 21"/>
          <p:cNvSpPr txBox="1"/>
          <p:nvPr/>
        </p:nvSpPr>
        <p:spPr>
          <a:xfrm>
            <a:off x="548640" y="4599432"/>
            <a:ext cx="2560320" cy="658368"/>
          </a:xfrm>
          <a:prstGeom prst="rect">
            <a:avLst/>
          </a:prstGeom>
          <a:noFill/>
          <a:ln/>
        </p:spPr>
        <p:txBody>
          <a:bodyPr wrap="square" lIns="0" tIns="1905" rIns="1905"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5. 실습형 과제</a:t>
            </a:r>
            <a:endParaRPr lang="en-US" sz="1500" dirty="0"/>
          </a:p>
        </p:txBody>
      </p:sp>
      <p:sp>
        <p:nvSpPr>
          <p:cNvPr id="25" name="Shape 22"/>
          <p:cNvSpPr/>
          <p:nvPr/>
        </p:nvSpPr>
        <p:spPr>
          <a:xfrm>
            <a:off x="3108960" y="4599432"/>
            <a:ext cx="8503920" cy="658368"/>
          </a:xfrm>
          <a:prstGeom prst="rect">
            <a:avLst/>
          </a:prstGeom>
          <a:solidFill>
            <a:srgbClr val="EEF1FC"/>
          </a:solidFill>
          <a:ln w="12700">
            <a:solidFill>
              <a:srgbClr val="EEF1FC"/>
            </a:solidFill>
            <a:prstDash val="solid"/>
          </a:ln>
        </p:spPr>
      </p:sp>
      <p:sp>
        <p:nvSpPr>
          <p:cNvPr id="26" name="Text 23"/>
          <p:cNvSpPr txBox="1"/>
          <p:nvPr/>
        </p:nvSpPr>
        <p:spPr>
          <a:xfrm>
            <a:off x="3108960" y="4599432"/>
            <a:ext cx="8503920" cy="658368"/>
          </a:xfrm>
          <a:prstGeom prst="rect">
            <a:avLst/>
          </a:prstGeom>
          <a:noFill/>
          <a:ln/>
        </p:spPr>
        <p:txBody>
          <a:bodyPr wrap="square" lIns="0" tIns="2540" rIns="2540" bIns="0" rtlCol="0" anchor="ctr"/>
          <a:lstStyle/>
          <a:p>
            <a:pPr indent="0" marL="0">
              <a:buNone/>
            </a:pPr>
            <a:r>
              <a:rPr lang="en-US" sz="1400" dirty="0">
                <a:solidFill>
                  <a:srgbClr val="15171C"/>
                </a:solidFill>
                <a:latin typeface="Malgun Gothic" pitchFamily="34" charset="0"/>
                <a:ea typeface="Malgun Gothic" pitchFamily="34" charset="-122"/>
                <a:cs typeface="Malgun Gothic" pitchFamily="34" charset="-120"/>
              </a:rPr>
              <a:t>첨부 파일(PDF·이미지)을 AI 어시스턴트(질문 횟수 제한)와 함께 분석해 정답 도출</a:t>
            </a:r>
            <a:endParaRPr lang="en-US" sz="1400" dirty="0"/>
          </a:p>
        </p:txBody>
      </p:sp>
      <p:sp>
        <p:nvSpPr>
          <p:cNvPr id="27" name="Text 24"/>
          <p:cNvSpPr txBox="1"/>
          <p:nvPr/>
        </p:nvSpPr>
        <p:spPr>
          <a:xfrm>
            <a:off x="548640" y="5440680"/>
            <a:ext cx="11064240" cy="502920"/>
          </a:xfrm>
          <a:prstGeom prst="rect">
            <a:avLst/>
          </a:prstGeom>
          <a:noFill/>
          <a:ln w="12700">
            <a:solidFill>
              <a:srgbClr val="213EDB"/>
            </a:solidFill>
          </a:ln>
        </p:spPr>
        <p:txBody>
          <a:bodyPr wrap="square" lIns="0" tIns="1905" rIns="1905" bIns="0" rtlCol="0" anchor="ctr"/>
          <a:lstStyle/>
          <a:p>
            <a:pPr indent="0" marL="0">
              <a:buNone/>
            </a:pPr>
            <a:r>
              <a:rPr lang="en-US" sz="1400" b="1" dirty="0">
                <a:solidFill>
                  <a:srgbClr val="213EDB"/>
                </a:solidFill>
                <a:latin typeface="Malgun Gothic" pitchFamily="34" charset="0"/>
                <a:ea typeface="Malgun Gothic" pitchFamily="34" charset="-122"/>
                <a:cs typeface="Malgun Gothic" pitchFamily="34" charset="-120"/>
              </a:rPr>
              <a:t>추천 연습 사이트  프로그래머스(programmers.co.kr) — 코딩·AI 관련 문제를 직접 풀며 실전 감각을 기르기 좋습니다.</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dirty="0">
                <a:solidFill>
                  <a:srgbClr val="616773"/>
                </a:solidFill>
                <a:latin typeface="Malgun Gothic" pitchFamily="34" charset="0"/>
                <a:ea typeface="Malgun Gothic" pitchFamily="34" charset="-122"/>
                <a:cs typeface="Malgun Gothic" pitchFamily="34" charset="-120"/>
              </a:rPr>
              <a:t>도입 ⑤ · 직접 풀어보기 1</a:t>
            </a:r>
            <a:endParaRPr lang="en-US" sz="1100" dirty="0"/>
          </a:p>
        </p:txBody>
      </p:sp>
      <p:sp>
        <p:nvSpPr>
          <p:cNvPr id="3" name="Text 1"/>
          <p:cNvSpPr txBox="1"/>
          <p:nvPr/>
        </p:nvSpPr>
        <p:spPr>
          <a:xfrm>
            <a:off x="548640" y="685800"/>
            <a:ext cx="11064240" cy="731520"/>
          </a:xfrm>
          <a:prstGeom prst="rect">
            <a:avLst/>
          </a:prstGeom>
          <a:noFill/>
          <a:ln/>
        </p:spPr>
        <p:txBody>
          <a:bodyPr wrap="square" lIns="0" tIns="0" rIns="0" bIns="0" rtlCol="0" anchor="ctr">
            <a:normAutofit/>
          </a:bodyPr>
          <a:lstStyle/>
          <a:p>
            <a:pPr indent="0" marL="0">
              <a:buNone/>
            </a:pPr>
            <a:r>
              <a:rPr lang="en-US" sz="2800" b="1" dirty="0">
                <a:solidFill>
                  <a:srgbClr val="15171C"/>
                </a:solidFill>
                <a:latin typeface="Malgun Gothic" pitchFamily="34" charset="0"/>
                <a:ea typeface="Malgun Gothic" pitchFamily="34" charset="-122"/>
                <a:cs typeface="Malgun Gothic" pitchFamily="34" charset="-120"/>
              </a:rPr>
              <a:t>[연습 1] 실제 시험처럼 풀어보기 — 프롬프트 설계</a:t>
            </a:r>
            <a:endParaRPr lang="en-US" sz="2800" dirty="0"/>
          </a:p>
        </p:txBody>
      </p:sp>
      <p:sp>
        <p:nvSpPr>
          <p:cNvPr id="4" name="Text 2"/>
          <p:cNvSpPr txBox="1"/>
          <p:nvPr/>
        </p:nvSpPr>
        <p:spPr>
          <a:xfrm>
            <a:off x="548640" y="6172200"/>
            <a:ext cx="10241280" cy="411480"/>
          </a:xfrm>
          <a:prstGeom prst="rect">
            <a:avLst/>
          </a:prstGeom>
          <a:noFill/>
          <a:ln/>
        </p:spPr>
        <p:txBody>
          <a:bodyPr wrap="square" lIns="0" tIns="0" rIns="0" bIns="0" rtlCol="0" anchor="t"/>
          <a:lstStyle/>
          <a:p>
            <a:pPr indent="0" marL="0">
              <a:buNone/>
            </a:pPr>
            <a:r>
              <a:rPr lang="en-US" sz="1000" dirty="0">
                <a:solidFill>
                  <a:srgbClr val="616773"/>
                </a:solidFill>
                <a:latin typeface="Malgun Gothic" pitchFamily="34" charset="0"/>
                <a:ea typeface="Malgun Gothic" pitchFamily="34" charset="-122"/>
                <a:cs typeface="Malgun Gothic" pitchFamily="34" charset="-120"/>
              </a:rPr>
              <a:t>연습문제: 커리어캐쳐 자체 제작(AI 활용평가 객관식 유형·화면 구성 참고). 정답·해설은 슬라이드 노트</a:t>
            </a:r>
            <a:endParaRPr lang="en-US" sz="1000" dirty="0"/>
          </a:p>
        </p:txBody>
      </p:sp>
      <p:sp>
        <p:nvSpPr>
          <p:cNvPr id="5" name="Text 3"/>
          <p:cNvSpPr txBox="1"/>
          <p:nvPr/>
        </p:nvSpPr>
        <p:spPr>
          <a:xfrm>
            <a:off x="10972800" y="6355080"/>
            <a:ext cx="731520" cy="228600"/>
          </a:xfrm>
          <a:prstGeom prst="rect">
            <a:avLst/>
          </a:prstGeom>
          <a:noFill/>
          <a:ln/>
        </p:spPr>
        <p:txBody>
          <a:bodyPr wrap="square" lIns="0" tIns="0" rIns="0" bIns="0" rtlCol="0" anchor="ctr"/>
          <a:lstStyle/>
          <a:p>
            <a:pPr algn="r" indent="0" marL="0">
              <a:buNone/>
            </a:pPr>
            <a:r>
              <a:rPr lang="en-US" sz="1100" b="1" dirty="0">
                <a:solidFill>
                  <a:srgbClr val="101456"/>
                </a:solidFill>
                <a:latin typeface="Malgun Gothic" pitchFamily="34" charset="0"/>
                <a:ea typeface="Malgun Gothic" pitchFamily="34" charset="-122"/>
                <a:cs typeface="Malgun Gothic" pitchFamily="34" charset="-120"/>
              </a:rPr>
              <a:t>I-5</a:t>
            </a:r>
            <a:endParaRPr lang="en-US" sz="1100" dirty="0"/>
          </a:p>
        </p:txBody>
      </p:sp>
      <p:sp>
        <p:nvSpPr>
          <p:cNvPr id="7" name="Text 4"/>
          <p:cNvSpPr txBox="1"/>
          <p:nvPr/>
        </p:nvSpPr>
        <p:spPr>
          <a:xfrm>
            <a:off x="548640" y="1417320"/>
            <a:ext cx="2743200" cy="365760"/>
          </a:xfrm>
          <a:prstGeom prst="rect">
            <a:avLst/>
          </a:prstGeom>
          <a:noFill/>
          <a:ln/>
        </p:spPr>
        <p:txBody>
          <a:bodyPr wrap="square" lIns="0" tIns="0" rIns="0" bIns="0" rtlCol="0" anchor="ctr"/>
          <a:lstStyle/>
          <a:p>
            <a:pPr indent="0" marL="0">
              <a:buNone/>
            </a:pPr>
            <a:r>
              <a:rPr lang="en-US" sz="1600" b="1" dirty="0">
                <a:solidFill>
                  <a:srgbClr val="15171C"/>
                </a:solidFill>
                <a:latin typeface="Malgun Gothic" pitchFamily="34" charset="0"/>
                <a:ea typeface="Malgun Gothic" pitchFamily="34" charset="-122"/>
                <a:cs typeface="Malgun Gothic" pitchFamily="34" charset="-120"/>
              </a:rPr>
              <a:t>1. 객관식</a:t>
            </a:r>
            <a:endParaRPr lang="en-US" sz="1600" dirty="0"/>
          </a:p>
        </p:txBody>
      </p:sp>
      <p:sp>
        <p:nvSpPr>
          <p:cNvPr id="8" name="Text 5"/>
          <p:cNvSpPr txBox="1"/>
          <p:nvPr/>
        </p:nvSpPr>
        <p:spPr>
          <a:xfrm>
            <a:off x="2011680" y="1444752"/>
            <a:ext cx="1554480" cy="310896"/>
          </a:xfrm>
          <a:prstGeom prst="rect">
            <a:avLst/>
          </a:prstGeom>
          <a:noFill/>
          <a:ln w="9525">
            <a:solidFill>
              <a:srgbClr val="616773"/>
            </a:solidFill>
          </a:ln>
        </p:spPr>
        <p:txBody>
          <a:bodyPr wrap="square" lIns="0" tIns="0" rIns="0" bIns="0" rtlCol="0" anchor="ctr"/>
          <a:lstStyle/>
          <a:p>
            <a:pPr algn="ctr" indent="0" marL="0">
              <a:buNone/>
            </a:pPr>
            <a:r>
              <a:rPr lang="en-US" sz="1000" dirty="0">
                <a:solidFill>
                  <a:srgbClr val="616773"/>
                </a:solidFill>
                <a:latin typeface="Malgun Gothic" pitchFamily="34" charset="0"/>
                <a:ea typeface="Malgun Gothic" pitchFamily="34" charset="-122"/>
                <a:cs typeface="Malgun Gothic" pitchFamily="34" charset="-120"/>
              </a:rPr>
              <a:t>다시 풀 문제 ⚑</a:t>
            </a:r>
            <a:endParaRPr lang="en-US" sz="1000" dirty="0"/>
          </a:p>
        </p:txBody>
      </p:sp>
      <p:sp>
        <p:nvSpPr>
          <p:cNvPr id="9" name="Text 6"/>
          <p:cNvSpPr txBox="1"/>
          <p:nvPr/>
        </p:nvSpPr>
        <p:spPr>
          <a:xfrm>
            <a:off x="548640" y="1828800"/>
            <a:ext cx="10972800" cy="320040"/>
          </a:xfrm>
          <a:prstGeom prst="rect">
            <a:avLst/>
          </a:prstGeom>
          <a:noFill/>
          <a:ln/>
        </p:spPr>
        <p:txBody>
          <a:bodyPr wrap="square" lIns="0" tIns="0" rIns="0" bIns="0" rtlCol="0" anchor="ctr"/>
          <a:lstStyle/>
          <a:p>
            <a:pPr indent="0" marL="0">
              <a:buNone/>
            </a:pPr>
            <a:r>
              <a:rPr lang="en-US" sz="1400" dirty="0">
                <a:solidFill>
                  <a:srgbClr val="15171C"/>
                </a:solidFill>
                <a:latin typeface="Malgun Gothic" pitchFamily="34" charset="0"/>
                <a:ea typeface="Malgun Gothic" pitchFamily="34" charset="-122"/>
                <a:cs typeface="Malgun Gothic" pitchFamily="34" charset="-120"/>
              </a:rPr>
              <a:t>다음 지문을 읽고 물음에 답하세요.</a:t>
            </a:r>
            <a:endParaRPr lang="en-US" sz="1400" dirty="0"/>
          </a:p>
        </p:txBody>
      </p:sp>
      <p:sp>
        <p:nvSpPr>
          <p:cNvPr id="10" name="Shape 7"/>
          <p:cNvSpPr/>
          <p:nvPr/>
        </p:nvSpPr>
        <p:spPr>
          <a:xfrm>
            <a:off x="548640" y="2240280"/>
            <a:ext cx="64008" cy="960120"/>
          </a:xfrm>
          <a:prstGeom prst="rect">
            <a:avLst/>
          </a:prstGeom>
          <a:solidFill>
            <a:srgbClr val="101456"/>
          </a:solidFill>
          <a:ln w="12700">
            <a:solidFill>
              <a:srgbClr val="101456"/>
            </a:solidFill>
            <a:prstDash val="solid"/>
          </a:ln>
        </p:spPr>
      </p:sp>
      <p:sp>
        <p:nvSpPr>
          <p:cNvPr id="11" name="Text 8"/>
          <p:cNvSpPr txBox="1"/>
          <p:nvPr/>
        </p:nvSpPr>
        <p:spPr>
          <a:xfrm>
            <a:off x="731520" y="2240280"/>
            <a:ext cx="10881360" cy="960120"/>
          </a:xfrm>
          <a:prstGeom prst="rect">
            <a:avLst/>
          </a:prstGeom>
          <a:noFill/>
          <a:ln/>
        </p:spPr>
        <p:txBody>
          <a:bodyPr wrap="square" lIns="0" tIns="0" rIns="0" bIns="0" rtlCol="0" anchor="ctr"/>
          <a:lstStyle/>
          <a:p>
            <a:pPr indent="0" marL="0">
              <a:buNone/>
            </a:pPr>
            <a:r>
              <a:rPr lang="en-US" sz="1300" dirty="0">
                <a:solidFill>
                  <a:srgbClr val="616773"/>
                </a:solidFill>
                <a:latin typeface="Malgun Gothic" pitchFamily="34" charset="0"/>
                <a:ea typeface="Malgun Gothic" pitchFamily="34" charset="-122"/>
                <a:cs typeface="Malgun Gothic" pitchFamily="34" charset="-120"/>
              </a:rPr>
              <a:t>고용센터 취업지원팀의 김 주임은 참여자 만족도 설문 결과를 정리하기 위해 대화형 AI 도구를 사용했습니다. 그런데 AI의 1차 산출물을 검토한 결과, 응답하지 않은 문항(무응답)을 인공지능이 임의로 ‘매우 불만족(1점)’으로 일괄 처리하여 프로그램 만족도가 실제보다 비정상적으로 낮게 계산되는 오류가 발생했습니다.</a:t>
            </a:r>
            <a:endParaRPr lang="en-US" sz="1300" dirty="0"/>
          </a:p>
        </p:txBody>
      </p:sp>
      <p:sp>
        <p:nvSpPr>
          <p:cNvPr id="12" name="Text 9"/>
          <p:cNvSpPr txBox="1"/>
          <p:nvPr/>
        </p:nvSpPr>
        <p:spPr>
          <a:xfrm>
            <a:off x="548640" y="3337560"/>
            <a:ext cx="11064240" cy="640080"/>
          </a:xfrm>
          <a:prstGeom prst="rect">
            <a:avLst/>
          </a:prstGeom>
          <a:noFill/>
          <a:ln/>
        </p:spPr>
        <p:txBody>
          <a:bodyPr wrap="square" lIns="0" tIns="0" rIns="0" bIns="0" rtlCol="0" anchor="t"/>
          <a:lstStyle/>
          <a:p>
            <a:pPr indent="0" marL="0">
              <a:buNone/>
            </a:pPr>
            <a:r>
              <a:rPr lang="en-US" sz="1400" b="1" dirty="0">
                <a:solidFill>
                  <a:srgbClr val="15171C"/>
                </a:solidFill>
                <a:latin typeface="Malgun Gothic" pitchFamily="34" charset="0"/>
                <a:ea typeface="Malgun Gothic" pitchFamily="34" charset="-122"/>
                <a:cs typeface="Malgun Gothic" pitchFamily="34" charset="-120"/>
              </a:rPr>
              <a:t>위 지문의 오류를 해결하기 위해 1) 설문 분석 전문가 페르소나 부여, 2) 올바른 무응답 처리 기준 제시, 3) 최종 결과의 표 형태 출력이라는 다중 제약 조건을 모두 만족하는 최적의 프롬프트는 무엇인가요?</a:t>
            </a:r>
            <a:endParaRPr lang="en-US" sz="1400" dirty="0"/>
          </a:p>
        </p:txBody>
      </p:sp>
      <p:sp>
        <p:nvSpPr>
          <p:cNvPr id="13" name="Text 10"/>
          <p:cNvSpPr txBox="1"/>
          <p:nvPr/>
        </p:nvSpPr>
        <p:spPr>
          <a:xfrm>
            <a:off x="548640" y="4023360"/>
            <a:ext cx="3657600" cy="228600"/>
          </a:xfrm>
          <a:prstGeom prst="rect">
            <a:avLst/>
          </a:prstGeom>
          <a:noFill/>
          <a:ln/>
        </p:spPr>
        <p:txBody>
          <a:bodyPr wrap="square" lIns="0" tIns="0" rIns="0" bIns="0" rtlCol="0" anchor="ctr"/>
          <a:lstStyle/>
          <a:p>
            <a:pPr indent="0" marL="0">
              <a:buNone/>
            </a:pPr>
            <a:r>
              <a:rPr lang="en-US" sz="1000" dirty="0">
                <a:solidFill>
                  <a:srgbClr val="616773"/>
                </a:solidFill>
                <a:latin typeface="Malgun Gothic" pitchFamily="34" charset="0"/>
                <a:ea typeface="Malgun Gothic" pitchFamily="34" charset="-122"/>
                <a:cs typeface="Malgun Gothic" pitchFamily="34" charset="-120"/>
              </a:rPr>
              <a:t>답안을 선택하세요 ↴</a:t>
            </a:r>
            <a:endParaRPr lang="en-US" sz="1000" dirty="0"/>
          </a:p>
        </p:txBody>
      </p:sp>
      <p:sp>
        <p:nvSpPr>
          <p:cNvPr id="14" name="Text 11"/>
          <p:cNvSpPr txBox="1"/>
          <p:nvPr/>
        </p:nvSpPr>
        <p:spPr>
          <a:xfrm>
            <a:off x="548640" y="4297680"/>
            <a:ext cx="11064240" cy="1783080"/>
          </a:xfrm>
          <a:prstGeom prst="rect">
            <a:avLst/>
          </a:prstGeom>
          <a:noFill/>
          <a:ln/>
        </p:spPr>
        <p:txBody>
          <a:bodyPr wrap="square" lIns="0" tIns="0" rIns="0" bIns="0" rtlCol="0" anchor="t"/>
          <a:lstStyle/>
          <a:p>
            <a:pPr indent="0" marL="0">
              <a:spcAft>
                <a:spcPts val="500"/>
              </a:spcAft>
              <a:buNone/>
            </a:pPr>
            <a:r>
              <a:rPr lang="en-US" sz="1300" dirty="0">
                <a:solidFill>
                  <a:srgbClr val="15171C"/>
                </a:solidFill>
                <a:latin typeface="Malgun Gothic" pitchFamily="34" charset="0"/>
                <a:ea typeface="Malgun Gothic" pitchFamily="34" charset="-122"/>
                <a:cs typeface="Malgun Gothic" pitchFamily="34" charset="-120"/>
              </a:rPr>
              <a:t>①  너는 설문 분석 전문가야. 통계 왜곡을 막기 위해 무응답을 모두 1점으로 유지하되, 문항별 평균 만족도를 한눈에 볼 수 있도록 표 형태로 정리해 줘.</a:t>
            </a:r>
            <a:endParaRPr lang="en-US" sz="1300" dirty="0"/>
          </a:p>
          <a:p>
            <a:pPr indent="0" marL="0">
              <a:spcAft>
                <a:spcPts val="500"/>
              </a:spcAft>
              <a:buNone/>
            </a:pPr>
            <a:r>
              <a:rPr lang="en-US" sz="1300" dirty="0">
                <a:solidFill>
                  <a:srgbClr val="15171C"/>
                </a:solidFill>
                <a:latin typeface="Malgun Gothic" pitchFamily="34" charset="0"/>
                <a:ea typeface="Malgun Gothic" pitchFamily="34" charset="-122"/>
                <a:cs typeface="Malgun Gothic" pitchFamily="34" charset="-120"/>
              </a:rPr>
              <a:t>②  너는 취업지원팀 팀장이야. 통계 왜곡을 막기 위해 무응답은 평균 계산에서 제외하고 문항별 응답 수를 함께 적어, 최종 결과를 표 형태로 다시 제시해 줘.</a:t>
            </a:r>
            <a:endParaRPr lang="en-US" sz="1300" dirty="0"/>
          </a:p>
          <a:p>
            <a:pPr indent="0" marL="0">
              <a:spcAft>
                <a:spcPts val="500"/>
              </a:spcAft>
              <a:buNone/>
            </a:pPr>
            <a:r>
              <a:rPr lang="en-US" sz="1300" dirty="0">
                <a:solidFill>
                  <a:srgbClr val="15171C"/>
                </a:solidFill>
                <a:latin typeface="Malgun Gothic" pitchFamily="34" charset="0"/>
                <a:ea typeface="Malgun Gothic" pitchFamily="34" charset="-122"/>
                <a:cs typeface="Malgun Gothic" pitchFamily="34" charset="-120"/>
              </a:rPr>
              <a:t>③  너는 설문 분석 전문가야. 통계 왜곡을 막기 위해 무응답은 평균 계산에서 제외하고 문항별 응답 수를 함께 적어, 최종 결과를 표 형태로 다시 제시해 줘.</a:t>
            </a:r>
            <a:endParaRPr lang="en-US" sz="1300" dirty="0"/>
          </a:p>
          <a:p>
            <a:pPr indent="0" marL="0">
              <a:spcAft>
                <a:spcPts val="500"/>
              </a:spcAft>
              <a:buNone/>
            </a:pPr>
            <a:r>
              <a:rPr lang="en-US" sz="1300" dirty="0">
                <a:solidFill>
                  <a:srgbClr val="15171C"/>
                </a:solidFill>
                <a:latin typeface="Malgun Gothic" pitchFamily="34" charset="0"/>
                <a:ea typeface="Malgun Gothic" pitchFamily="34" charset="-122"/>
                <a:cs typeface="Malgun Gothic" pitchFamily="34" charset="-120"/>
              </a:rPr>
              <a:t>④  너는 설문 분석 전문가야. 통계 왜곡을 막기 위해 무응답은 평균 계산에서 제외하고, 무응답이 발생하게 된 원인을 서술형 문장으로 자세히 설명해 줘.</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dirty="0">
                <a:solidFill>
                  <a:srgbClr val="616773"/>
                </a:solidFill>
                <a:latin typeface="Malgun Gothic" pitchFamily="34" charset="0"/>
                <a:ea typeface="Malgun Gothic" pitchFamily="34" charset="-122"/>
                <a:cs typeface="Malgun Gothic" pitchFamily="34" charset="-120"/>
              </a:rPr>
              <a:t>도입 ⑥ · 직접 풀어보기 2</a:t>
            </a:r>
            <a:endParaRPr lang="en-US" sz="1100" dirty="0"/>
          </a:p>
        </p:txBody>
      </p:sp>
      <p:sp>
        <p:nvSpPr>
          <p:cNvPr id="3" name="Text 1"/>
          <p:cNvSpPr txBox="1"/>
          <p:nvPr/>
        </p:nvSpPr>
        <p:spPr>
          <a:xfrm>
            <a:off x="548640" y="685800"/>
            <a:ext cx="11064240" cy="731520"/>
          </a:xfrm>
          <a:prstGeom prst="rect">
            <a:avLst/>
          </a:prstGeom>
          <a:noFill/>
          <a:ln/>
        </p:spPr>
        <p:txBody>
          <a:bodyPr wrap="square" lIns="0" tIns="0" rIns="0" bIns="0" rtlCol="0" anchor="ctr">
            <a:normAutofit/>
          </a:bodyPr>
          <a:lstStyle/>
          <a:p>
            <a:pPr indent="0" marL="0">
              <a:buNone/>
            </a:pPr>
            <a:r>
              <a:rPr lang="en-US" sz="2800" b="1" dirty="0">
                <a:solidFill>
                  <a:srgbClr val="15171C"/>
                </a:solidFill>
                <a:latin typeface="Malgun Gothic" pitchFamily="34" charset="0"/>
                <a:ea typeface="Malgun Gothic" pitchFamily="34" charset="-122"/>
                <a:cs typeface="Malgun Gothic" pitchFamily="34" charset="-120"/>
              </a:rPr>
              <a:t>[연습 2] 실제 시험처럼 풀어보기 — 파일 실습형</a:t>
            </a:r>
            <a:endParaRPr lang="en-US" sz="2800" dirty="0"/>
          </a:p>
        </p:txBody>
      </p:sp>
      <p:sp>
        <p:nvSpPr>
          <p:cNvPr id="4" name="Text 2"/>
          <p:cNvSpPr txBox="1"/>
          <p:nvPr/>
        </p:nvSpPr>
        <p:spPr>
          <a:xfrm>
            <a:off x="548640" y="6172200"/>
            <a:ext cx="10241280" cy="411480"/>
          </a:xfrm>
          <a:prstGeom prst="rect">
            <a:avLst/>
          </a:prstGeom>
          <a:noFill/>
          <a:ln/>
        </p:spPr>
        <p:txBody>
          <a:bodyPr wrap="square" lIns="0" tIns="0" rIns="0" bIns="0" rtlCol="0" anchor="t"/>
          <a:lstStyle/>
          <a:p>
            <a:pPr indent="0" marL="0">
              <a:buNone/>
            </a:pPr>
            <a:r>
              <a:rPr lang="en-US" sz="1000" dirty="0">
                <a:solidFill>
                  <a:srgbClr val="616773"/>
                </a:solidFill>
                <a:latin typeface="Malgun Gothic" pitchFamily="34" charset="0"/>
                <a:ea typeface="Malgun Gothic" pitchFamily="34" charset="-122"/>
                <a:cs typeface="Malgun Gothic" pitchFamily="34" charset="-120"/>
              </a:rPr>
              <a:t>연습문제: 커리어캐쳐 자체 제작(AI 활용평가 실습형 화면 구성 참고). 데이터는 가상이며 정답·해설은 슬라이드 노트</a:t>
            </a:r>
            <a:endParaRPr lang="en-US" sz="1000" dirty="0"/>
          </a:p>
        </p:txBody>
      </p:sp>
      <p:sp>
        <p:nvSpPr>
          <p:cNvPr id="5" name="Text 3"/>
          <p:cNvSpPr txBox="1"/>
          <p:nvPr/>
        </p:nvSpPr>
        <p:spPr>
          <a:xfrm>
            <a:off x="10972800" y="6355080"/>
            <a:ext cx="731520" cy="228600"/>
          </a:xfrm>
          <a:prstGeom prst="rect">
            <a:avLst/>
          </a:prstGeom>
          <a:noFill/>
          <a:ln/>
        </p:spPr>
        <p:txBody>
          <a:bodyPr wrap="square" lIns="0" tIns="0" rIns="0" bIns="0" rtlCol="0" anchor="ctr"/>
          <a:lstStyle/>
          <a:p>
            <a:pPr algn="r" indent="0" marL="0">
              <a:buNone/>
            </a:pPr>
            <a:r>
              <a:rPr lang="en-US" sz="1100" b="1" dirty="0">
                <a:solidFill>
                  <a:srgbClr val="101456"/>
                </a:solidFill>
                <a:latin typeface="Malgun Gothic" pitchFamily="34" charset="0"/>
                <a:ea typeface="Malgun Gothic" pitchFamily="34" charset="-122"/>
                <a:cs typeface="Malgun Gothic" pitchFamily="34" charset="-120"/>
              </a:rPr>
              <a:t>I-6</a:t>
            </a:r>
            <a:endParaRPr lang="en-US" sz="1100" dirty="0"/>
          </a:p>
        </p:txBody>
      </p:sp>
      <p:sp>
        <p:nvSpPr>
          <p:cNvPr id="7" name="Text 4"/>
          <p:cNvSpPr txBox="1"/>
          <p:nvPr/>
        </p:nvSpPr>
        <p:spPr>
          <a:xfrm>
            <a:off x="548640" y="1417320"/>
            <a:ext cx="11064240" cy="777240"/>
          </a:xfrm>
          <a:prstGeom prst="rect">
            <a:avLst/>
          </a:prstGeom>
          <a:noFill/>
          <a:ln/>
        </p:spPr>
        <p:txBody>
          <a:bodyPr wrap="square" lIns="0" tIns="0" rIns="0" bIns="0" rtlCol="0" anchor="t"/>
          <a:lstStyle/>
          <a:p>
            <a:pPr indent="0" marL="0">
              <a:buNone/>
            </a:pPr>
            <a:r>
              <a:rPr lang="en-US" sz="1200" b="1" dirty="0">
                <a:solidFill>
                  <a:srgbClr val="15171C"/>
                </a:solidFill>
                <a:latin typeface="Malgun Gothic" pitchFamily="34" charset="0"/>
                <a:ea typeface="Malgun Gothic" pitchFamily="34" charset="-122"/>
                <a:cs typeface="Malgun Gothic" pitchFamily="34" charset="-120"/>
              </a:rPr>
              <a:t>주의사항</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 한 명당 하나의 반만 신청 가능합니다. 한 사람이 여러 번 신청한 경우, 가장 마지막 신청 이외에는 모두 취소됩니다. 예) 민준:면접반 → 민준:자소서반 순서로 신청 시 앞의 신청은 취소됨</a:t>
            </a:r>
            <a:endParaRPr lang="en-US" sz="1200" dirty="0"/>
          </a:p>
        </p:txBody>
      </p:sp>
      <p:sp>
        <p:nvSpPr>
          <p:cNvPr id="8" name="Shape 5"/>
          <p:cNvSpPr/>
          <p:nvPr/>
        </p:nvSpPr>
        <p:spPr>
          <a:xfrm>
            <a:off x="548640" y="2286000"/>
            <a:ext cx="2468880" cy="1097280"/>
          </a:xfrm>
          <a:prstGeom prst="rect">
            <a:avLst/>
          </a:prstGeom>
          <a:solidFill>
            <a:srgbClr val="EEF1FC"/>
          </a:solidFill>
          <a:ln w="12700">
            <a:solidFill>
              <a:srgbClr val="EEF1FC"/>
            </a:solidFill>
            <a:prstDash val="solid"/>
          </a:ln>
        </p:spPr>
      </p:sp>
      <p:sp>
        <p:nvSpPr>
          <p:cNvPr id="9" name="Text 6"/>
          <p:cNvSpPr txBox="1"/>
          <p:nvPr/>
        </p:nvSpPr>
        <p:spPr>
          <a:xfrm>
            <a:off x="548640" y="2286000"/>
            <a:ext cx="2468880" cy="1097280"/>
          </a:xfrm>
          <a:prstGeom prst="rect">
            <a:avLst/>
          </a:prstGeom>
          <a:noFill/>
          <a:ln/>
        </p:spPr>
        <p:txBody>
          <a:bodyPr wrap="square" lIns="1524" tIns="1524" rIns="1524" bIns="1524" rtlCol="0" anchor="t"/>
          <a:lstStyle/>
          <a:p>
            <a:pPr indent="0" marL="0">
              <a:buNone/>
            </a:pPr>
            <a:r>
              <a:rPr lang="en-US" sz="1200" b="1" dirty="0">
                <a:solidFill>
                  <a:srgbClr val="15171C"/>
                </a:solidFill>
                <a:latin typeface="Malgun Gothic" pitchFamily="34" charset="0"/>
                <a:ea typeface="Malgun Gothic" pitchFamily="34" charset="-122"/>
                <a:cs typeface="Malgun Gothic" pitchFamily="34" charset="-120"/>
              </a:rPr>
              <a:t>파일 목록</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특강신청.pdf   412</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참여자명단.png   236</a:t>
            </a:r>
            <a:endParaRPr lang="en-US" sz="1200" dirty="0"/>
          </a:p>
        </p:txBody>
      </p:sp>
      <p:sp>
        <p:nvSpPr>
          <p:cNvPr id="10" name="Text 7"/>
          <p:cNvSpPr txBox="1"/>
          <p:nvPr/>
        </p:nvSpPr>
        <p:spPr>
          <a:xfrm>
            <a:off x="3200400" y="2286000"/>
            <a:ext cx="3840480" cy="2926080"/>
          </a:xfrm>
          <a:prstGeom prst="rect">
            <a:avLst/>
          </a:prstGeom>
          <a:noFill/>
          <a:ln w="9525">
            <a:solidFill>
              <a:srgbClr val="616773"/>
            </a:solidFill>
          </a:ln>
        </p:spPr>
        <p:txBody>
          <a:bodyPr wrap="square" lIns="1524" tIns="1524" rIns="1524" bIns="1524" rtlCol="0" anchor="t"/>
          <a:lstStyle/>
          <a:p>
            <a:pPr indent="0" marL="0">
              <a:buNone/>
            </a:pPr>
            <a:r>
              <a:rPr lang="en-US" sz="1200" b="1" dirty="0">
                <a:solidFill>
                  <a:srgbClr val="15171C"/>
                </a:solidFill>
                <a:latin typeface="Malgun Gothic" pitchFamily="34" charset="0"/>
                <a:ea typeface="Malgun Gothic" pitchFamily="34" charset="-122"/>
                <a:cs typeface="Malgun Gothic" pitchFamily="34" charset="-120"/>
              </a:rPr>
              <a:t>특강신청.pdf</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09:02  민준 : 면접반</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09:10  서연 : 자소서반</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09:15  민준 : 자소서반</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09:21  하은 : 면접반</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09:33  지우 : 자소서반</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09:40  서연 : 면접반</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09:52  지우 : 면접반</a:t>
            </a:r>
            <a:endParaRPr lang="en-US" sz="1200" dirty="0"/>
          </a:p>
          <a:p>
            <a:pPr indent="0" marL="0">
              <a:buNone/>
            </a:pPr>
            <a:r>
              <a:rPr lang="en-US" sz="1100" dirty="0">
                <a:solidFill>
                  <a:srgbClr val="616773"/>
                </a:solidFill>
                <a:latin typeface="Malgun Gothic" pitchFamily="34" charset="0"/>
                <a:ea typeface="Malgun Gothic" pitchFamily="34" charset="-122"/>
                <a:cs typeface="Malgun Gothic" pitchFamily="34" charset="-120"/>
              </a:rPr>
              <a:t>참여자명단.png : 민준·서연·하은·지우·도윤 (5명)</a:t>
            </a:r>
            <a:endParaRPr lang="en-US" sz="1200" dirty="0"/>
          </a:p>
        </p:txBody>
      </p:sp>
      <p:sp>
        <p:nvSpPr>
          <p:cNvPr id="11" name="Shape 8"/>
          <p:cNvSpPr/>
          <p:nvPr/>
        </p:nvSpPr>
        <p:spPr>
          <a:xfrm>
            <a:off x="7223760" y="2286000"/>
            <a:ext cx="4389120" cy="2926080"/>
          </a:xfrm>
          <a:prstGeom prst="rect">
            <a:avLst/>
          </a:prstGeom>
          <a:solidFill>
            <a:srgbClr val="EEF1FC"/>
          </a:solidFill>
          <a:ln w="12700">
            <a:solidFill>
              <a:srgbClr val="EEF1FC"/>
            </a:solidFill>
            <a:prstDash val="solid"/>
          </a:ln>
        </p:spPr>
      </p:sp>
      <p:sp>
        <p:nvSpPr>
          <p:cNvPr id="12" name="Text 9"/>
          <p:cNvSpPr txBox="1"/>
          <p:nvPr/>
        </p:nvSpPr>
        <p:spPr>
          <a:xfrm>
            <a:off x="7223760" y="2286000"/>
            <a:ext cx="4389120" cy="2926080"/>
          </a:xfrm>
          <a:prstGeom prst="rect">
            <a:avLst/>
          </a:prstGeom>
          <a:noFill/>
          <a:ln/>
        </p:spPr>
        <p:txBody>
          <a:bodyPr wrap="square" lIns="1905" tIns="1905" rIns="1905" bIns="1905" rtlCol="0" anchor="t"/>
          <a:lstStyle/>
          <a:p>
            <a:pPr indent="0" marL="0">
              <a:spcAft>
                <a:spcPts val="800"/>
              </a:spcAft>
              <a:buNone/>
            </a:pPr>
            <a:r>
              <a:rPr lang="en-US" sz="1200" b="1" dirty="0">
                <a:solidFill>
                  <a:srgbClr val="15171C"/>
                </a:solidFill>
                <a:latin typeface="Malgun Gothic" pitchFamily="34" charset="0"/>
                <a:ea typeface="Malgun Gothic" pitchFamily="34" charset="-122"/>
                <a:cs typeface="Malgun Gothic" pitchFamily="34" charset="-120"/>
              </a:rPr>
              <a:t>AI 어시스턴트  ● 3회 남음</a:t>
            </a:r>
            <a:endParaRPr lang="en-US" sz="1200" dirty="0"/>
          </a:p>
          <a:p>
            <a:pPr indent="0" marL="0">
              <a:spcAft>
                <a:spcPts val="800"/>
              </a:spcAft>
              <a:buNone/>
            </a:pPr>
            <a:r>
              <a:rPr lang="en-US" sz="1200" dirty="0">
                <a:solidFill>
                  <a:srgbClr val="101456"/>
                </a:solidFill>
                <a:latin typeface="Malgun Gothic" pitchFamily="34" charset="0"/>
                <a:ea typeface="Malgun Gothic" pitchFamily="34" charset="-122"/>
                <a:cs typeface="Malgun Gothic" pitchFamily="34" charset="-120"/>
              </a:rPr>
              <a:t>나: “특강신청.pdf에서 반별 최종 인원과, 참여자명단.png 중 미신청자를 알려줘”</a:t>
            </a:r>
            <a:endParaRPr lang="en-US" sz="1200" dirty="0"/>
          </a:p>
          <a:p>
            <a:pPr indent="0" marL="0">
              <a:buNone/>
            </a:pPr>
            <a:r>
              <a:rPr lang="en-US" sz="1200" dirty="0">
                <a:solidFill>
                  <a:srgbClr val="15171C"/>
                </a:solidFill>
                <a:latin typeface="Malgun Gothic" pitchFamily="34" charset="0"/>
                <a:ea typeface="Malgun Gothic" pitchFamily="34" charset="-122"/>
                <a:cs typeface="Malgun Gothic" pitchFamily="34" charset="-120"/>
              </a:rPr>
              <a:t>AI: “면접반 4명, 자소서반 3명입니다. 명단 5명 모두 신청 기록이 있어 미신청자는 없습니다.”</a:t>
            </a:r>
            <a:endParaRPr lang="en-US" sz="1200" dirty="0"/>
          </a:p>
        </p:txBody>
      </p:sp>
      <p:sp>
        <p:nvSpPr>
          <p:cNvPr id="13" name="Text 10"/>
          <p:cNvSpPr txBox="1"/>
          <p:nvPr/>
        </p:nvSpPr>
        <p:spPr>
          <a:xfrm>
            <a:off x="548640" y="5349240"/>
            <a:ext cx="11064240" cy="777240"/>
          </a:xfrm>
          <a:prstGeom prst="rect">
            <a:avLst/>
          </a:prstGeom>
          <a:noFill/>
          <a:ln/>
        </p:spPr>
        <p:txBody>
          <a:bodyPr wrap="square" lIns="0" tIns="0" rIns="0" bIns="0" rtlCol="0" anchor="t"/>
          <a:lstStyle/>
          <a:p>
            <a:pPr indent="0" marL="0">
              <a:spcAft>
                <a:spcPts val="400"/>
              </a:spcAft>
              <a:buNone/>
            </a:pPr>
            <a:r>
              <a:rPr lang="en-US" sz="1300" b="1" dirty="0">
                <a:solidFill>
                  <a:srgbClr val="15171C"/>
                </a:solidFill>
                <a:latin typeface="Malgun Gothic" pitchFamily="34" charset="0"/>
                <a:ea typeface="Malgun Gothic" pitchFamily="34" charset="-122"/>
                <a:cs typeface="Malgun Gothic" pitchFamily="34" charset="-120"/>
              </a:rPr>
              <a:t>Q. 주의사항을 적용한 면접반 최종 인원과 미신청자로 옳은 것은?</a:t>
            </a:r>
            <a:endParaRPr lang="en-US" sz="1300" dirty="0"/>
          </a:p>
          <a:p>
            <a:pPr indent="0" marL="0">
              <a:buNone/>
            </a:pPr>
            <a:r>
              <a:rPr lang="en-US" sz="1300" dirty="0">
                <a:solidFill>
                  <a:srgbClr val="15171C"/>
                </a:solidFill>
                <a:latin typeface="Malgun Gothic" pitchFamily="34" charset="0"/>
                <a:ea typeface="Malgun Gothic" pitchFamily="34" charset="-122"/>
                <a:cs typeface="Malgun Gothic" pitchFamily="34" charset="-120"/>
              </a:rPr>
              <a:t>①  면접반 4명 · 미신청자 없음      ②  면접반 3명 · 도윤      ③  면접반 3명 · 미신청자 없음      ④  면접반 2명 · 도윤</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dirty="0">
                <a:solidFill>
                  <a:srgbClr val="616773"/>
                </a:solidFill>
                <a:latin typeface="Malgun Gothic" pitchFamily="34" charset="0"/>
                <a:ea typeface="Malgun Gothic" pitchFamily="34" charset="-122"/>
                <a:cs typeface="Malgun Gothic" pitchFamily="34" charset="-120"/>
              </a:rPr>
              <a:t>도입 ⑦ · 정답 해설 1</a:t>
            </a:r>
            <a:endParaRPr lang="en-US" sz="1100" dirty="0"/>
          </a:p>
        </p:txBody>
      </p:sp>
      <p:sp>
        <p:nvSpPr>
          <p:cNvPr id="3" name="Text 1"/>
          <p:cNvSpPr txBox="1"/>
          <p:nvPr/>
        </p:nvSpPr>
        <p:spPr>
          <a:xfrm>
            <a:off x="548640" y="685800"/>
            <a:ext cx="11064240" cy="731520"/>
          </a:xfrm>
          <a:prstGeom prst="rect">
            <a:avLst/>
          </a:prstGeom>
          <a:noFill/>
          <a:ln/>
        </p:spPr>
        <p:txBody>
          <a:bodyPr wrap="square" lIns="0" tIns="0" rIns="0" bIns="0" rtlCol="0" anchor="ctr">
            <a:normAutofit/>
          </a:bodyPr>
          <a:lstStyle/>
          <a:p>
            <a:pPr indent="0" marL="0">
              <a:buNone/>
            </a:pPr>
            <a:r>
              <a:rPr lang="en-US" sz="2800" b="1" dirty="0">
                <a:solidFill>
                  <a:srgbClr val="15171C"/>
                </a:solidFill>
                <a:latin typeface="Malgun Gothic" pitchFamily="34" charset="0"/>
                <a:ea typeface="Malgun Gothic" pitchFamily="34" charset="-122"/>
                <a:cs typeface="Malgun Gothic" pitchFamily="34" charset="-120"/>
              </a:rPr>
              <a:t>[연습 1 해설] 정답 ③ — 조건 세 가지를 모두 갖춘 보기</a:t>
            </a:r>
            <a:endParaRPr lang="en-US" sz="2800" dirty="0"/>
          </a:p>
        </p:txBody>
      </p:sp>
      <p:sp>
        <p:nvSpPr>
          <p:cNvPr id="4" name="Text 2"/>
          <p:cNvSpPr txBox="1"/>
          <p:nvPr/>
        </p:nvSpPr>
        <p:spPr>
          <a:xfrm>
            <a:off x="548640" y="6172200"/>
            <a:ext cx="10241280" cy="411480"/>
          </a:xfrm>
          <a:prstGeom prst="rect">
            <a:avLst/>
          </a:prstGeom>
          <a:noFill/>
          <a:ln/>
        </p:spPr>
        <p:txBody>
          <a:bodyPr wrap="square" lIns="0" tIns="0" rIns="0" bIns="0" rtlCol="0" anchor="t"/>
          <a:lstStyle/>
          <a:p>
            <a:pPr indent="0" marL="0">
              <a:buNone/>
            </a:pPr>
            <a:r>
              <a:rPr lang="en-US" sz="1000" dirty="0">
                <a:solidFill>
                  <a:srgbClr val="616773"/>
                </a:solidFill>
                <a:latin typeface="Malgun Gothic" pitchFamily="34" charset="0"/>
                <a:ea typeface="Malgun Gothic" pitchFamily="34" charset="-122"/>
                <a:cs typeface="Malgun Gothic" pitchFamily="34" charset="-120"/>
              </a:rPr>
              <a:t>연습문제: 커리어캐쳐 자체 제작(AI 활용평가 객관식 유형 참고)</a:t>
            </a:r>
            <a:endParaRPr lang="en-US" sz="1000" dirty="0"/>
          </a:p>
        </p:txBody>
      </p:sp>
      <p:sp>
        <p:nvSpPr>
          <p:cNvPr id="5" name="Text 3"/>
          <p:cNvSpPr txBox="1"/>
          <p:nvPr/>
        </p:nvSpPr>
        <p:spPr>
          <a:xfrm>
            <a:off x="10972800" y="6355080"/>
            <a:ext cx="731520" cy="228600"/>
          </a:xfrm>
          <a:prstGeom prst="rect">
            <a:avLst/>
          </a:prstGeom>
          <a:noFill/>
          <a:ln/>
        </p:spPr>
        <p:txBody>
          <a:bodyPr wrap="square" lIns="0" tIns="0" rIns="0" bIns="0" rtlCol="0" anchor="ctr"/>
          <a:lstStyle/>
          <a:p>
            <a:pPr algn="r" indent="0" marL="0">
              <a:buNone/>
            </a:pPr>
            <a:r>
              <a:rPr lang="en-US" sz="1100" b="1" dirty="0">
                <a:solidFill>
                  <a:srgbClr val="101456"/>
                </a:solidFill>
                <a:latin typeface="Malgun Gothic" pitchFamily="34" charset="0"/>
                <a:ea typeface="Malgun Gothic" pitchFamily="34" charset="-122"/>
                <a:cs typeface="Malgun Gothic" pitchFamily="34" charset="-120"/>
              </a:rPr>
              <a:t>I-7</a:t>
            </a:r>
            <a:endParaRPr lang="en-US" sz="1100" dirty="0"/>
          </a:p>
        </p:txBody>
      </p:sp>
      <p:sp>
        <p:nvSpPr>
          <p:cNvPr id="6" name="Text 4"/>
          <p:cNvSpPr txBox="1"/>
          <p:nvPr/>
        </p:nvSpPr>
        <p:spPr>
          <a:xfrm>
            <a:off x="548640" y="1463040"/>
            <a:ext cx="11064240" cy="502920"/>
          </a:xfrm>
          <a:prstGeom prst="rect">
            <a:avLst/>
          </a:prstGeom>
          <a:solidFill>
            <a:srgbClr val="EEF1FC"/>
          </a:solidFill>
          <a:ln/>
        </p:spPr>
        <p:txBody>
          <a:bodyPr wrap="square" lIns="0" tIns="1905" rIns="1905" bIns="0" rtlCol="0" anchor="ctr"/>
          <a:lstStyle/>
          <a:p>
            <a:pPr indent="0" marL="0">
              <a:buNone/>
            </a:pPr>
            <a:r>
              <a:rPr lang="en-US" sz="1400" dirty="0">
                <a:solidFill>
                  <a:srgbClr val="15171C"/>
                </a:solidFill>
                <a:latin typeface="Malgun Gothic" pitchFamily="34" charset="0"/>
                <a:ea typeface="Malgun Gothic" pitchFamily="34" charset="-122"/>
                <a:cs typeface="Malgun Gothic" pitchFamily="34" charset="-120"/>
              </a:rPr>
              <a:t>풀이 방법  보기마다 조건 ① 페르소나 ② 무응답 처리 기준 ③ 표 출력을 하나씩 대조해, 셋 다 맞는 보기를 고릅니다.</a:t>
            </a:r>
            <a:endParaRPr lang="en-US" sz="1400" dirty="0"/>
          </a:p>
        </p:txBody>
      </p:sp>
      <p:sp>
        <p:nvSpPr>
          <p:cNvPr id="7" name="Shape 5"/>
          <p:cNvSpPr/>
          <p:nvPr/>
        </p:nvSpPr>
        <p:spPr>
          <a:xfrm>
            <a:off x="548640" y="2148840"/>
            <a:ext cx="11064240" cy="457200"/>
          </a:xfrm>
          <a:prstGeom prst="rect">
            <a:avLst/>
          </a:prstGeom>
          <a:solidFill>
            <a:srgbClr val="101456"/>
          </a:solidFill>
          <a:ln w="12700">
            <a:solidFill>
              <a:srgbClr val="101456"/>
            </a:solidFill>
            <a:prstDash val="solid"/>
          </a:ln>
        </p:spPr>
      </p:sp>
      <p:sp>
        <p:nvSpPr>
          <p:cNvPr id="8" name="Text 6"/>
          <p:cNvSpPr txBox="1"/>
          <p:nvPr/>
        </p:nvSpPr>
        <p:spPr>
          <a:xfrm>
            <a:off x="548640" y="2148840"/>
            <a:ext cx="1188720" cy="457200"/>
          </a:xfrm>
          <a:prstGeom prst="rect">
            <a:avLst/>
          </a:prstGeom>
          <a:noFill/>
          <a:ln/>
        </p:spPr>
        <p:txBody>
          <a:bodyPr wrap="square" lIns="0" tIns="1905" rIns="1905"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보기</a:t>
            </a:r>
            <a:endParaRPr lang="en-US" sz="1400" dirty="0"/>
          </a:p>
        </p:txBody>
      </p:sp>
      <p:sp>
        <p:nvSpPr>
          <p:cNvPr id="9" name="Text 7"/>
          <p:cNvSpPr txBox="1"/>
          <p:nvPr/>
        </p:nvSpPr>
        <p:spPr>
          <a:xfrm>
            <a:off x="1737360" y="2148840"/>
            <a:ext cx="1371600" cy="457200"/>
          </a:xfrm>
          <a:prstGeom prst="rect">
            <a:avLst/>
          </a:prstGeom>
          <a:noFill/>
          <a:ln/>
        </p:spPr>
        <p:txBody>
          <a:bodyPr wrap="square" lIns="0" tIns="1905" rIns="1905"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판정</a:t>
            </a:r>
            <a:endParaRPr lang="en-US" sz="1400" dirty="0"/>
          </a:p>
        </p:txBody>
      </p:sp>
      <p:sp>
        <p:nvSpPr>
          <p:cNvPr id="10" name="Text 8"/>
          <p:cNvSpPr txBox="1"/>
          <p:nvPr/>
        </p:nvSpPr>
        <p:spPr>
          <a:xfrm>
            <a:off x="3108960" y="2148840"/>
            <a:ext cx="8503920" cy="457200"/>
          </a:xfrm>
          <a:prstGeom prst="rect">
            <a:avLst/>
          </a:prstGeom>
          <a:noFill/>
          <a:ln/>
        </p:spPr>
        <p:txBody>
          <a:bodyPr wrap="square" lIns="0" tIns="1905" rIns="1905"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이유</a:t>
            </a:r>
            <a:endParaRPr lang="en-US" sz="1400" dirty="0"/>
          </a:p>
        </p:txBody>
      </p:sp>
      <p:sp>
        <p:nvSpPr>
          <p:cNvPr id="11" name="Shape 9"/>
          <p:cNvSpPr/>
          <p:nvPr/>
        </p:nvSpPr>
        <p:spPr>
          <a:xfrm>
            <a:off x="548640" y="2651760"/>
            <a:ext cx="11064240" cy="594360"/>
          </a:xfrm>
          <a:prstGeom prst="rect">
            <a:avLst/>
          </a:prstGeom>
          <a:solidFill>
            <a:srgbClr val="EEF1FC"/>
          </a:solidFill>
          <a:ln w="12700">
            <a:solidFill>
              <a:srgbClr val="EEF1FC"/>
            </a:solidFill>
            <a:prstDash val="solid"/>
          </a:ln>
        </p:spPr>
      </p:sp>
      <p:sp>
        <p:nvSpPr>
          <p:cNvPr id="12" name="Text 10"/>
          <p:cNvSpPr txBox="1"/>
          <p:nvPr/>
        </p:nvSpPr>
        <p:spPr>
          <a:xfrm>
            <a:off x="548640" y="2651760"/>
            <a:ext cx="1188720" cy="594360"/>
          </a:xfrm>
          <a:prstGeom prst="rect">
            <a:avLst/>
          </a:prstGeom>
          <a:noFill/>
          <a:ln/>
        </p:spPr>
        <p:txBody>
          <a:bodyPr wrap="square" lIns="0" tIns="1905" rIns="1905" bIns="0" rtlCol="0" anchor="ctr"/>
          <a:lstStyle/>
          <a:p>
            <a:pPr indent="0" marL="0">
              <a:buNone/>
            </a:pPr>
            <a:r>
              <a:rPr lang="en-US" sz="1400" b="1" dirty="0">
                <a:solidFill>
                  <a:srgbClr val="15171C"/>
                </a:solidFill>
                <a:latin typeface="Malgun Gothic" pitchFamily="34" charset="0"/>
                <a:ea typeface="Malgun Gothic" pitchFamily="34" charset="-122"/>
                <a:cs typeface="Malgun Gothic" pitchFamily="34" charset="-120"/>
              </a:rPr>
              <a:t>①</a:t>
            </a:r>
            <a:endParaRPr lang="en-US" sz="1400" dirty="0"/>
          </a:p>
        </p:txBody>
      </p:sp>
      <p:sp>
        <p:nvSpPr>
          <p:cNvPr id="13" name="Text 11"/>
          <p:cNvSpPr txBox="1"/>
          <p:nvPr/>
        </p:nvSpPr>
        <p:spPr>
          <a:xfrm>
            <a:off x="1737360" y="2651760"/>
            <a:ext cx="1371600" cy="594360"/>
          </a:xfrm>
          <a:prstGeom prst="rect">
            <a:avLst/>
          </a:prstGeom>
          <a:noFill/>
          <a:ln/>
        </p:spPr>
        <p:txBody>
          <a:bodyPr wrap="square" lIns="0" tIns="1905" rIns="1905" bIns="0" rtlCol="0" anchor="ctr"/>
          <a:lstStyle/>
          <a:p>
            <a:pPr indent="0" marL="0">
              <a:buNone/>
            </a:pPr>
            <a:r>
              <a:rPr lang="en-US" sz="1400" b="1" dirty="0">
                <a:solidFill>
                  <a:srgbClr val="616773"/>
                </a:solidFill>
                <a:latin typeface="Malgun Gothic" pitchFamily="34" charset="0"/>
                <a:ea typeface="Malgun Gothic" pitchFamily="34" charset="-122"/>
                <a:cs typeface="Malgun Gothic" pitchFamily="34" charset="-120"/>
              </a:rPr>
              <a:t>오답</a:t>
            </a:r>
            <a:endParaRPr lang="en-US" sz="1400" dirty="0"/>
          </a:p>
        </p:txBody>
      </p:sp>
      <p:sp>
        <p:nvSpPr>
          <p:cNvPr id="14" name="Text 12"/>
          <p:cNvSpPr txBox="1"/>
          <p:nvPr/>
        </p:nvSpPr>
        <p:spPr>
          <a:xfrm>
            <a:off x="3108960" y="2651760"/>
            <a:ext cx="8503920" cy="594360"/>
          </a:xfrm>
          <a:prstGeom prst="rect">
            <a:avLst/>
          </a:prstGeom>
          <a:noFill/>
          <a:ln/>
        </p:spPr>
        <p:txBody>
          <a:bodyPr wrap="square" lIns="0" tIns="1905" rIns="1905" bIns="0" rtlCol="0" anchor="ctr"/>
          <a:lstStyle/>
          <a:p>
            <a:pPr indent="0" marL="0">
              <a:buNone/>
            </a:pPr>
            <a:r>
              <a:rPr lang="en-US" sz="1300" dirty="0">
                <a:solidFill>
                  <a:srgbClr val="15171C"/>
                </a:solidFill>
                <a:latin typeface="Malgun Gothic" pitchFamily="34" charset="0"/>
                <a:ea typeface="Malgun Gothic" pitchFamily="34" charset="-122"/>
                <a:cs typeface="Malgun Gothic" pitchFamily="34" charset="-120"/>
              </a:rPr>
              <a:t>무응답을 1점으로 유지 → 왜곡을 일으킨 기준을 그대로 둠 (조건 ② 위반)</a:t>
            </a:r>
            <a:endParaRPr lang="en-US" sz="1300" dirty="0"/>
          </a:p>
        </p:txBody>
      </p:sp>
      <p:sp>
        <p:nvSpPr>
          <p:cNvPr id="15" name="Shape 13"/>
          <p:cNvSpPr/>
          <p:nvPr/>
        </p:nvSpPr>
        <p:spPr>
          <a:xfrm>
            <a:off x="548640" y="3291840"/>
            <a:ext cx="11064240" cy="594360"/>
          </a:xfrm>
          <a:prstGeom prst="rect">
            <a:avLst/>
          </a:prstGeom>
          <a:solidFill>
            <a:srgbClr val="EEF1FC"/>
          </a:solidFill>
          <a:ln w="12700">
            <a:solidFill>
              <a:srgbClr val="EEF1FC"/>
            </a:solidFill>
            <a:prstDash val="solid"/>
          </a:ln>
        </p:spPr>
      </p:sp>
      <p:sp>
        <p:nvSpPr>
          <p:cNvPr id="16" name="Text 14"/>
          <p:cNvSpPr txBox="1"/>
          <p:nvPr/>
        </p:nvSpPr>
        <p:spPr>
          <a:xfrm>
            <a:off x="548640" y="3291840"/>
            <a:ext cx="1188720" cy="594360"/>
          </a:xfrm>
          <a:prstGeom prst="rect">
            <a:avLst/>
          </a:prstGeom>
          <a:noFill/>
          <a:ln/>
        </p:spPr>
        <p:txBody>
          <a:bodyPr wrap="square" lIns="0" tIns="1905" rIns="1905" bIns="0" rtlCol="0" anchor="ctr"/>
          <a:lstStyle/>
          <a:p>
            <a:pPr indent="0" marL="0">
              <a:buNone/>
            </a:pPr>
            <a:r>
              <a:rPr lang="en-US" sz="1400" b="1" dirty="0">
                <a:solidFill>
                  <a:srgbClr val="15171C"/>
                </a:solidFill>
                <a:latin typeface="Malgun Gothic" pitchFamily="34" charset="0"/>
                <a:ea typeface="Malgun Gothic" pitchFamily="34" charset="-122"/>
                <a:cs typeface="Malgun Gothic" pitchFamily="34" charset="-120"/>
              </a:rPr>
              <a:t>②</a:t>
            </a:r>
            <a:endParaRPr lang="en-US" sz="1400" dirty="0"/>
          </a:p>
        </p:txBody>
      </p:sp>
      <p:sp>
        <p:nvSpPr>
          <p:cNvPr id="17" name="Text 15"/>
          <p:cNvSpPr txBox="1"/>
          <p:nvPr/>
        </p:nvSpPr>
        <p:spPr>
          <a:xfrm>
            <a:off x="1737360" y="3291840"/>
            <a:ext cx="1371600" cy="594360"/>
          </a:xfrm>
          <a:prstGeom prst="rect">
            <a:avLst/>
          </a:prstGeom>
          <a:noFill/>
          <a:ln/>
        </p:spPr>
        <p:txBody>
          <a:bodyPr wrap="square" lIns="0" tIns="1905" rIns="1905" bIns="0" rtlCol="0" anchor="ctr"/>
          <a:lstStyle/>
          <a:p>
            <a:pPr indent="0" marL="0">
              <a:buNone/>
            </a:pPr>
            <a:r>
              <a:rPr lang="en-US" sz="1400" b="1" dirty="0">
                <a:solidFill>
                  <a:srgbClr val="616773"/>
                </a:solidFill>
                <a:latin typeface="Malgun Gothic" pitchFamily="34" charset="0"/>
                <a:ea typeface="Malgun Gothic" pitchFamily="34" charset="-122"/>
                <a:cs typeface="Malgun Gothic" pitchFamily="34" charset="-120"/>
              </a:rPr>
              <a:t>오답</a:t>
            </a:r>
            <a:endParaRPr lang="en-US" sz="1400" dirty="0"/>
          </a:p>
        </p:txBody>
      </p:sp>
      <p:sp>
        <p:nvSpPr>
          <p:cNvPr id="18" name="Text 16"/>
          <p:cNvSpPr txBox="1"/>
          <p:nvPr/>
        </p:nvSpPr>
        <p:spPr>
          <a:xfrm>
            <a:off x="3108960" y="3291840"/>
            <a:ext cx="8503920" cy="594360"/>
          </a:xfrm>
          <a:prstGeom prst="rect">
            <a:avLst/>
          </a:prstGeom>
          <a:noFill/>
          <a:ln/>
        </p:spPr>
        <p:txBody>
          <a:bodyPr wrap="square" lIns="0" tIns="1905" rIns="1905" bIns="0" rtlCol="0" anchor="ctr"/>
          <a:lstStyle/>
          <a:p>
            <a:pPr indent="0" marL="0">
              <a:buNone/>
            </a:pPr>
            <a:r>
              <a:rPr lang="en-US" sz="1300" dirty="0">
                <a:solidFill>
                  <a:srgbClr val="15171C"/>
                </a:solidFill>
                <a:latin typeface="Malgun Gothic" pitchFamily="34" charset="0"/>
                <a:ea typeface="Malgun Gothic" pitchFamily="34" charset="-122"/>
                <a:cs typeface="Malgun Gothic" pitchFamily="34" charset="-120"/>
              </a:rPr>
              <a:t>“취업지원팀 팀장” 역할 → 설문 분석 전문가 페르소나가 아님 (조건 ① 위반)</a:t>
            </a:r>
            <a:endParaRPr lang="en-US" sz="1300" dirty="0"/>
          </a:p>
        </p:txBody>
      </p:sp>
      <p:sp>
        <p:nvSpPr>
          <p:cNvPr id="19" name="Shape 17"/>
          <p:cNvSpPr/>
          <p:nvPr/>
        </p:nvSpPr>
        <p:spPr>
          <a:xfrm>
            <a:off x="548640" y="3931920"/>
            <a:ext cx="11064240" cy="594360"/>
          </a:xfrm>
          <a:prstGeom prst="rect">
            <a:avLst/>
          </a:prstGeom>
          <a:solidFill>
            <a:srgbClr val="EEF1FC"/>
          </a:solidFill>
          <a:ln w="12700">
            <a:solidFill>
              <a:srgbClr val="EEF1FC"/>
            </a:solidFill>
            <a:prstDash val="solid"/>
          </a:ln>
        </p:spPr>
      </p:sp>
      <p:sp>
        <p:nvSpPr>
          <p:cNvPr id="20" name="Text 18"/>
          <p:cNvSpPr txBox="1"/>
          <p:nvPr/>
        </p:nvSpPr>
        <p:spPr>
          <a:xfrm>
            <a:off x="548640" y="3931920"/>
            <a:ext cx="1188720" cy="594360"/>
          </a:xfrm>
          <a:prstGeom prst="rect">
            <a:avLst/>
          </a:prstGeom>
          <a:noFill/>
          <a:ln/>
        </p:spPr>
        <p:txBody>
          <a:bodyPr wrap="square" lIns="0" tIns="1905" rIns="1905" bIns="0" rtlCol="0" anchor="ctr"/>
          <a:lstStyle/>
          <a:p>
            <a:pPr indent="0" marL="0">
              <a:buNone/>
            </a:pPr>
            <a:r>
              <a:rPr lang="en-US" sz="1400" b="1" dirty="0">
                <a:solidFill>
                  <a:srgbClr val="15171C"/>
                </a:solidFill>
                <a:latin typeface="Malgun Gothic" pitchFamily="34" charset="0"/>
                <a:ea typeface="Malgun Gothic" pitchFamily="34" charset="-122"/>
                <a:cs typeface="Malgun Gothic" pitchFamily="34" charset="-120"/>
              </a:rPr>
              <a:t>③</a:t>
            </a:r>
            <a:endParaRPr lang="en-US" sz="1400" dirty="0"/>
          </a:p>
        </p:txBody>
      </p:sp>
      <p:sp>
        <p:nvSpPr>
          <p:cNvPr id="21" name="Text 19"/>
          <p:cNvSpPr txBox="1"/>
          <p:nvPr/>
        </p:nvSpPr>
        <p:spPr>
          <a:xfrm>
            <a:off x="1737360" y="3931920"/>
            <a:ext cx="1371600" cy="594360"/>
          </a:xfrm>
          <a:prstGeom prst="rect">
            <a:avLst/>
          </a:prstGeom>
          <a:noFill/>
          <a:ln/>
        </p:spPr>
        <p:txBody>
          <a:bodyPr wrap="square" lIns="0" tIns="1905" rIns="1905" bIns="0" rtlCol="0" anchor="ctr"/>
          <a:lstStyle/>
          <a:p>
            <a:pPr indent="0" marL="0">
              <a:buNone/>
            </a:pPr>
            <a:r>
              <a:rPr lang="en-US" sz="1400" b="1" dirty="0">
                <a:solidFill>
                  <a:srgbClr val="213EDB"/>
                </a:solidFill>
                <a:latin typeface="Malgun Gothic" pitchFamily="34" charset="0"/>
                <a:ea typeface="Malgun Gothic" pitchFamily="34" charset="-122"/>
                <a:cs typeface="Malgun Gothic" pitchFamily="34" charset="-120"/>
              </a:rPr>
              <a:t>정답</a:t>
            </a:r>
            <a:endParaRPr lang="en-US" sz="1400" dirty="0"/>
          </a:p>
        </p:txBody>
      </p:sp>
      <p:sp>
        <p:nvSpPr>
          <p:cNvPr id="22" name="Text 20"/>
          <p:cNvSpPr txBox="1"/>
          <p:nvPr/>
        </p:nvSpPr>
        <p:spPr>
          <a:xfrm>
            <a:off x="3108960" y="3931920"/>
            <a:ext cx="8503920" cy="594360"/>
          </a:xfrm>
          <a:prstGeom prst="rect">
            <a:avLst/>
          </a:prstGeom>
          <a:noFill/>
          <a:ln/>
        </p:spPr>
        <p:txBody>
          <a:bodyPr wrap="square" lIns="0" tIns="1905" rIns="1905" bIns="0" rtlCol="0" anchor="ctr"/>
          <a:lstStyle/>
          <a:p>
            <a:pPr indent="0" marL="0">
              <a:buNone/>
            </a:pPr>
            <a:r>
              <a:rPr lang="en-US" sz="1300" dirty="0">
                <a:solidFill>
                  <a:srgbClr val="15171C"/>
                </a:solidFill>
                <a:latin typeface="Malgun Gothic" pitchFamily="34" charset="0"/>
                <a:ea typeface="Malgun Gothic" pitchFamily="34" charset="-122"/>
                <a:cs typeface="Malgun Gothic" pitchFamily="34" charset="-120"/>
              </a:rPr>
              <a:t>전문가 역할 + 무응답 제외·응답 수 표기 + 표 출력 → 세 조건 모두 충족</a:t>
            </a:r>
            <a:endParaRPr lang="en-US" sz="1300" dirty="0"/>
          </a:p>
        </p:txBody>
      </p:sp>
      <p:sp>
        <p:nvSpPr>
          <p:cNvPr id="23" name="Shape 21"/>
          <p:cNvSpPr/>
          <p:nvPr/>
        </p:nvSpPr>
        <p:spPr>
          <a:xfrm>
            <a:off x="548640" y="4572000"/>
            <a:ext cx="11064240" cy="594360"/>
          </a:xfrm>
          <a:prstGeom prst="rect">
            <a:avLst/>
          </a:prstGeom>
          <a:solidFill>
            <a:srgbClr val="EEF1FC"/>
          </a:solidFill>
          <a:ln w="12700">
            <a:solidFill>
              <a:srgbClr val="EEF1FC"/>
            </a:solidFill>
            <a:prstDash val="solid"/>
          </a:ln>
        </p:spPr>
      </p:sp>
      <p:sp>
        <p:nvSpPr>
          <p:cNvPr id="24" name="Text 22"/>
          <p:cNvSpPr txBox="1"/>
          <p:nvPr/>
        </p:nvSpPr>
        <p:spPr>
          <a:xfrm>
            <a:off x="548640" y="4572000"/>
            <a:ext cx="1188720" cy="594360"/>
          </a:xfrm>
          <a:prstGeom prst="rect">
            <a:avLst/>
          </a:prstGeom>
          <a:noFill/>
          <a:ln/>
        </p:spPr>
        <p:txBody>
          <a:bodyPr wrap="square" lIns="0" tIns="1905" rIns="1905" bIns="0" rtlCol="0" anchor="ctr"/>
          <a:lstStyle/>
          <a:p>
            <a:pPr indent="0" marL="0">
              <a:buNone/>
            </a:pPr>
            <a:r>
              <a:rPr lang="en-US" sz="1400" b="1" dirty="0">
                <a:solidFill>
                  <a:srgbClr val="15171C"/>
                </a:solidFill>
                <a:latin typeface="Malgun Gothic" pitchFamily="34" charset="0"/>
                <a:ea typeface="Malgun Gothic" pitchFamily="34" charset="-122"/>
                <a:cs typeface="Malgun Gothic" pitchFamily="34" charset="-120"/>
              </a:rPr>
              <a:t>④</a:t>
            </a:r>
            <a:endParaRPr lang="en-US" sz="1400" dirty="0"/>
          </a:p>
        </p:txBody>
      </p:sp>
      <p:sp>
        <p:nvSpPr>
          <p:cNvPr id="25" name="Text 23"/>
          <p:cNvSpPr txBox="1"/>
          <p:nvPr/>
        </p:nvSpPr>
        <p:spPr>
          <a:xfrm>
            <a:off x="1737360" y="4572000"/>
            <a:ext cx="1371600" cy="594360"/>
          </a:xfrm>
          <a:prstGeom prst="rect">
            <a:avLst/>
          </a:prstGeom>
          <a:noFill/>
          <a:ln/>
        </p:spPr>
        <p:txBody>
          <a:bodyPr wrap="square" lIns="0" tIns="1905" rIns="1905" bIns="0" rtlCol="0" anchor="ctr"/>
          <a:lstStyle/>
          <a:p>
            <a:pPr indent="0" marL="0">
              <a:buNone/>
            </a:pPr>
            <a:r>
              <a:rPr lang="en-US" sz="1400" b="1" dirty="0">
                <a:solidFill>
                  <a:srgbClr val="616773"/>
                </a:solidFill>
                <a:latin typeface="Malgun Gothic" pitchFamily="34" charset="0"/>
                <a:ea typeface="Malgun Gothic" pitchFamily="34" charset="-122"/>
                <a:cs typeface="Malgun Gothic" pitchFamily="34" charset="-120"/>
              </a:rPr>
              <a:t>오답</a:t>
            </a:r>
            <a:endParaRPr lang="en-US" sz="1400" dirty="0"/>
          </a:p>
        </p:txBody>
      </p:sp>
      <p:sp>
        <p:nvSpPr>
          <p:cNvPr id="26" name="Text 24"/>
          <p:cNvSpPr txBox="1"/>
          <p:nvPr/>
        </p:nvSpPr>
        <p:spPr>
          <a:xfrm>
            <a:off x="3108960" y="4572000"/>
            <a:ext cx="8503920" cy="594360"/>
          </a:xfrm>
          <a:prstGeom prst="rect">
            <a:avLst/>
          </a:prstGeom>
          <a:noFill/>
          <a:ln/>
        </p:spPr>
        <p:txBody>
          <a:bodyPr wrap="square" lIns="0" tIns="1905" rIns="1905" bIns="0" rtlCol="0" anchor="ctr"/>
          <a:lstStyle/>
          <a:p>
            <a:pPr indent="0" marL="0">
              <a:buNone/>
            </a:pPr>
            <a:r>
              <a:rPr lang="en-US" sz="1300" dirty="0">
                <a:solidFill>
                  <a:srgbClr val="15171C"/>
                </a:solidFill>
                <a:latin typeface="Malgun Gothic" pitchFamily="34" charset="0"/>
                <a:ea typeface="Malgun Gothic" pitchFamily="34" charset="-122"/>
                <a:cs typeface="Malgun Gothic" pitchFamily="34" charset="-120"/>
              </a:rPr>
              <a:t>결과 대신 원인을 서술형 문장으로 요청 → 표 출력이 빠짐 (조건 ③ 위반)</a:t>
            </a:r>
            <a:endParaRPr lang="en-US" sz="1300" dirty="0"/>
          </a:p>
        </p:txBody>
      </p:sp>
      <p:sp>
        <p:nvSpPr>
          <p:cNvPr id="27" name="Text 25"/>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600" b="1" dirty="0">
                <a:solidFill>
                  <a:srgbClr val="213EDB"/>
                </a:solidFill>
                <a:latin typeface="Malgun Gothic" pitchFamily="34" charset="0"/>
                <a:ea typeface="Malgun Gothic" pitchFamily="34" charset="-122"/>
                <a:cs typeface="Malgun Gothic" pitchFamily="34" charset="-120"/>
              </a:rPr>
              <a:t>실무 팁  프롬프트를 보내기 전 “역할·기준·형식” 세 가지를 체크리스트로 확인하세요.</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dirty="0">
                <a:solidFill>
                  <a:srgbClr val="616773"/>
                </a:solidFill>
                <a:latin typeface="Malgun Gothic" pitchFamily="34" charset="0"/>
                <a:ea typeface="Malgun Gothic" pitchFamily="34" charset="-122"/>
                <a:cs typeface="Malgun Gothic" pitchFamily="34" charset="-120"/>
              </a:rPr>
              <a:t>도입 ⑧ · 정답 해설 2</a:t>
            </a:r>
            <a:endParaRPr lang="en-US" sz="1100" dirty="0"/>
          </a:p>
        </p:txBody>
      </p:sp>
      <p:sp>
        <p:nvSpPr>
          <p:cNvPr id="3" name="Text 1"/>
          <p:cNvSpPr txBox="1"/>
          <p:nvPr/>
        </p:nvSpPr>
        <p:spPr>
          <a:xfrm>
            <a:off x="548640" y="685800"/>
            <a:ext cx="11064240" cy="731520"/>
          </a:xfrm>
          <a:prstGeom prst="rect">
            <a:avLst/>
          </a:prstGeom>
          <a:noFill/>
          <a:ln/>
        </p:spPr>
        <p:txBody>
          <a:bodyPr wrap="square" lIns="0" tIns="0" rIns="0" bIns="0" rtlCol="0" anchor="ctr">
            <a:normAutofit/>
          </a:bodyPr>
          <a:lstStyle/>
          <a:p>
            <a:pPr indent="0" marL="0">
              <a:buNone/>
            </a:pPr>
            <a:r>
              <a:rPr lang="en-US" sz="2800" b="1" dirty="0">
                <a:solidFill>
                  <a:srgbClr val="15171C"/>
                </a:solidFill>
                <a:latin typeface="Malgun Gothic" pitchFamily="34" charset="0"/>
                <a:ea typeface="Malgun Gothic" pitchFamily="34" charset="-122"/>
                <a:cs typeface="Malgun Gothic" pitchFamily="34" charset="-120"/>
              </a:rPr>
              <a:t>[연습 2 해설] 정답 ② — 면접반 3명 · 미신청자 도윤</a:t>
            </a:r>
            <a:endParaRPr lang="en-US" sz="2800" dirty="0"/>
          </a:p>
        </p:txBody>
      </p:sp>
      <p:sp>
        <p:nvSpPr>
          <p:cNvPr id="4" name="Text 2"/>
          <p:cNvSpPr txBox="1"/>
          <p:nvPr/>
        </p:nvSpPr>
        <p:spPr>
          <a:xfrm>
            <a:off x="548640" y="6172200"/>
            <a:ext cx="10241280" cy="411480"/>
          </a:xfrm>
          <a:prstGeom prst="rect">
            <a:avLst/>
          </a:prstGeom>
          <a:noFill/>
          <a:ln/>
        </p:spPr>
        <p:txBody>
          <a:bodyPr wrap="square" lIns="0" tIns="0" rIns="0" bIns="0" rtlCol="0" anchor="t"/>
          <a:lstStyle/>
          <a:p>
            <a:pPr indent="0" marL="0">
              <a:buNone/>
            </a:pPr>
            <a:r>
              <a:rPr lang="en-US" sz="1000" dirty="0">
                <a:solidFill>
                  <a:srgbClr val="616773"/>
                </a:solidFill>
                <a:latin typeface="Malgun Gothic" pitchFamily="34" charset="0"/>
                <a:ea typeface="Malgun Gothic" pitchFamily="34" charset="-122"/>
                <a:cs typeface="Malgun Gothic" pitchFamily="34" charset="-120"/>
              </a:rPr>
              <a:t>연습문제: 커리어캐쳐 자체 제작(AI 활용평가 실습형 유형 참고). 데이터는 가상</a:t>
            </a:r>
            <a:endParaRPr lang="en-US" sz="1000" dirty="0"/>
          </a:p>
        </p:txBody>
      </p:sp>
      <p:sp>
        <p:nvSpPr>
          <p:cNvPr id="5" name="Text 3"/>
          <p:cNvSpPr txBox="1"/>
          <p:nvPr/>
        </p:nvSpPr>
        <p:spPr>
          <a:xfrm>
            <a:off x="10972800" y="6355080"/>
            <a:ext cx="731520" cy="228600"/>
          </a:xfrm>
          <a:prstGeom prst="rect">
            <a:avLst/>
          </a:prstGeom>
          <a:noFill/>
          <a:ln/>
        </p:spPr>
        <p:txBody>
          <a:bodyPr wrap="square" lIns="0" tIns="0" rIns="0" bIns="0" rtlCol="0" anchor="ctr"/>
          <a:lstStyle/>
          <a:p>
            <a:pPr algn="r" indent="0" marL="0">
              <a:buNone/>
            </a:pPr>
            <a:r>
              <a:rPr lang="en-US" sz="1100" b="1" dirty="0">
                <a:solidFill>
                  <a:srgbClr val="101456"/>
                </a:solidFill>
                <a:latin typeface="Malgun Gothic" pitchFamily="34" charset="0"/>
                <a:ea typeface="Malgun Gothic" pitchFamily="34" charset="-122"/>
                <a:cs typeface="Malgun Gothic" pitchFamily="34" charset="-120"/>
              </a:rPr>
              <a:t>I-8</a:t>
            </a:r>
            <a:endParaRPr lang="en-US" sz="1100" dirty="0"/>
          </a:p>
        </p:txBody>
      </p:sp>
      <p:sp>
        <p:nvSpPr>
          <p:cNvPr id="6" name="Shape 4"/>
          <p:cNvSpPr/>
          <p:nvPr/>
        </p:nvSpPr>
        <p:spPr>
          <a:xfrm>
            <a:off x="548640" y="1554480"/>
            <a:ext cx="5394960" cy="3566160"/>
          </a:xfrm>
          <a:prstGeom prst="rect">
            <a:avLst/>
          </a:prstGeom>
          <a:solidFill>
            <a:srgbClr val="EEF1FC"/>
          </a:solidFill>
          <a:ln w="12700">
            <a:solidFill>
              <a:srgbClr val="EEF1FC"/>
            </a:solidFill>
            <a:prstDash val="solid"/>
          </a:ln>
        </p:spPr>
      </p:sp>
      <p:sp>
        <p:nvSpPr>
          <p:cNvPr id="7" name="Text 5"/>
          <p:cNvSpPr txBox="1"/>
          <p:nvPr/>
        </p:nvSpPr>
        <p:spPr>
          <a:xfrm>
            <a:off x="548640" y="1554480"/>
            <a:ext cx="5394960" cy="3566160"/>
          </a:xfrm>
          <a:prstGeom prst="rect">
            <a:avLst/>
          </a:prstGeom>
          <a:noFill/>
          <a:ln/>
        </p:spPr>
        <p:txBody>
          <a:bodyPr wrap="square" lIns="2540" tIns="2540" rIns="2540" bIns="2540" rtlCol="0" anchor="t"/>
          <a:lstStyle/>
          <a:p>
            <a:pPr indent="0" marL="0">
              <a:spcAft>
                <a:spcPts val="600"/>
              </a:spcAft>
              <a:buNone/>
            </a:pPr>
            <a:r>
              <a:rPr lang="en-US" sz="1400" b="1" dirty="0">
                <a:solidFill>
                  <a:srgbClr val="101456"/>
                </a:solidFill>
                <a:latin typeface="Malgun Gothic" pitchFamily="34" charset="0"/>
                <a:ea typeface="Malgun Gothic" pitchFamily="34" charset="-122"/>
                <a:cs typeface="Malgun Gothic" pitchFamily="34" charset="-120"/>
              </a:rPr>
              <a:t>1단계  사람별 마지막 신청만 남기기</a:t>
            </a:r>
            <a:endParaRPr lang="en-US" sz="1400" dirty="0"/>
          </a:p>
          <a:p>
            <a:pPr indent="0" marL="0">
              <a:buNone/>
            </a:pPr>
            <a:r>
              <a:rPr lang="en-US" sz="1400" dirty="0">
                <a:solidFill>
                  <a:srgbClr val="15171C"/>
                </a:solidFill>
                <a:latin typeface="Malgun Gothic" pitchFamily="34" charset="0"/>
                <a:ea typeface="Malgun Gothic" pitchFamily="34" charset="-122"/>
                <a:cs typeface="Malgun Gothic" pitchFamily="34" charset="-120"/>
              </a:rPr>
              <a:t>민준  면접반 → 자소서반  ⇒ 자소서반</a:t>
            </a:r>
            <a:endParaRPr lang="en-US" sz="1400" dirty="0"/>
          </a:p>
          <a:p>
            <a:pPr indent="0" marL="0">
              <a:buNone/>
            </a:pPr>
            <a:r>
              <a:rPr lang="en-US" sz="1400" dirty="0">
                <a:solidFill>
                  <a:srgbClr val="15171C"/>
                </a:solidFill>
                <a:latin typeface="Malgun Gothic" pitchFamily="34" charset="0"/>
                <a:ea typeface="Malgun Gothic" pitchFamily="34" charset="-122"/>
                <a:cs typeface="Malgun Gothic" pitchFamily="34" charset="-120"/>
              </a:rPr>
              <a:t>서연  자소서반 → 면접반  ⇒ 면접반</a:t>
            </a:r>
            <a:endParaRPr lang="en-US" sz="1400" dirty="0"/>
          </a:p>
          <a:p>
            <a:pPr indent="0" marL="0">
              <a:buNone/>
            </a:pPr>
            <a:r>
              <a:rPr lang="en-US" sz="1400" dirty="0">
                <a:solidFill>
                  <a:srgbClr val="15171C"/>
                </a:solidFill>
                <a:latin typeface="Malgun Gothic" pitchFamily="34" charset="0"/>
                <a:ea typeface="Malgun Gothic" pitchFamily="34" charset="-122"/>
                <a:cs typeface="Malgun Gothic" pitchFamily="34" charset="-120"/>
              </a:rPr>
              <a:t>하은  면접반  ⇒ 면접반</a:t>
            </a:r>
            <a:endParaRPr lang="en-US" sz="1400" dirty="0"/>
          </a:p>
          <a:p>
            <a:pPr indent="0" marL="0">
              <a:buNone/>
            </a:pPr>
            <a:r>
              <a:rPr lang="en-US" sz="1400" dirty="0">
                <a:solidFill>
                  <a:srgbClr val="15171C"/>
                </a:solidFill>
                <a:latin typeface="Malgun Gothic" pitchFamily="34" charset="0"/>
                <a:ea typeface="Malgun Gothic" pitchFamily="34" charset="-122"/>
                <a:cs typeface="Malgun Gothic" pitchFamily="34" charset="-120"/>
              </a:rPr>
              <a:t>지우  자소서반 → 면접반  ⇒ 면접반</a:t>
            </a:r>
            <a:endParaRPr lang="en-US" sz="1400" dirty="0"/>
          </a:p>
          <a:p>
            <a:pPr indent="0" marL="0">
              <a:spcAft>
                <a:spcPts val="1200"/>
              </a:spcAft>
              <a:buNone/>
            </a:pPr>
            <a:r>
              <a:rPr lang="en-US" sz="1400" b="1" dirty="0">
                <a:solidFill>
                  <a:srgbClr val="213EDB"/>
                </a:solidFill>
                <a:latin typeface="Malgun Gothic" pitchFamily="34" charset="0"/>
                <a:ea typeface="Malgun Gothic" pitchFamily="34" charset="-122"/>
                <a:cs typeface="Malgun Gothic" pitchFamily="34" charset="-120"/>
              </a:rPr>
              <a:t>최종  면접반 3명 · 자소서반 1명</a:t>
            </a:r>
            <a:endParaRPr lang="en-US" sz="1400" dirty="0"/>
          </a:p>
          <a:p>
            <a:pPr indent="0" marL="0">
              <a:spcAft>
                <a:spcPts val="600"/>
              </a:spcAft>
              <a:buNone/>
            </a:pPr>
            <a:r>
              <a:rPr lang="en-US" sz="1400" b="1" dirty="0">
                <a:solidFill>
                  <a:srgbClr val="101456"/>
                </a:solidFill>
                <a:latin typeface="Malgun Gothic" pitchFamily="34" charset="0"/>
                <a:ea typeface="Malgun Gothic" pitchFamily="34" charset="-122"/>
                <a:cs typeface="Malgun Gothic" pitchFamily="34" charset="-120"/>
              </a:rPr>
              <a:t>2단계  명단과 대조</a:t>
            </a:r>
            <a:endParaRPr lang="en-US" sz="1400" dirty="0"/>
          </a:p>
          <a:p>
            <a:pPr indent="0" marL="0">
              <a:buNone/>
            </a:pPr>
            <a:r>
              <a:rPr lang="en-US" sz="1400" dirty="0">
                <a:solidFill>
                  <a:srgbClr val="15171C"/>
                </a:solidFill>
                <a:latin typeface="Malgun Gothic" pitchFamily="34" charset="0"/>
                <a:ea typeface="Malgun Gothic" pitchFamily="34" charset="-122"/>
                <a:cs typeface="Malgun Gothic" pitchFamily="34" charset="-120"/>
              </a:rPr>
              <a:t>명단 5명 중 신청 기록이 없는 사람  ⇒ 도윤</a:t>
            </a:r>
            <a:endParaRPr lang="en-US" sz="1400" dirty="0"/>
          </a:p>
        </p:txBody>
      </p:sp>
      <p:sp>
        <p:nvSpPr>
          <p:cNvPr id="8" name="Text 6"/>
          <p:cNvSpPr txBox="1"/>
          <p:nvPr/>
        </p:nvSpPr>
        <p:spPr>
          <a:xfrm>
            <a:off x="6126480" y="1554480"/>
            <a:ext cx="5486400" cy="3566160"/>
          </a:xfrm>
          <a:prstGeom prst="rect">
            <a:avLst/>
          </a:prstGeom>
          <a:noFill/>
          <a:ln w="12700">
            <a:solidFill>
              <a:srgbClr val="101456"/>
            </a:solidFill>
          </a:ln>
        </p:spPr>
        <p:txBody>
          <a:bodyPr wrap="square" lIns="2540" tIns="2540" rIns="2540" bIns="2540" rtlCol="0" anchor="t"/>
          <a:lstStyle/>
          <a:p>
            <a:pPr indent="0" marL="0">
              <a:spcAft>
                <a:spcPts val="600"/>
              </a:spcAft>
              <a:buNone/>
            </a:pPr>
            <a:r>
              <a:rPr lang="en-US" sz="1400" b="1" dirty="0">
                <a:solidFill>
                  <a:srgbClr val="101456"/>
                </a:solidFill>
                <a:latin typeface="Malgun Gothic" pitchFamily="34" charset="0"/>
                <a:ea typeface="Malgun Gothic" pitchFamily="34" charset="-122"/>
                <a:cs typeface="Malgun Gothic" pitchFamily="34" charset="-120"/>
              </a:rPr>
              <a:t>AI 답이 틀린 이유</a:t>
            </a:r>
            <a:endParaRPr lang="en-US" sz="1400" dirty="0"/>
          </a:p>
          <a:p>
            <a:pPr indent="0" marL="0">
              <a:buNone/>
            </a:pPr>
            <a:r>
              <a:rPr lang="en-US" sz="1400" dirty="0">
                <a:solidFill>
                  <a:srgbClr val="15171C"/>
                </a:solidFill>
                <a:latin typeface="Malgun Gothic" pitchFamily="34" charset="0"/>
                <a:ea typeface="Malgun Gothic" pitchFamily="34" charset="-122"/>
                <a:cs typeface="Malgun Gothic" pitchFamily="34" charset="-120"/>
              </a:rPr>
              <a:t>• “면접반 4·자소서반 3”은 취소된 신청까지 센 건수</a:t>
            </a:r>
            <a:endParaRPr lang="en-US" sz="1400" dirty="0"/>
          </a:p>
          <a:p>
            <a:pPr indent="0" marL="0">
              <a:spcAft>
                <a:spcPts val="1200"/>
              </a:spcAft>
              <a:buNone/>
            </a:pPr>
            <a:r>
              <a:rPr lang="en-US" sz="1400" dirty="0">
                <a:solidFill>
                  <a:srgbClr val="15171C"/>
                </a:solidFill>
                <a:latin typeface="Malgun Gothic" pitchFamily="34" charset="0"/>
                <a:ea typeface="Malgun Gothic" pitchFamily="34" charset="-122"/>
                <a:cs typeface="Malgun Gothic" pitchFamily="34" charset="-120"/>
              </a:rPr>
              <a:t>• 명단 대조도 하지 않고 “미신청자 없음”으로 답함</a:t>
            </a:r>
            <a:endParaRPr lang="en-US" sz="1400" dirty="0"/>
          </a:p>
          <a:p>
            <a:pPr indent="0" marL="0">
              <a:spcAft>
                <a:spcPts val="600"/>
              </a:spcAft>
              <a:buNone/>
            </a:pPr>
            <a:r>
              <a:rPr lang="en-US" sz="1400" b="1" dirty="0">
                <a:solidFill>
                  <a:srgbClr val="101456"/>
                </a:solidFill>
                <a:latin typeface="Malgun Gothic" pitchFamily="34" charset="0"/>
                <a:ea typeface="Malgun Gothic" pitchFamily="34" charset="-122"/>
                <a:cs typeface="Malgun Gothic" pitchFamily="34" charset="-120"/>
              </a:rPr>
              <a:t>이렇게 물었다면</a:t>
            </a:r>
            <a:endParaRPr lang="en-US" sz="1400" dirty="0"/>
          </a:p>
          <a:p>
            <a:pPr indent="0" marL="0">
              <a:buNone/>
            </a:pPr>
            <a:r>
              <a:rPr lang="en-US" sz="1400" dirty="0">
                <a:solidFill>
                  <a:srgbClr val="15171C"/>
                </a:solidFill>
                <a:latin typeface="Malgun Gothic" pitchFamily="34" charset="0"/>
                <a:ea typeface="Malgun Gothic" pitchFamily="34" charset="-122"/>
                <a:cs typeface="Malgun Gothic" pitchFamily="34" charset="-120"/>
              </a:rPr>
              <a:t>“한 사람이 여러 번 신청했으면 마지막 신청만 남기고, 사람별 최종 반을 표로 보여줘. 그다음 명단과 대조해 기록이 없는 사람을 찾아줘.”</a:t>
            </a:r>
            <a:endParaRPr lang="en-US" sz="1400" dirty="0"/>
          </a:p>
        </p:txBody>
      </p:sp>
      <p:sp>
        <p:nvSpPr>
          <p:cNvPr id="9" name="Text 7"/>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600" b="1" dirty="0">
                <a:solidFill>
                  <a:srgbClr val="213EDB"/>
                </a:solidFill>
                <a:latin typeface="Malgun Gothic" pitchFamily="34" charset="0"/>
                <a:ea typeface="Malgun Gothic" pitchFamily="34" charset="-122"/>
                <a:cs typeface="Malgun Gothic" pitchFamily="34" charset="-120"/>
              </a:rPr>
              <a:t>실무 팁  질문 횟수가 제한될수록 규칙을 질문에 넣고, AI의 답은 중간 과정을 보며 직접 검증하세요.</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실무 활용 교육 도입부</dc:title>
  <dc:subject>PptxGenJS Presentation</dc:subject>
  <dc:creator>커리어캐쳐(CareerCatcher)</dc:creator>
  <cp:lastModifiedBy>커리어캐쳐(CareerCatcher)</cp:lastModifiedBy>
  <cp:revision>1</cp:revision>
  <dcterms:created xsi:type="dcterms:W3CDTF">2026-10-21T20:42:31Z</dcterms:created>
  <dcterms:modified xsi:type="dcterms:W3CDTF">2026-10-21T20:42:31Z</dcterms:modified>
</cp:coreProperties>
</file>