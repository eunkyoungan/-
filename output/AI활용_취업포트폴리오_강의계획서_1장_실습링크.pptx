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cript.google.com/macros/s/AKfycbwfNRBAoDQ-eDHeUTti7drgyL58p6fgm8-tv5hlf1tZfCfrHDhWztLyWEW6ZEYwoTftXA/exec" TargetMode="External"/><Relationship Id="rId3" Type="http://schemas.openxmlformats.org/officeDocument/2006/relationships/hyperlink" Target="https://kaleidoscopic-stardust-5d149f.netlify.app/" TargetMode="External"/><Relationship Id="rId4" Type="http://schemas.openxmlformats.org/officeDocument/2006/relationships/hyperlink" Target="https://eunkyoungan.github.io/-/portfolio-builder/" TargetMode="External"/><Relationship Id="rId5" Type="http://schemas.openxmlformats.org/officeDocument/2006/relationships/hyperlink" Target="https://docs.github.com/en/repositories/managing-your-repositorys-settings-and-features/customizing-your-repository/about-readmes" TargetMode="External"/><Relationship Id="rId6" Type="http://schemas.openxmlformats.org/officeDocument/2006/relationships/hyperlink" Target="https://huggingface.co/docs/hub/model-cards" TargetMode="External"/><Relationship Id="rId7" Type="http://schemas.openxmlformats.org/officeDocument/2006/relationships/hyperlink" Target="https://amazon.jobs/content/en/how-we-hire/applied-scientist-interview-prep" TargetMode="External"/><Relationship Id="rId8" Type="http://schemas.openxmlformats.org/officeDocument/2006/relationships/hyperlink" Target="https://github.com/eunkyoungAn/-/tree/main/output/github-portfolio/sui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41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70000"/>
            <a:ext cx="12192000" cy="38100"/>
          </a:xfrm>
          <a:prstGeom prst="rect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8000" y="2286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EEAD4"/>
                </a:solidFill>
                <a:latin typeface="Pretendard"/>
              </a:rPr>
              <a:t>강의계획서  ·  총 16시간 (2회기 × 8시간)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419100"/>
            <a:ext cx="8255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Pretendard"/>
              </a:rPr>
              <a:t>AI 활용 취업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9398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7CCE8"/>
                </a:solidFill>
                <a:latin typeface="Pretendard"/>
              </a:rPr>
              <a:t>AI·Data·CV 직무 지원자를 위한 기술이력서·포트폴리오·면접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571500"/>
            <a:ext cx="34290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강사 안은경</a:t>
            </a:r>
          </a:p>
          <a:p>
            <a:pPr algn="r">
              <a:lnSpc>
                <a:spcPct val="115000"/>
              </a:lnSpc>
            </a:pPr>
            <a:r>
              <a:rPr sz="1200" b="0">
                <a:solidFill>
                  <a:srgbClr val="C7CCE8"/>
                </a:solidFill>
                <a:latin typeface="Pretendard"/>
              </a:rPr>
              <a:t>커리어캐쳐(CareerCatcher)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397000"/>
            <a:ext cx="889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F7A"/>
                </a:solidFill>
                <a:latin typeface="Pretendard"/>
              </a:rPr>
              <a:t>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6500" y="1397000"/>
            <a:ext cx="1079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A3C"/>
                </a:solidFill>
                <a:latin typeface="Pretendard"/>
              </a:rPr>
              <a:t>AI·Data·CV 프로젝트 경험이 있는 취업 준비생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612900"/>
            <a:ext cx="889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F7A"/>
                </a:solidFill>
                <a:latin typeface="Pretendard"/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500" y="1612900"/>
            <a:ext cx="1079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A3C"/>
                </a:solidFill>
                <a:latin typeface="Pretendard"/>
              </a:rPr>
              <a:t>AI로 돕고 본인이 근거를 검증해, 프로젝트 1개의 채용 문서와 면접 답변을 완성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2095500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9F7A"/>
                </a:solidFill>
                <a:latin typeface="Pretendard"/>
              </a:rPr>
              <a:t>1회기  이력서 · 자기소개서</a:t>
            </a:r>
            <a:r>
              <a:rPr sz="1100" b="0">
                <a:solidFill>
                  <a:srgbClr val="8A90A8"/>
                </a:solidFill>
                <a:latin typeface="Pretendard"/>
              </a:rPr>
              <a:t>   8시간 · 2시간 × 4모듈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3876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5000" y="2476500"/>
            <a:ext cx="279400" cy="279400"/>
          </a:xfrm>
          <a:prstGeom prst="ellipse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000" y="24765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23876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141A3C"/>
                </a:solidFill>
                <a:latin typeface="Pretendard"/>
              </a:rPr>
              <a:t>채용공고</a:t>
            </a:r>
            <a:r>
              <a:rPr sz="1500" b="1" dirty="0">
                <a:solidFill>
                  <a:srgbClr val="141A3C"/>
                </a:solidFill>
                <a:latin typeface="Pretendard"/>
              </a:rPr>
              <a:t> </a:t>
            </a:r>
            <a:r>
              <a:rPr sz="1500" b="1" dirty="0" err="1">
                <a:solidFill>
                  <a:srgbClr val="141A3C"/>
                </a:solidFill>
                <a:latin typeface="Pretendard"/>
              </a:rPr>
              <a:t>분석</a:t>
            </a:r>
            <a:endParaRPr sz="1500" b="1" dirty="0">
              <a:solidFill>
                <a:srgbClr val="141A3C"/>
              </a:solidFill>
              <a:latin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9500" y="23876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9F7A"/>
                </a:solidFill>
                <a:latin typeface="Pretendard"/>
              </a:rPr>
              <a:t>직무 분석표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29210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5000" y="3009900"/>
            <a:ext cx="279400" cy="279400"/>
          </a:xfrm>
          <a:prstGeom prst="ellipse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000" y="30099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29210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141A3C"/>
                </a:solidFill>
                <a:latin typeface="Pretendard"/>
              </a:rPr>
              <a:t>경험</a:t>
            </a:r>
            <a:r>
              <a:rPr sz="1500" b="1" dirty="0">
                <a:solidFill>
                  <a:srgbClr val="141A3C"/>
                </a:solidFill>
                <a:latin typeface="Pretendard"/>
              </a:rPr>
              <a:t> </a:t>
            </a:r>
            <a:r>
              <a:rPr sz="1500" b="1" dirty="0" err="1">
                <a:solidFill>
                  <a:srgbClr val="141A3C"/>
                </a:solidFill>
                <a:latin typeface="Pretendard"/>
              </a:rPr>
              <a:t>탐색·구조화</a:t>
            </a:r>
            <a:r>
              <a:rPr sz="1200" b="0" dirty="0">
                <a:solidFill>
                  <a:srgbClr val="4A5070"/>
                </a:solidFill>
                <a:latin typeface="Pretendard"/>
              </a:rPr>
              <a:t>   </a:t>
            </a:r>
            <a:r>
              <a:rPr sz="1100" b="1" u="sng" dirty="0" err="1">
                <a:solidFill>
                  <a:srgbClr val="0E9F7A"/>
                </a:solidFill>
                <a:latin typeface="Pretendard"/>
                <a:hlinkClick r:id="rId2"/>
              </a:rPr>
              <a:t>도구</a:t>
            </a:r>
            <a:r>
              <a:rPr sz="1100" b="1" u="sng" dirty="0">
                <a:solidFill>
                  <a:srgbClr val="0E9F7A"/>
                </a:solidFill>
                <a:latin typeface="Pretendard"/>
                <a:hlinkClick r:id="rId2"/>
              </a:rPr>
              <a:t>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9500" y="29210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9F7A"/>
                </a:solidFill>
                <a:latin typeface="Pretendard"/>
              </a:rPr>
              <a:t>경험카드 · 근거 목록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34544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5000" y="3543300"/>
            <a:ext cx="279400" cy="279400"/>
          </a:xfrm>
          <a:prstGeom prst="ellipse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000" y="35433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" y="34544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기술이력서 문장화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9500" y="34544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dirty="0" err="1">
                <a:solidFill>
                  <a:srgbClr val="0E9F7A"/>
                </a:solidFill>
                <a:latin typeface="Pretendard"/>
              </a:rPr>
              <a:t>이력서</a:t>
            </a:r>
            <a:r>
              <a:rPr sz="1250" b="1" dirty="0">
                <a:solidFill>
                  <a:srgbClr val="0E9F7A"/>
                </a:solidFill>
                <a:latin typeface="Pretendard"/>
              </a:rPr>
              <a:t> </a:t>
            </a:r>
            <a:r>
              <a:rPr sz="1250" b="1" dirty="0" err="1">
                <a:solidFill>
                  <a:srgbClr val="0E9F7A"/>
                </a:solidFill>
                <a:latin typeface="Pretendard"/>
              </a:rPr>
              <a:t>초안</a:t>
            </a:r>
            <a:r>
              <a:rPr sz="1250" b="1" dirty="0">
                <a:solidFill>
                  <a:srgbClr val="0E9F7A"/>
                </a:solidFill>
                <a:latin typeface="Pretendard"/>
              </a:rPr>
              <a:t> · </a:t>
            </a:r>
            <a:r>
              <a:rPr sz="1250" b="1" dirty="0" err="1">
                <a:solidFill>
                  <a:srgbClr val="0E9F7A"/>
                </a:solidFill>
                <a:latin typeface="Pretendard"/>
              </a:rPr>
              <a:t>핵심</a:t>
            </a:r>
            <a:r>
              <a:rPr sz="1250" b="1" dirty="0">
                <a:solidFill>
                  <a:srgbClr val="0E9F7A"/>
                </a:solidFill>
                <a:latin typeface="Pretendard"/>
              </a:rPr>
              <a:t> </a:t>
            </a:r>
            <a:r>
              <a:rPr sz="1250" b="1" dirty="0" err="1">
                <a:solidFill>
                  <a:srgbClr val="0E9F7A"/>
                </a:solidFill>
                <a:latin typeface="Pretendard"/>
              </a:rPr>
              <a:t>문장</a:t>
            </a:r>
            <a:r>
              <a:rPr sz="1250" b="1" dirty="0">
                <a:solidFill>
                  <a:srgbClr val="0E9F7A"/>
                </a:solidFill>
                <a:latin typeface="Pretendard"/>
              </a:rPr>
              <a:t> 3개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39878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5000" y="4076700"/>
            <a:ext cx="279400" cy="279400"/>
          </a:xfrm>
          <a:prstGeom prst="ellipse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000" y="40767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400" y="39878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자기소개서 작성</a:t>
            </a:r>
            <a:r>
              <a:rPr sz="1200" b="0">
                <a:solidFill>
                  <a:srgbClr val="4A5070"/>
                </a:solidFill>
                <a:latin typeface="Pretendard"/>
              </a:rPr>
              <a:t>   </a:t>
            </a:r>
            <a:r>
              <a:rPr sz="1100" b="1" u="sng">
                <a:solidFill>
                  <a:srgbClr val="0E9F7A"/>
                </a:solidFill>
                <a:latin typeface="Pretendard"/>
                <a:hlinkClick r:id="rId3"/>
              </a:rPr>
              <a:t>도구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0" y="3987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dirty="0" err="1">
                <a:solidFill>
                  <a:srgbClr val="0E9F7A"/>
                </a:solidFill>
                <a:latin typeface="Pretendard"/>
              </a:rPr>
              <a:t>자소서</a:t>
            </a:r>
            <a:r>
              <a:rPr sz="1250" b="1" dirty="0">
                <a:solidFill>
                  <a:srgbClr val="0E9F7A"/>
                </a:solidFill>
                <a:latin typeface="Pretendard"/>
              </a:rPr>
              <a:t> 1문항 · </a:t>
            </a:r>
            <a:r>
              <a:rPr sz="1250" b="1" dirty="0" err="1">
                <a:solidFill>
                  <a:srgbClr val="0E9F7A"/>
                </a:solidFill>
                <a:latin typeface="Pretendard"/>
              </a:rPr>
              <a:t>이력서</a:t>
            </a:r>
            <a:r>
              <a:rPr sz="1250" b="1" dirty="0">
                <a:solidFill>
                  <a:srgbClr val="0E9F7A"/>
                </a:solidFill>
                <a:latin typeface="Pretendard"/>
              </a:rPr>
              <a:t> </a:t>
            </a:r>
            <a:r>
              <a:rPr sz="1250" b="1" dirty="0" err="1">
                <a:solidFill>
                  <a:srgbClr val="0E9F7A"/>
                </a:solidFill>
                <a:latin typeface="Pretendard"/>
              </a:rPr>
              <a:t>수정본</a:t>
            </a:r>
            <a:endParaRPr sz="1250" b="1" dirty="0">
              <a:solidFill>
                <a:srgbClr val="0E9F7A"/>
              </a:solidFill>
              <a:latin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23000" y="2095500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C4CF5"/>
                </a:solidFill>
                <a:latin typeface="Pretendard"/>
              </a:rPr>
              <a:t>2회기  포트폴리오 · 면접</a:t>
            </a:r>
            <a:r>
              <a:rPr sz="1100" b="0">
                <a:solidFill>
                  <a:srgbClr val="8A90A8"/>
                </a:solidFill>
                <a:latin typeface="Pretendard"/>
              </a:rPr>
              <a:t>   8시간 · 2시간 × 4모듈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3000" y="23876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50000" y="2476500"/>
            <a:ext cx="279400" cy="279400"/>
          </a:xfrm>
          <a:prstGeom prst="ellipse">
            <a:avLst/>
          </a:prstGeom>
          <a:solidFill>
            <a:srgbClr val="6C4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0000" y="24765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6400" y="23876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141A3C"/>
                </a:solidFill>
                <a:latin typeface="Pretendard"/>
              </a:rPr>
              <a:t>프로젝트</a:t>
            </a:r>
            <a:r>
              <a:rPr sz="1500" b="1" dirty="0">
                <a:solidFill>
                  <a:srgbClr val="141A3C"/>
                </a:solidFill>
                <a:latin typeface="Pretendard"/>
              </a:rPr>
              <a:t> </a:t>
            </a:r>
            <a:r>
              <a:rPr sz="1500" b="1" dirty="0" err="1">
                <a:solidFill>
                  <a:srgbClr val="141A3C"/>
                </a:solidFill>
                <a:latin typeface="Pretendard"/>
              </a:rPr>
              <a:t>설명</a:t>
            </a:r>
            <a:r>
              <a:rPr sz="1500" b="1" dirty="0">
                <a:solidFill>
                  <a:srgbClr val="141A3C"/>
                </a:solidFill>
                <a:latin typeface="Pretendard"/>
              </a:rPr>
              <a:t> </a:t>
            </a:r>
            <a:r>
              <a:rPr sz="1500" b="1" dirty="0" err="1">
                <a:solidFill>
                  <a:srgbClr val="141A3C"/>
                </a:solidFill>
                <a:latin typeface="Pretendard"/>
              </a:rPr>
              <a:t>설계</a:t>
            </a:r>
            <a:endParaRPr sz="1500" b="1" dirty="0">
              <a:solidFill>
                <a:srgbClr val="141A3C"/>
              </a:solidFill>
              <a:latin typeface="Pretendar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334500" y="23876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C4CF5"/>
                </a:solidFill>
                <a:latin typeface="Pretendard"/>
              </a:rPr>
              <a:t>설명 원고 · 한계 점검표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23000" y="29210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350000" y="3009900"/>
            <a:ext cx="279400" cy="279400"/>
          </a:xfrm>
          <a:prstGeom prst="ellipse">
            <a:avLst/>
          </a:prstGeom>
          <a:solidFill>
            <a:srgbClr val="6C4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0000" y="30099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6400" y="29210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141A3C"/>
                </a:solidFill>
                <a:latin typeface="Pretendard"/>
              </a:rPr>
              <a:t>포트폴리오</a:t>
            </a:r>
            <a:r>
              <a:rPr sz="1500" b="1" dirty="0">
                <a:solidFill>
                  <a:srgbClr val="141A3C"/>
                </a:solidFill>
                <a:latin typeface="Pretendard"/>
              </a:rPr>
              <a:t> </a:t>
            </a:r>
            <a:r>
              <a:rPr sz="1500" b="1" dirty="0" err="1">
                <a:solidFill>
                  <a:srgbClr val="141A3C"/>
                </a:solidFill>
                <a:latin typeface="Pretendard"/>
              </a:rPr>
              <a:t>소개</a:t>
            </a:r>
            <a:r>
              <a:rPr sz="1200" b="0" dirty="0">
                <a:solidFill>
                  <a:srgbClr val="4A5070"/>
                </a:solidFill>
                <a:latin typeface="Pretendard"/>
              </a:rPr>
              <a:t>   </a:t>
            </a:r>
            <a:r>
              <a:rPr sz="1100" b="1" u="sng" dirty="0" err="1">
                <a:solidFill>
                  <a:srgbClr val="6C4CF5"/>
                </a:solidFill>
                <a:latin typeface="Pretendard"/>
                <a:hlinkClick r:id="rId4"/>
              </a:rPr>
              <a:t>도구</a:t>
            </a:r>
            <a:r>
              <a:rPr sz="1100" b="1" u="sng" dirty="0">
                <a:solidFill>
                  <a:srgbClr val="6C4CF5"/>
                </a:solidFill>
                <a:latin typeface="Pretendard"/>
                <a:hlinkClick r:id="rId4"/>
              </a:rPr>
              <a:t>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4500" y="29210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C4CF5"/>
                </a:solidFill>
                <a:latin typeface="Pretendard"/>
              </a:rPr>
              <a:t>소개 1쪽 수정본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23000" y="34544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350000" y="3543300"/>
            <a:ext cx="279400" cy="279400"/>
          </a:xfrm>
          <a:prstGeom prst="ellipse">
            <a:avLst/>
          </a:prstGeom>
          <a:solidFill>
            <a:srgbClr val="6C4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50000" y="35433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56400" y="34544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141A3C"/>
                </a:solidFill>
                <a:latin typeface="Pretendard"/>
              </a:rPr>
              <a:t>GitHub README </a:t>
            </a:r>
            <a:r>
              <a:rPr sz="1500" b="1" dirty="0" err="1">
                <a:solidFill>
                  <a:srgbClr val="141A3C"/>
                </a:solidFill>
                <a:latin typeface="Pretendard"/>
              </a:rPr>
              <a:t>작성</a:t>
            </a:r>
            <a:endParaRPr sz="1500" b="1" dirty="0">
              <a:solidFill>
                <a:srgbClr val="141A3C"/>
              </a:solidFill>
              <a:latin typeface="Pretendard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334500" y="34544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C4CF5"/>
                </a:solidFill>
                <a:latin typeface="Pretendard"/>
              </a:rPr>
              <a:t>README · 일관성 체크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23000" y="39878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350000" y="4076700"/>
            <a:ext cx="279400" cy="279400"/>
          </a:xfrm>
          <a:prstGeom prst="ellipse">
            <a:avLst/>
          </a:prstGeom>
          <a:solidFill>
            <a:srgbClr val="6C4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50000" y="40767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0" y="39878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141A3C"/>
                </a:solidFill>
                <a:latin typeface="Pretendard"/>
              </a:rPr>
              <a:t>모의면접</a:t>
            </a:r>
            <a:endParaRPr sz="1500" b="1" dirty="0">
              <a:solidFill>
                <a:srgbClr val="141A3C"/>
              </a:solidFill>
              <a:latin typeface="Pretendard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34500" y="3987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C4CF5"/>
                </a:solidFill>
                <a:latin typeface="Pretendard"/>
              </a:rPr>
              <a:t>2분 소개 · 예상 질문 5개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8000" y="4775200"/>
            <a:ext cx="3556000" cy="17653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4927600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E9F7A"/>
                </a:solidFill>
                <a:latin typeface="Pretendard"/>
              </a:rPr>
              <a:t>평가 기준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156200"/>
            <a:ext cx="3200400" cy="1257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직무 연결성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본인 기여의 명확성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결과 근거 · 한계 설명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문서·발표의 일관성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18000" y="4775200"/>
            <a:ext cx="3556000" cy="17653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95800" y="4927600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E9F7A"/>
                </a:solidFill>
                <a:latin typeface="Pretendard"/>
              </a:rPr>
              <a:t>지도 원칙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95800" y="5156200"/>
            <a:ext cx="3200400" cy="1257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개인정보·기밀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제외</a:t>
            </a:r>
            <a:endParaRPr sz="1250" b="0" dirty="0">
              <a:solidFill>
                <a:srgbClr val="4A5070"/>
              </a:solidFill>
              <a:latin typeface="Pretendard"/>
            </a:endParaRP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경험·성과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창작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금지</a:t>
            </a:r>
            <a:endParaRPr sz="1250" b="0" dirty="0">
              <a:solidFill>
                <a:srgbClr val="4A5070"/>
              </a:solidFill>
              <a:latin typeface="Pretendard"/>
            </a:endParaRP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AI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출력은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본인이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근거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확인</a:t>
            </a:r>
            <a:endParaRPr sz="1250" b="0" dirty="0">
              <a:solidFill>
                <a:srgbClr val="4A5070"/>
              </a:solidFill>
              <a:latin typeface="Pretendard"/>
            </a:endParaRP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코드·모델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검증은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기술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멘토</a:t>
            </a:r>
            <a:r>
              <a:rPr sz="1250" b="0" dirty="0">
                <a:solidFill>
                  <a:srgbClr val="4A5070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4A5070"/>
                </a:solidFill>
                <a:latin typeface="Pretendard"/>
              </a:rPr>
              <a:t>범위</a:t>
            </a:r>
            <a:endParaRPr sz="1250" b="0" dirty="0">
              <a:solidFill>
                <a:srgbClr val="4A5070"/>
              </a:solidFill>
              <a:latin typeface="Pretendard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128000" y="4775200"/>
            <a:ext cx="3556000" cy="17653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05800" y="4927600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E9F7A"/>
                </a:solidFill>
                <a:latin typeface="Pretendard"/>
              </a:rPr>
              <a:t>실습 도구 · 참고 자료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05800" y="5156200"/>
            <a:ext cx="3200400" cy="1257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2"/>
              </a:rPr>
              <a:t>도구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2"/>
              </a:rPr>
              <a:t> 1 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2"/>
              </a:rPr>
              <a:t>기업·경험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2"/>
              </a:rPr>
              <a:t>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2"/>
              </a:rPr>
              <a:t>찾기</a:t>
            </a:r>
            <a:endParaRPr sz="1250" b="0" u="sng" dirty="0">
              <a:solidFill>
                <a:srgbClr val="2F5BD8"/>
              </a:solidFill>
              <a:latin typeface="Pretendard"/>
              <a:hlinkClick r:id="rId2"/>
            </a:endParaRP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3"/>
              </a:rPr>
              <a:t>도구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3"/>
              </a:rPr>
              <a:t> 2  AI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3"/>
              </a:rPr>
              <a:t>자기소개서</a:t>
            </a:r>
            <a:endParaRPr sz="1250" b="0" u="sng" dirty="0">
              <a:solidFill>
                <a:srgbClr val="2F5BD8"/>
              </a:solidFill>
              <a:latin typeface="Pretendard"/>
              <a:hlinkClick r:id="rId3"/>
            </a:endParaRP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4"/>
              </a:rPr>
              <a:t>도구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4"/>
              </a:rPr>
              <a:t> 3 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4"/>
              </a:rPr>
              <a:t>포트폴리오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4"/>
              </a:rPr>
              <a:t>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4"/>
              </a:rPr>
              <a:t>빌더</a:t>
            </a:r>
            <a:endParaRPr sz="1250" b="0" u="sng" dirty="0">
              <a:solidFill>
                <a:srgbClr val="2F5BD8"/>
              </a:solidFill>
              <a:latin typeface="Pretendard"/>
              <a:hlinkClick r:id="rId4"/>
            </a:endParaRP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5"/>
              </a:rPr>
              <a:t>GitHub README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5"/>
              </a:rPr>
              <a:t>가이드</a:t>
            </a:r>
            <a:endParaRPr sz="1250" b="0" u="sng" dirty="0">
              <a:solidFill>
                <a:srgbClr val="2F5BD8"/>
              </a:solidFill>
              <a:latin typeface="Pretendard"/>
              <a:hlinkClick r:id="rId5"/>
            </a:endParaRP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6"/>
              </a:rPr>
              <a:t>Hugging Face Model Cards</a:t>
            </a: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7"/>
              </a:rPr>
              <a:t>Amazon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7"/>
              </a:rPr>
              <a:t>면접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7"/>
              </a:rPr>
              <a:t>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7"/>
              </a:rPr>
              <a:t>준비</a:t>
            </a:r>
            <a:r>
              <a:rPr sz="1250" b="0" u="sng" dirty="0">
                <a:solidFill>
                  <a:srgbClr val="2F5BD8"/>
                </a:solidFill>
                <a:latin typeface="Pretendard"/>
                <a:hlinkClick r:id="rId7"/>
              </a:rPr>
              <a:t> </a:t>
            </a:r>
            <a:r>
              <a:rPr sz="1250" b="0" u="sng" dirty="0" err="1">
                <a:solidFill>
                  <a:srgbClr val="2F5BD8"/>
                </a:solidFill>
                <a:latin typeface="Pretendard"/>
                <a:hlinkClick r:id="rId7"/>
              </a:rPr>
              <a:t>안내</a:t>
            </a:r>
            <a:endParaRPr sz="1250" b="0" u="sng" dirty="0">
              <a:solidFill>
                <a:srgbClr val="2F5BD8"/>
              </a:solidFill>
              <a:latin typeface="Pretendard"/>
              <a:hlinkClick r:id="rId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08000" y="6642100"/>
            <a:ext cx="11176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8"/>
                </a:solidFill>
                <a:latin typeface="Pretendard"/>
              </a:rPr>
              <a:t>사전 준비: 노트북 · 채용공고 · 프로젝트 자료 · 이력서   |   휴게·점심 별도, 산출물 범위는 수준별 조정</a:t>
            </a:r>
          </a:p>
        </p:txBody>
      </p:sp>
      <p:sp>
        <p:nvSpPr>
          <p:cNvPr id="1001" name="TextBox Practice Label"/>
          <p:cNvSpPr txBox="1"/>
          <p:nvPr/>
        </p:nvSpPr>
        <p:spPr>
          <a:xfrm>
            <a:off x="508000" y="1828800"/>
            <a:ext cx="889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F7A"/>
                </a:solidFill>
                <a:latin typeface="Pretendard"/>
              </a:rPr>
              <a:t>실습</a:t>
            </a:r>
          </a:p>
        </p:txBody>
      </p:sp>
      <p:sp>
        <p:nvSpPr>
          <p:cNvPr id="1002" name="TextBox Practice Value"/>
          <p:cNvSpPr txBox="1"/>
          <p:nvPr/>
        </p:nvSpPr>
        <p:spPr>
          <a:xfrm>
            <a:off x="1206500" y="1828800"/>
            <a:ext cx="10795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A3C"/>
                </a:solidFill>
                <a:latin typeface="Pretendard"/>
              </a:rPr>
              <a:t>도구 1~3과 카드·README 가이드는 아래 자료를 활용   </a:t>
            </a:r>
            <a:r>
              <a:rPr sz="1300" b="0" u="sng">
                <a:solidFill>
                  <a:srgbClr val="2F5BD8"/>
                </a:solidFill>
                <a:latin typeface="Pretendard"/>
                <a:hlinkClick r:id="rId8"/>
              </a:rPr>
              <a:t>github.com/eunkyoungAn/-/tree/main/output/github-portfolio/suite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266</Words>
  <Application>Microsoft Office PowerPoint</Application>
  <PresentationFormat>와이드스크린</PresentationFormat>
  <Paragraphs>53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Eun Kyoung Ann</cp:lastModifiedBy>
  <cp:revision>2</cp:revision>
  <dcterms:created xsi:type="dcterms:W3CDTF">2013-01-27T09:14:16Z</dcterms:created>
  <dcterms:modified xsi:type="dcterms:W3CDTF">2026-10-24T15:07:03Z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Z_DOC_VERSION">
    <vt:lpwstr>1.0</vt:lpwstr>
  </property>
  <property fmtid="{D5CDD505-2E9C-101B-9397-08002B2CF9AE}" pid="3" name="OZ_DOC_UI_LASTSTATE">
    <vt:lpwstr>{}</vt:lpwstr>
  </property>
</Properties>
</file>